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83" r:id="rId3"/>
    <p:sldId id="306" r:id="rId4"/>
    <p:sldId id="285" r:id="rId5"/>
    <p:sldId id="348" r:id="rId6"/>
    <p:sldId id="309" r:id="rId7"/>
    <p:sldId id="312" r:id="rId8"/>
    <p:sldId id="349" r:id="rId9"/>
    <p:sldId id="350" r:id="rId10"/>
    <p:sldId id="351" r:id="rId11"/>
    <p:sldId id="343" r:id="rId12"/>
    <p:sldId id="339" r:id="rId13"/>
    <p:sldId id="344" r:id="rId14"/>
    <p:sldId id="352" r:id="rId15"/>
    <p:sldId id="288" r:id="rId16"/>
    <p:sldId id="300" r:id="rId17"/>
    <p:sldId id="305" r:id="rId18"/>
  </p:sldIdLst>
  <p:sldSz cx="9144000" cy="5143500" type="screen16x9"/>
  <p:notesSz cx="6858000" cy="9144000"/>
  <p:embeddedFontLst>
    <p:embeddedFont>
      <p:font typeface="Arial Black" panose="020B0A04020102020204" pitchFamily="34" charset="0"/>
      <p:bold r:id="rId20"/>
    </p:embeddedFont>
    <p:embeddedFont>
      <p:font typeface="Cambria" panose="02040503050406030204" pitchFamily="18" charset="0"/>
      <p:regular r:id="rId21"/>
      <p:bold r:id="rId22"/>
      <p:italic r:id="rId23"/>
      <p:boldItalic r:id="rId24"/>
    </p:embeddedFont>
    <p:embeddedFont>
      <p:font typeface="Lato" panose="020F0502020204030203" pitchFamily="34" charset="0"/>
      <p:regular r:id="rId25"/>
      <p:bold r:id="rId26"/>
      <p:italic r:id="rId27"/>
      <p:boldItalic r:id="rId28"/>
    </p:embeddedFont>
    <p:embeddedFont>
      <p:font typeface="Vladimir Script" panose="03050402040407070305" pitchFamily="66" charset="0"/>
      <p:regular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8" roundtripDataSignature="AMtx7mgIfgr8mz0h5oJT84AK2itezMzV3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7377635-EB9D-4884-B79A-0D259F93817B}">
  <a:tblStyle styleId="{97377635-EB9D-4884-B79A-0D259F93817B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9E9E9"/>
          </a:solidFill>
        </a:fill>
      </a:tcStyle>
    </a:wholeTbl>
    <a:band1H>
      <a:tcTxStyle/>
      <a:tcStyle>
        <a:tcBdr/>
        <a:fill>
          <a:solidFill>
            <a:srgbClr val="D0D0D0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0D0D0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7"/>
    <p:restoredTop sz="94666"/>
  </p:normalViewPr>
  <p:slideViewPr>
    <p:cSldViewPr snapToGrid="0">
      <p:cViewPr varScale="1">
        <p:scale>
          <a:sx n="103" d="100"/>
          <a:sy n="103" d="100"/>
        </p:scale>
        <p:origin x="811" y="91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48" Type="http://customschemas.google.com/relationships/presentationmetadata" Target="metadata"/><Relationship Id="rId8" Type="http://schemas.openxmlformats.org/officeDocument/2006/relationships/slide" Target="slides/slide7.xml"/><Relationship Id="rId51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93081118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1" name="Google Shape;9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52151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3800AA9E-45AA-4AC2-8AA2-7DA856E9A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286550A3-8119-6875-5A21-C5D3DA1F86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C1F8D45D-F0E2-4C9E-7AD4-3CC086F6FFE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18280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6BF395B1-0DDA-EC2D-8CD4-6D4FF14A3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424A4F30-E86A-115B-0CE7-D952412617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6889E4CB-D564-C918-3A24-F3AEE033CE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59637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8AE2F180-9A0B-4C89-E2A4-C820E350D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FCB0DF4C-0C0C-F327-13CB-D147B8854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CD3BD526-06AE-0DCC-FB9B-29E2E50FDB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2971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238598D8-F9DC-2791-D1B6-C11ACAFDB8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9089061A-6020-F864-9B29-5E767CCBCE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581A7D94-8E91-5F15-E086-3A9E715F2B1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24424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F4E6E191-7A3F-DDE5-9BE0-7C2318399A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F214E21D-CF7D-5069-DDED-FD92C19088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2916B821-9BB8-4C7C-D798-8C8AC1714A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67594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DE93D42F-A578-35C8-4DE2-AFBF6F7B5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D5B0AE6F-9BF3-05DC-A9E3-C4AEA6BC745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3C5276FB-61A1-1D7F-1C2B-F453FE2772C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02146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EE411EC3-B559-FA09-BFB0-5444ED978B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94977695-8636-6C94-F6D3-F6F0D55D242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0DBC33F6-90AD-84D0-BFBF-785E0C09790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77913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36B742CE-53F7-0C72-D49F-F3F5BCEB52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D0FCF948-A899-04AF-6333-67250A0EC79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0F879B48-C7D0-1E70-A2E7-0D0342291C9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443465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AC5E689F-EFB2-F9EB-54F2-7AA681EEE8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22DB4A91-138B-A364-76CE-C45307370B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831C083B-6FD0-CDCB-AA94-554195A217C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884908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82A1AC4F-60AE-1981-DF7B-D7DB4AFBB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51F819F7-E62D-CA40-0A77-1BC8D84E7E1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DA521BA9-981D-9F44-4672-09B106D6197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967716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1CF2FD77-3A12-327B-1017-A052503EB1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78A161CE-9003-05C7-BC6A-E295E288E9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9D74D3CF-3163-F842-692B-5F05C0C1F9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078951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6EAC0EE6-B05F-CD3F-6A86-2383F60F65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2828355D-BF49-4685-CC5A-0E9C11996E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7577BBFA-4A32-5624-D364-A36006083FE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836878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15771426-9A0A-16D5-28AF-B302A9B211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0CDCD7DC-C733-E58A-088C-A68BBBD4774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C0AA03E8-1D84-2E7D-4681-31104643E55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726247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CE744BD3-2273-63E8-B289-EF3B2B107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7F32C7BD-C65E-21E0-A5D7-96E9D60193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A256D67B-D43A-765B-55B7-6128E938068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399315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09D8B882-0A42-A997-B7C2-B7E4A790F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C0D5EBF7-7AF6-6579-8561-57B613E948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4533F13B-1510-E87D-A49C-D1857BE0DD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620071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38CC7291-0158-2CF9-E3E7-C104BA8763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8B9D57E8-6C07-996D-1CC3-BF44C62ABF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B91E2C0C-79EA-9DB7-B0A8-4CEF2F72D7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56188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userDrawn="1">
  <p:cSld name="OBJECT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9"/>
          <p:cNvSpPr txBox="1">
            <a:spLocks noGrp="1"/>
          </p:cNvSpPr>
          <p:nvPr>
            <p:ph type="body" idx="1"/>
          </p:nvPr>
        </p:nvSpPr>
        <p:spPr>
          <a:xfrm>
            <a:off x="914400" y="1314450"/>
            <a:ext cx="8001000" cy="33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55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3" name="Picture 2" descr="A red rectangular sign with a logo and a globe&#10;&#10;AI-generated content may be incorrect.">
            <a:extLst>
              <a:ext uri="{FF2B5EF4-FFF2-40B4-BE49-F238E27FC236}">
                <a16:creationId xmlns:a16="http://schemas.microsoft.com/office/drawing/2014/main" id="{E3B45E01-6076-AFEE-F2AB-CE7DAC5DAF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906" y="22034"/>
            <a:ext cx="652311" cy="104895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2"/>
        </a:solid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1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" name="Google Shape;18;p31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3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" name="Google Shape;21;p31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22" name="Google Shape;22;p31"/>
          <p:cNvSpPr txBox="1">
            <a:spLocks noGrp="1"/>
          </p:cNvSpPr>
          <p:nvPr>
            <p:ph type="subTitle" idx="1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3" name="Google Shape;23;p3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5F213-031A-95AD-897E-DD31668ADE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CEDF7FE-8238-E952-EC20-938FFD7042D7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2725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oogle Shape;25;p3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3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p3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8" name="Google Shape;28;p32"/>
          <p:cNvSpPr txBox="1">
            <a:spLocks noGrp="1"/>
          </p:cNvSpPr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9" name="Google Shape;29;p3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3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" name="Google Shape;32;p3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3" name="Google Shape;33;p3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p3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5" name="Google Shape;35;p33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36" name="Google Shape;36;p33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7" name="Google Shape;37;p33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0" name="Google Shape;40;p3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1" name="Google Shape;41;p3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3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3" name="Google Shape;43;p34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44" name="Google Shape;44;p34"/>
          <p:cNvSpPr txBox="1">
            <a:spLocks noGrp="1"/>
          </p:cNvSpPr>
          <p:nvPr>
            <p:ph type="body" idx="1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5" name="Google Shape;45;p34"/>
          <p:cNvSpPr txBox="1">
            <a:spLocks noGrp="1"/>
          </p:cNvSpPr>
          <p:nvPr>
            <p:ph type="body" idx="2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6" name="Google Shape;46;p34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9" name="Google Shape;49;p3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3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3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2" name="Google Shape;52;p35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53" name="Google Shape;53;p35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6" name="Google Shape;56;p3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7" name="Google Shape;57;p3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3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9" name="Google Shape;59;p36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60" name="Google Shape;60;p36"/>
          <p:cNvSpPr txBox="1">
            <a:spLocks noGrp="1"/>
          </p:cNvSpPr>
          <p:nvPr>
            <p:ph type="body" idx="1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p36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3"/>
        </a:solid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37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64" name="Google Shape;64;p3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3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6" name="Google Shape;66;p37"/>
          <p:cNvSpPr txBox="1">
            <a:spLocks noGrp="1"/>
          </p:cNvSpPr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7" name="Google Shape;67;p37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8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0" name="Google Shape;70;p38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71" name="Google Shape;71;p3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3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3" name="Google Shape;73;p38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74" name="Google Shape;74;p38"/>
          <p:cNvSpPr txBox="1">
            <a:spLocks noGrp="1"/>
          </p:cNvSpPr>
          <p:nvPr>
            <p:ph type="subTitle" idx="1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75" name="Google Shape;75;p38"/>
          <p:cNvSpPr txBox="1">
            <a:spLocks noGrp="1"/>
          </p:cNvSpPr>
          <p:nvPr>
            <p:ph type="body" idx="2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6" name="Google Shape;76;p3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9"/>
          <p:cNvSpPr txBox="1">
            <a:spLocks noGrp="1"/>
          </p:cNvSpPr>
          <p:nvPr>
            <p:ph type="body" idx="1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79" name="Google Shape;79;p39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" name="Google Shape;81;p40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82" name="Google Shape;82;p40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40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4" name="Google Shape;84;p40"/>
          <p:cNvSpPr txBox="1">
            <a:spLocks noGrp="1"/>
          </p:cNvSpPr>
          <p:nvPr>
            <p:ph type="title" hasCustomPrompt="1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5" name="Google Shape;85;p40"/>
          <p:cNvSpPr txBox="1">
            <a:spLocks noGrp="1"/>
          </p:cNvSpPr>
          <p:nvPr>
            <p:ph type="body" idx="1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6" name="Google Shape;86;p40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0E067-05BA-3068-8F0D-B3C073B80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399BB7D-4B8D-4670-0220-D1EB44F3B350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7500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treamlin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2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2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62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3" r:id="rId1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react.dev/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w3schools.com/html/html5_websockets.asp" TargetMode="External"/><Relationship Id="rId5" Type="http://schemas.openxmlformats.org/officeDocument/2006/relationships/hyperlink" Target="https://www.websocket.org/" TargetMode="External"/><Relationship Id="rId4" Type="http://schemas.openxmlformats.org/officeDocument/2006/relationships/hyperlink" Target="https://developer.mozilla.org/en-US/docs/Web/API/WebSockets_API" TargetMode="Externa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handigarh University Archives - Worldwide Transcript"/>
          <p:cNvPicPr>
            <a:picLocks noChangeAspect="1" noChangeArrowheads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37" y="1217517"/>
            <a:ext cx="2782983" cy="27829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3" name="Google Shape;93;p1"/>
          <p:cNvSpPr txBox="1"/>
          <p:nvPr/>
        </p:nvSpPr>
        <p:spPr>
          <a:xfrm>
            <a:off x="6572250" y="48815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"/>
          <p:cNvSpPr/>
          <p:nvPr/>
        </p:nvSpPr>
        <p:spPr>
          <a:xfrm rot="10800000" flipH="1">
            <a:off x="7796638" y="4287563"/>
            <a:ext cx="968400" cy="867900"/>
          </a:xfrm>
          <a:prstGeom prst="rtTriangle">
            <a:avLst/>
          </a:prstGeom>
          <a:solidFill>
            <a:srgbClr val="F2F2F2">
              <a:alpha val="16078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"/>
          <p:cNvSpPr/>
          <p:nvPr/>
        </p:nvSpPr>
        <p:spPr>
          <a:xfrm flipH="1">
            <a:off x="5284799" y="-48815"/>
            <a:ext cx="3859200" cy="4389900"/>
          </a:xfrm>
          <a:prstGeom prst="rtTriangle">
            <a:avLst/>
          </a:prstGeom>
          <a:solidFill>
            <a:srgbClr val="F2F2F2">
              <a:alpha val="16078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"/>
          <p:cNvSpPr/>
          <p:nvPr/>
        </p:nvSpPr>
        <p:spPr>
          <a:xfrm>
            <a:off x="1593056" y="1519145"/>
            <a:ext cx="5122200" cy="11856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2659">
                <a:srgbClr val="FFFFFF">
                  <a:alpha val="0"/>
                </a:srgbClr>
              </a:gs>
              <a:gs pos="15000">
                <a:srgbClr val="FFFFFF">
                  <a:alpha val="33333"/>
                </a:srgbClr>
              </a:gs>
              <a:gs pos="51000">
                <a:schemeClr val="lt1"/>
              </a:gs>
              <a:gs pos="94000">
                <a:srgbClr val="FFFFFF">
                  <a:alpha val="33333"/>
                </a:srgbClr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"/>
          <p:cNvSpPr/>
          <p:nvPr/>
        </p:nvSpPr>
        <p:spPr>
          <a:xfrm flipH="1">
            <a:off x="7360500" y="3929250"/>
            <a:ext cx="1774800" cy="1200300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"/>
          <p:cNvSpPr txBox="1"/>
          <p:nvPr/>
        </p:nvSpPr>
        <p:spPr>
          <a:xfrm>
            <a:off x="514350" y="751231"/>
            <a:ext cx="8250688" cy="4028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Black"/>
              <a:buNone/>
            </a:pPr>
            <a:r>
              <a:rPr lang="en-US" sz="32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 Black"/>
              </a:rPr>
              <a:t>UNIVERSITY INSTITUTE OF ENGINEERING</a:t>
            </a:r>
            <a:endParaRPr sz="1050" b="0" i="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Black"/>
              <a:buNone/>
            </a:pPr>
            <a:r>
              <a:rPr lang="en-US" sz="36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 Black"/>
              </a:rPr>
              <a:t>Department </a:t>
            </a:r>
            <a:r>
              <a:rPr lang="en-US" sz="36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 Black"/>
              </a:rPr>
              <a:t>Of Computer Science &amp; Engineering</a:t>
            </a:r>
            <a:endParaRPr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000" b="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Bachelor of Computer Science </a:t>
            </a:r>
            <a:r>
              <a:rPr lang="en-US" sz="2000" b="0" i="0" u="none" strike="noStrike" cap="none" baseline="300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6th </a:t>
            </a:r>
            <a:r>
              <a:rPr lang="en-US" sz="2000" b="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Semester</a:t>
            </a:r>
            <a:endParaRPr lang="en-US" baseline="300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 algn="ctr">
              <a:lnSpc>
                <a:spcPct val="90000"/>
              </a:lnSpc>
              <a:spcBef>
                <a:spcPts val="980"/>
              </a:spcBef>
              <a:buClr>
                <a:schemeClr val="dk1"/>
              </a:buClr>
              <a:buSzPts val="2800"/>
            </a:pPr>
            <a:r>
              <a:rPr lang="en-US" sz="2400" b="1" dirty="0"/>
              <a:t>Full Stack Development – II</a:t>
            </a:r>
          </a:p>
          <a:p>
            <a:pPr lvl="0" algn="ctr">
              <a:lnSpc>
                <a:spcPct val="90000"/>
              </a:lnSpc>
              <a:spcBef>
                <a:spcPts val="980"/>
              </a:spcBef>
              <a:buClr>
                <a:schemeClr val="dk1"/>
              </a:buClr>
              <a:buSzPts val="2800"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(</a:t>
            </a:r>
            <a:r>
              <a:rPr lang="en-GB" sz="24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23CSH-309/23ITH-309</a:t>
            </a:r>
            <a:r>
              <a:rPr lang="en-GB" sz="2400" b="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)</a:t>
            </a:r>
            <a:endParaRPr lang="en-GB" sz="16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>
              <a:spcBef>
                <a:spcPts val="1120"/>
              </a:spcBef>
              <a:buSzPts val="3200"/>
            </a:pPr>
            <a:r>
              <a:rPr lang="en-GB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Unit No. 1                     Chapter No. 3                    Lecture No. 3</a:t>
            </a:r>
          </a:p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Topic : </a:t>
            </a:r>
            <a:r>
              <a:rPr lang="en-GB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Component composition. Handling </a:t>
            </a:r>
            <a:r>
              <a:rPr lang="en-GB" sz="18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websocket</a:t>
            </a:r>
            <a:r>
              <a:rPr lang="en-GB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data for live UI updates.</a:t>
            </a:r>
          </a:p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Er. Tushar Sood (E18319)                                                       Technical Trainer(CSE)</a:t>
            </a:r>
            <a:endParaRPr lang="en-US" sz="32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85E2170-6E52-163D-4579-180ED8258362}"/>
              </a:ext>
            </a:extLst>
          </p:cNvPr>
          <p:cNvSpPr txBox="1"/>
          <p:nvPr/>
        </p:nvSpPr>
        <p:spPr>
          <a:xfrm>
            <a:off x="5284800" y="0"/>
            <a:ext cx="3859199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1800" b="1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Academic Session 2026-27 </a:t>
            </a:r>
          </a:p>
          <a:p>
            <a:pPr algn="r"/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EVEN Semester Jan-Jun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0EF27945-C1E1-DDBF-6B5A-32A668D1B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B82306DF-DC71-A9BC-8B35-D6290EE31CD4}"/>
              </a:ext>
            </a:extLst>
          </p:cNvPr>
          <p:cNvGrpSpPr/>
          <p:nvPr/>
        </p:nvGrpSpPr>
        <p:grpSpPr>
          <a:xfrm>
            <a:off x="724394" y="218172"/>
            <a:ext cx="8300849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CFDB14A8-16BA-BF7C-C8D7-1E6DAD65FFC9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B1FC2D67-AE60-4AB2-F4BD-027A2C4342A0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Learning Objectives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</a:t>
            </a:r>
          </a:p>
        </p:txBody>
      </p:sp>
      <p:sp>
        <p:nvSpPr>
          <p:cNvPr id="13" name="Rectangle 10">
            <a:extLst>
              <a:ext uri="{FF2B5EF4-FFF2-40B4-BE49-F238E27FC236}">
                <a16:creationId xmlns:a16="http://schemas.microsoft.com/office/drawing/2014/main" id="{FDFB5912-E799-63B5-2CF1-182A365BA27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37893" y="1279088"/>
            <a:ext cx="9039921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GB" altLang="en-US" sz="1800" dirty="0">
                <a:solidFill>
                  <a:schemeClr val="bg2"/>
                </a:solidFill>
                <a:latin typeface="+mj-lt"/>
              </a:rPr>
              <a:t>Understand the concept of component composition in React</a:t>
            </a:r>
          </a:p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endParaRPr lang="en-GB" altLang="en-US" sz="1800" dirty="0">
              <a:solidFill>
                <a:schemeClr val="bg2"/>
              </a:solidFill>
              <a:latin typeface="+mj-lt"/>
            </a:endParaRPr>
          </a:p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GB" altLang="en-US" sz="1800" dirty="0">
                <a:solidFill>
                  <a:schemeClr val="bg2"/>
                </a:solidFill>
                <a:latin typeface="+mj-lt"/>
              </a:rPr>
              <a:t>Explain the advantages of component composition</a:t>
            </a:r>
          </a:p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endParaRPr lang="en-GB" altLang="en-US" sz="1800" dirty="0">
              <a:solidFill>
                <a:schemeClr val="bg2"/>
              </a:solidFill>
              <a:latin typeface="+mj-lt"/>
            </a:endParaRPr>
          </a:p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GB" altLang="en-US" sz="1800" dirty="0">
                <a:solidFill>
                  <a:schemeClr val="bg2"/>
                </a:solidFill>
                <a:latin typeface="+mj-lt"/>
              </a:rPr>
              <a:t>Understand WebSocket communication</a:t>
            </a:r>
          </a:p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endParaRPr lang="en-GB" altLang="en-US" sz="1800" dirty="0">
              <a:solidFill>
                <a:schemeClr val="bg2"/>
              </a:solidFill>
              <a:latin typeface="+mj-lt"/>
            </a:endParaRPr>
          </a:p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GB" altLang="en-US" sz="1800" dirty="0">
                <a:solidFill>
                  <a:schemeClr val="bg2"/>
                </a:solidFill>
                <a:latin typeface="+mj-lt"/>
              </a:rPr>
              <a:t>Explain how </a:t>
            </a:r>
            <a:r>
              <a:rPr lang="en-GB" altLang="en-US" sz="1800" dirty="0" err="1">
                <a:solidFill>
                  <a:schemeClr val="bg2"/>
                </a:solidFill>
                <a:latin typeface="+mj-lt"/>
              </a:rPr>
              <a:t>WebSockets</a:t>
            </a:r>
            <a:r>
              <a:rPr lang="en-GB" altLang="en-US" sz="1800" dirty="0">
                <a:solidFill>
                  <a:schemeClr val="bg2"/>
                </a:solidFill>
                <a:latin typeface="+mj-lt"/>
              </a:rPr>
              <a:t> enable real-time UI updates</a:t>
            </a:r>
          </a:p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endParaRPr lang="en-GB" altLang="en-US" sz="1800" dirty="0">
              <a:solidFill>
                <a:schemeClr val="bg2"/>
              </a:solidFill>
              <a:latin typeface="+mj-lt"/>
            </a:endParaRPr>
          </a:p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GB" altLang="en-US" sz="1800" dirty="0">
                <a:solidFill>
                  <a:schemeClr val="bg2"/>
                </a:solidFill>
                <a:latin typeface="+mj-lt"/>
              </a:rPr>
              <a:t>Understand challenges and best practices for live data handling</a:t>
            </a: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bg2"/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6397580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EB83A878-A8C8-7563-ACC5-60FA0ECC4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99A4CEF4-12CF-768B-A34D-158E7C86A758}"/>
              </a:ext>
            </a:extLst>
          </p:cNvPr>
          <p:cNvGrpSpPr/>
          <p:nvPr/>
        </p:nvGrpSpPr>
        <p:grpSpPr>
          <a:xfrm>
            <a:off x="562290" y="258121"/>
            <a:ext cx="8277101" cy="571932"/>
            <a:chOff x="0" y="6299"/>
            <a:chExt cx="5580934" cy="571932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AF07FB58-ECE4-103C-FAE0-D4F3B657187C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3622E3EC-0CED-9721-7595-ED925977BC7E}"/>
                </a:ext>
              </a:extLst>
            </p:cNvPr>
            <p:cNvSpPr txBox="1"/>
            <p:nvPr/>
          </p:nvSpPr>
          <p:spPr>
            <a:xfrm>
              <a:off x="0" y="177039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lvl="0" algn="ctr">
                <a:lnSpc>
                  <a:spcPct val="90000"/>
                </a:lnSpc>
                <a:buSzPts val="1900"/>
              </a:pPr>
              <a:r>
                <a:rPr lang="en-GB" sz="2800" b="1" dirty="0"/>
                <a:t>Component Composition &amp; Live UI Updates using </a:t>
              </a:r>
              <a:r>
                <a:rPr lang="en-GB" sz="2800" b="1" dirty="0" err="1"/>
                <a:t>WebSockets</a:t>
              </a:r>
              <a:endParaRPr lang="en-US" sz="28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BC685EF9-A30D-D2E6-4A85-FB96E46BDA9B}"/>
              </a:ext>
            </a:extLst>
          </p:cNvPr>
          <p:cNvSpPr txBox="1"/>
          <p:nvPr/>
        </p:nvSpPr>
        <p:spPr>
          <a:xfrm>
            <a:off x="333551" y="1266343"/>
            <a:ext cx="8627315" cy="2308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1600" dirty="0"/>
              <a:t>Modern React applications are built using small, reusable components that are combined to form complex user interfaces.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1600" dirty="0"/>
              <a:t>At the same time, many applications require real-time data updates, which are efficiently handled using </a:t>
            </a:r>
            <a:r>
              <a:rPr lang="en-GB" sz="1600" dirty="0" err="1"/>
              <a:t>WebSockets</a:t>
            </a:r>
            <a:r>
              <a:rPr lang="en-GB" sz="1600" dirty="0"/>
              <a:t>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1600" dirty="0"/>
              <a:t>Component composition improves code structure, while </a:t>
            </a:r>
            <a:r>
              <a:rPr lang="en-GB" sz="1600" dirty="0" err="1"/>
              <a:t>WebSockets</a:t>
            </a:r>
            <a:r>
              <a:rPr lang="en-GB" sz="1600" dirty="0"/>
              <a:t> enable live UI updates without page refresh.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6912309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B8FA9E54-824C-3174-92D1-1FD55557D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EA721AF1-4121-990B-D3BC-3A69461EE53B}"/>
              </a:ext>
            </a:extLst>
          </p:cNvPr>
          <p:cNvGrpSpPr/>
          <p:nvPr/>
        </p:nvGrpSpPr>
        <p:grpSpPr>
          <a:xfrm>
            <a:off x="783770" y="218172"/>
            <a:ext cx="8241475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A2839E68-8CC4-454C-1CA9-8CC8B94AE13A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AEB27271-7D91-E3E7-B4A8-A483F805DA4C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algn="ctr"/>
              <a:r>
                <a:rPr lang="en-IN" sz="3600" b="1" dirty="0"/>
                <a:t>What is Component Composition?</a:t>
              </a:r>
              <a:endParaRPr lang="en-GB" sz="3600" b="1" dirty="0"/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1A9B100B-BAD8-99A1-3211-6CBBD09F11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71500" y="1151519"/>
            <a:ext cx="8001000" cy="3531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lnSpc>
                <a:spcPct val="150000"/>
              </a:lnSpc>
              <a:buClr>
                <a:schemeClr val="bg2"/>
              </a:buClr>
              <a:buFont typeface="Wingdings" panose="05000000000000000000" pitchFamily="2" charset="2"/>
              <a:buChar char="Ø"/>
            </a:pPr>
            <a:r>
              <a:rPr lang="en-GB" sz="1600" dirty="0">
                <a:solidFill>
                  <a:schemeClr val="bg2"/>
                </a:solidFill>
                <a:latin typeface="+mj-lt"/>
              </a:rPr>
              <a:t>Component composition is a design principle in React where complex components are built by combining simpler components.</a:t>
            </a:r>
          </a:p>
          <a:p>
            <a:pPr>
              <a:lnSpc>
                <a:spcPct val="150000"/>
              </a:lnSpc>
              <a:buClr>
                <a:schemeClr val="bg2"/>
              </a:buClr>
              <a:buFont typeface="Wingdings" panose="05000000000000000000" pitchFamily="2" charset="2"/>
              <a:buChar char="Ø"/>
            </a:pPr>
            <a:r>
              <a:rPr lang="en-GB" sz="1600" dirty="0">
                <a:solidFill>
                  <a:schemeClr val="bg2"/>
                </a:solidFill>
                <a:latin typeface="+mj-lt"/>
              </a:rPr>
              <a:t>Instead of creating large monolithic components, React encourages breaking UI into small, reusable building blocks.</a:t>
            </a:r>
          </a:p>
          <a:p>
            <a:pPr>
              <a:lnSpc>
                <a:spcPct val="150000"/>
              </a:lnSpc>
              <a:buClr>
                <a:schemeClr val="bg2"/>
              </a:buClr>
              <a:buFont typeface="Wingdings" panose="05000000000000000000" pitchFamily="2" charset="2"/>
              <a:buChar char="Ø"/>
            </a:pPr>
            <a:r>
              <a:rPr lang="en-GB" sz="1600" dirty="0">
                <a:solidFill>
                  <a:schemeClr val="bg2"/>
                </a:solidFill>
                <a:latin typeface="+mj-lt"/>
              </a:rPr>
              <a:t>This approach follows the principle of composition over inheritance, which improves flexibility and maintainability.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2119721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556E8FA8-F249-C626-9A2A-5303493A70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72AE1993-3560-B405-9A64-1F5441A95187}"/>
              </a:ext>
            </a:extLst>
          </p:cNvPr>
          <p:cNvGrpSpPr/>
          <p:nvPr/>
        </p:nvGrpSpPr>
        <p:grpSpPr>
          <a:xfrm>
            <a:off x="716203" y="218172"/>
            <a:ext cx="8309042" cy="505840"/>
            <a:chOff x="-45755" y="6299"/>
            <a:chExt cx="5626689" cy="50584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5EC770A8-F6D2-47B9-8533-6B1C3550D9E3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35758EC1-71BF-6F91-2A67-DBAFE801FC4C}"/>
                </a:ext>
              </a:extLst>
            </p:cNvPr>
            <p:cNvSpPr txBox="1"/>
            <p:nvPr/>
          </p:nvSpPr>
          <p:spPr>
            <a:xfrm>
              <a:off x="-45755" y="110947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lvl="0" algn="ctr">
                <a:lnSpc>
                  <a:spcPct val="90000"/>
                </a:lnSpc>
                <a:buSzPts val="1900"/>
              </a:pPr>
              <a:r>
                <a:rPr lang="en-IN" sz="3200" b="1" dirty="0"/>
                <a:t>Importance of Component Composition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6A844D22-2F71-F245-5A5A-3BE72C48AB7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71500" y="1151519"/>
            <a:ext cx="8001000" cy="3531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76200" indent="0">
              <a:lnSpc>
                <a:spcPct val="150000"/>
              </a:lnSpc>
              <a:buClr>
                <a:schemeClr val="bg2"/>
              </a:buClr>
              <a:buNone/>
            </a:pPr>
            <a:r>
              <a:rPr lang="en-GB" sz="1600" b="1" dirty="0">
                <a:solidFill>
                  <a:schemeClr val="bg2"/>
                </a:solidFill>
                <a:latin typeface="+mj-lt"/>
              </a:rPr>
              <a:t>Component composition is important because it:</a:t>
            </a:r>
          </a:p>
          <a:p>
            <a:pPr>
              <a:lnSpc>
                <a:spcPct val="150000"/>
              </a:lnSpc>
              <a:buClr>
                <a:schemeClr val="bg2"/>
              </a:buClr>
            </a:pPr>
            <a:r>
              <a:rPr lang="en-GB" sz="1600" dirty="0">
                <a:solidFill>
                  <a:schemeClr val="bg2"/>
                </a:solidFill>
                <a:latin typeface="+mj-lt"/>
              </a:rPr>
              <a:t>Improves code reusability</a:t>
            </a:r>
          </a:p>
          <a:p>
            <a:pPr>
              <a:lnSpc>
                <a:spcPct val="150000"/>
              </a:lnSpc>
              <a:buClr>
                <a:schemeClr val="bg2"/>
              </a:buClr>
            </a:pPr>
            <a:r>
              <a:rPr lang="en-GB" sz="1600" dirty="0">
                <a:solidFill>
                  <a:schemeClr val="bg2"/>
                </a:solidFill>
                <a:latin typeface="+mj-lt"/>
              </a:rPr>
              <a:t>Simplifies debugging and testing</a:t>
            </a:r>
          </a:p>
          <a:p>
            <a:pPr>
              <a:lnSpc>
                <a:spcPct val="150000"/>
              </a:lnSpc>
              <a:buClr>
                <a:schemeClr val="bg2"/>
              </a:buClr>
            </a:pPr>
            <a:r>
              <a:rPr lang="en-GB" sz="1600" dirty="0">
                <a:solidFill>
                  <a:schemeClr val="bg2"/>
                </a:solidFill>
                <a:latin typeface="+mj-lt"/>
              </a:rPr>
              <a:t>Enhances readability</a:t>
            </a:r>
          </a:p>
          <a:p>
            <a:pPr>
              <a:lnSpc>
                <a:spcPct val="150000"/>
              </a:lnSpc>
              <a:buClr>
                <a:schemeClr val="bg2"/>
              </a:buClr>
            </a:pPr>
            <a:r>
              <a:rPr lang="en-GB" sz="1600" dirty="0">
                <a:solidFill>
                  <a:schemeClr val="bg2"/>
                </a:solidFill>
                <a:latin typeface="+mj-lt"/>
              </a:rPr>
              <a:t>Makes applications easier to scale</a:t>
            </a:r>
          </a:p>
          <a:p>
            <a:pPr>
              <a:lnSpc>
                <a:spcPct val="150000"/>
              </a:lnSpc>
              <a:buClr>
                <a:schemeClr val="bg2"/>
              </a:buClr>
            </a:pPr>
            <a:r>
              <a:rPr lang="en-GB" sz="1600" dirty="0">
                <a:solidFill>
                  <a:schemeClr val="bg2"/>
                </a:solidFill>
                <a:latin typeface="+mj-lt"/>
              </a:rPr>
              <a:t>Encourages separation of concerns</a:t>
            </a:r>
          </a:p>
          <a:p>
            <a:pPr marL="76200" indent="0">
              <a:lnSpc>
                <a:spcPct val="150000"/>
              </a:lnSpc>
              <a:buClr>
                <a:schemeClr val="bg2"/>
              </a:buClr>
              <a:buNone/>
            </a:pPr>
            <a:endParaRPr lang="en-GB" sz="1600" dirty="0">
              <a:solidFill>
                <a:schemeClr val="bg2"/>
              </a:solidFill>
              <a:latin typeface="+mj-lt"/>
            </a:endParaRPr>
          </a:p>
          <a:p>
            <a:pPr marL="76200" indent="0">
              <a:lnSpc>
                <a:spcPct val="150000"/>
              </a:lnSpc>
              <a:buClr>
                <a:schemeClr val="bg2"/>
              </a:buClr>
              <a:buNone/>
            </a:pPr>
            <a:r>
              <a:rPr lang="en-GB" sz="1600" dirty="0">
                <a:solidFill>
                  <a:schemeClr val="bg2"/>
                </a:solidFill>
                <a:latin typeface="+mj-lt"/>
              </a:rPr>
              <a:t>Each component focuses on a single responsibility, making the UI easier to manage.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29FB057-F3EB-52F1-A311-94BE471F3AB3}"/>
              </a:ext>
            </a:extLst>
          </p:cNvPr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0298368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B178EC9D-3AF2-FF46-AE40-8AADB0C035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14FFF226-09D2-BD23-5ADA-FDF121AE7076}"/>
              </a:ext>
            </a:extLst>
          </p:cNvPr>
          <p:cNvGrpSpPr/>
          <p:nvPr/>
        </p:nvGrpSpPr>
        <p:grpSpPr>
          <a:xfrm>
            <a:off x="751718" y="393764"/>
            <a:ext cx="8241475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BDBFAAD7-33FB-3AC6-1B1A-504C8E53D5E1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4945FE62-323F-F949-9208-8982D26D5CB9}"/>
                </a:ext>
              </a:extLst>
            </p:cNvPr>
            <p:cNvSpPr txBox="1"/>
            <p:nvPr/>
          </p:nvSpPr>
          <p:spPr>
            <a:xfrm>
              <a:off x="0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lvl="0" algn="ctr">
                <a:lnSpc>
                  <a:spcPct val="90000"/>
                </a:lnSpc>
                <a:buSzPts val="1900"/>
              </a:pPr>
              <a:r>
                <a:rPr lang="en-IN" sz="3600" b="1" dirty="0"/>
                <a:t>Benefits of Component Composition</a:t>
              </a:r>
              <a:endParaRPr lang="en-US" sz="36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AA2D43A7-B4AC-7396-B002-904551AF782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E159C79-7AC0-4E46-EB54-6E995667A62D}"/>
              </a:ext>
            </a:extLst>
          </p:cNvPr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5</a:t>
            </a:r>
          </a:p>
        </p:txBody>
      </p:sp>
      <p:grpSp>
        <p:nvGrpSpPr>
          <p:cNvPr id="17" name="Google Shape;108;p2">
            <a:extLst>
              <a:ext uri="{FF2B5EF4-FFF2-40B4-BE49-F238E27FC236}">
                <a16:creationId xmlns:a16="http://schemas.microsoft.com/office/drawing/2014/main" id="{D964EB89-B350-5658-4193-6D077B5D19AD}"/>
              </a:ext>
            </a:extLst>
          </p:cNvPr>
          <p:cNvGrpSpPr/>
          <p:nvPr/>
        </p:nvGrpSpPr>
        <p:grpSpPr>
          <a:xfrm>
            <a:off x="815820" y="348934"/>
            <a:ext cx="8245053" cy="824088"/>
            <a:chOff x="-2423" y="6299"/>
            <a:chExt cx="5583357" cy="824088"/>
          </a:xfrm>
          <a:noFill/>
        </p:grpSpPr>
        <p:sp>
          <p:nvSpPr>
            <p:cNvPr id="18" name="Google Shape;109;p2">
              <a:extLst>
                <a:ext uri="{FF2B5EF4-FFF2-40B4-BE49-F238E27FC236}">
                  <a16:creationId xmlns:a16="http://schemas.microsoft.com/office/drawing/2014/main" id="{96E4E321-561E-07CE-DCD2-94E9FE5C81A1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9" name="Google Shape;110;p2">
              <a:extLst>
                <a:ext uri="{FF2B5EF4-FFF2-40B4-BE49-F238E27FC236}">
                  <a16:creationId xmlns:a16="http://schemas.microsoft.com/office/drawing/2014/main" id="{706259B5-2280-84B6-86A6-C84A7685C9DE}"/>
                </a:ext>
              </a:extLst>
            </p:cNvPr>
            <p:cNvSpPr txBox="1"/>
            <p:nvPr/>
          </p:nvSpPr>
          <p:spPr>
            <a:xfrm>
              <a:off x="-2423" y="429195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7F6BAF62-B5BB-6B76-CF56-7E001DCB8775}"/>
              </a:ext>
            </a:extLst>
          </p:cNvPr>
          <p:cNvSpPr txBox="1"/>
          <p:nvPr/>
        </p:nvSpPr>
        <p:spPr>
          <a:xfrm>
            <a:off x="494207" y="1171600"/>
            <a:ext cx="8001000" cy="26320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1600" b="1" dirty="0"/>
              <a:t>Using component composition results in: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Cleaner component structure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Reduced code duplication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Easier UI modifications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Better collaboration in team projects</a:t>
            </a:r>
          </a:p>
          <a:p>
            <a:pPr>
              <a:lnSpc>
                <a:spcPct val="150000"/>
              </a:lnSpc>
            </a:pPr>
            <a:endParaRPr lang="en-GB" sz="1600" dirty="0"/>
          </a:p>
          <a:p>
            <a:pPr>
              <a:lnSpc>
                <a:spcPct val="150000"/>
              </a:lnSpc>
            </a:pPr>
            <a:r>
              <a:rPr lang="en-GB" sz="1600" dirty="0"/>
              <a:t>Well-composed components make applications more maintainable in the long term.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12148195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3DC29400-89C7-6A6F-FDCC-3A14F13597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0A1E0372-C71E-C8FF-EA68-B3A001392437}"/>
              </a:ext>
            </a:extLst>
          </p:cNvPr>
          <p:cNvGrpSpPr/>
          <p:nvPr/>
        </p:nvGrpSpPr>
        <p:grpSpPr>
          <a:xfrm>
            <a:off x="783770" y="218172"/>
            <a:ext cx="8241475" cy="564040"/>
            <a:chOff x="0" y="6299"/>
            <a:chExt cx="5580934" cy="56404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25826B79-33D3-443A-614A-6F6AA9F06339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C91F2A5D-F5A3-D823-AC38-7E68C89292D0}"/>
                </a:ext>
              </a:extLst>
            </p:cNvPr>
            <p:cNvSpPr txBox="1"/>
            <p:nvPr/>
          </p:nvSpPr>
          <p:spPr>
            <a:xfrm>
              <a:off x="0" y="169147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lvl="0" algn="ctr">
                <a:lnSpc>
                  <a:spcPct val="90000"/>
                </a:lnSpc>
                <a:buSzPts val="1900"/>
              </a:pPr>
              <a:r>
                <a:rPr lang="en-IN" sz="4000" b="1" dirty="0"/>
                <a:t>Introduction to </a:t>
              </a:r>
              <a:r>
                <a:rPr lang="en-IN" sz="4000" b="1" dirty="0" err="1"/>
                <a:t>WebSockets</a:t>
              </a: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E83A1FA8-10FE-2D4E-39EB-872A7BDF53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F4C3EC31-8B8F-E5E5-4108-1157654D8404}"/>
              </a:ext>
            </a:extLst>
          </p:cNvPr>
          <p:cNvSpPr txBox="1"/>
          <p:nvPr/>
        </p:nvSpPr>
        <p:spPr>
          <a:xfrm>
            <a:off x="415633" y="1173022"/>
            <a:ext cx="8577560" cy="2062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indent="-285750" fontAlgn="base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GB" sz="1600" dirty="0" err="1"/>
              <a:t>WebSockets</a:t>
            </a:r>
            <a:r>
              <a:rPr lang="en-GB" sz="1600" dirty="0"/>
              <a:t> provide a full-duplex communication channel between client and server over a single persistent connection.</a:t>
            </a:r>
          </a:p>
          <a:p>
            <a:pPr marL="285750" indent="-285750" fontAlgn="base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GB" sz="1600" dirty="0"/>
              <a:t>Unlike HTTP requests, </a:t>
            </a:r>
            <a:r>
              <a:rPr lang="en-GB" sz="1600" dirty="0" err="1"/>
              <a:t>WebSockets</a:t>
            </a:r>
            <a:r>
              <a:rPr lang="en-GB" sz="1600" dirty="0"/>
              <a:t> allow the server to push data to the client instantly.</a:t>
            </a:r>
          </a:p>
          <a:p>
            <a:pPr marL="285750" indent="-285750" fontAlgn="base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GB" sz="1600" dirty="0"/>
              <a:t>This makes </a:t>
            </a:r>
            <a:r>
              <a:rPr lang="en-GB" sz="1600" dirty="0" err="1"/>
              <a:t>WebSockets</a:t>
            </a:r>
            <a:r>
              <a:rPr lang="en-GB" sz="1600" dirty="0"/>
              <a:t> ideal for applications requiring real-time data updates.</a:t>
            </a:r>
            <a:endParaRPr lang="en-IN" sz="1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D41F94B-4381-9960-700F-E0E3150A5671}"/>
              </a:ext>
            </a:extLst>
          </p:cNvPr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6</a:t>
            </a:r>
          </a:p>
        </p:txBody>
      </p:sp>
      <p:grpSp>
        <p:nvGrpSpPr>
          <p:cNvPr id="17" name="Google Shape;108;p2">
            <a:extLst>
              <a:ext uri="{FF2B5EF4-FFF2-40B4-BE49-F238E27FC236}">
                <a16:creationId xmlns:a16="http://schemas.microsoft.com/office/drawing/2014/main" id="{C4CD5BA6-C07A-1DF8-879C-A5E9C3432C02}"/>
              </a:ext>
            </a:extLst>
          </p:cNvPr>
          <p:cNvGrpSpPr/>
          <p:nvPr/>
        </p:nvGrpSpPr>
        <p:grpSpPr>
          <a:xfrm>
            <a:off x="815820" y="348934"/>
            <a:ext cx="8245053" cy="824088"/>
            <a:chOff x="-2423" y="6299"/>
            <a:chExt cx="5583357" cy="824088"/>
          </a:xfrm>
          <a:noFill/>
        </p:grpSpPr>
        <p:sp>
          <p:nvSpPr>
            <p:cNvPr id="18" name="Google Shape;109;p2">
              <a:extLst>
                <a:ext uri="{FF2B5EF4-FFF2-40B4-BE49-F238E27FC236}">
                  <a16:creationId xmlns:a16="http://schemas.microsoft.com/office/drawing/2014/main" id="{88EBE040-CA66-B9AA-D219-417CCA8CD728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9" name="Google Shape;110;p2">
              <a:extLst>
                <a:ext uri="{FF2B5EF4-FFF2-40B4-BE49-F238E27FC236}">
                  <a16:creationId xmlns:a16="http://schemas.microsoft.com/office/drawing/2014/main" id="{002F189B-2F78-0FBE-9BE2-5FCCD02BA85A}"/>
                </a:ext>
              </a:extLst>
            </p:cNvPr>
            <p:cNvSpPr txBox="1"/>
            <p:nvPr/>
          </p:nvSpPr>
          <p:spPr>
            <a:xfrm>
              <a:off x="-2423" y="429195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451312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672A88FF-C2A5-683D-561C-EFAF56ECAF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45071BEF-D2A7-68A3-5BA7-D6438A23D703}"/>
              </a:ext>
            </a:extLst>
          </p:cNvPr>
          <p:cNvGrpSpPr/>
          <p:nvPr/>
        </p:nvGrpSpPr>
        <p:grpSpPr>
          <a:xfrm>
            <a:off x="783770" y="218172"/>
            <a:ext cx="8241475" cy="564040"/>
            <a:chOff x="0" y="6299"/>
            <a:chExt cx="5580934" cy="56404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0B64E7A8-8EF9-4382-FA8E-C7945FFE7E09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FACA1E50-E05A-204F-D4E4-603E7A29B694}"/>
                </a:ext>
              </a:extLst>
            </p:cNvPr>
            <p:cNvSpPr txBox="1"/>
            <p:nvPr/>
          </p:nvSpPr>
          <p:spPr>
            <a:xfrm>
              <a:off x="0" y="169147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lvl="0" algn="ctr">
                <a:lnSpc>
                  <a:spcPct val="90000"/>
                </a:lnSpc>
                <a:buSzPts val="1900"/>
              </a:pPr>
              <a:r>
                <a:rPr lang="en-GB" sz="3200" b="1" dirty="0"/>
                <a:t>Why </a:t>
              </a:r>
              <a:r>
                <a:rPr lang="en-GB" sz="3200" b="1" dirty="0" err="1"/>
                <a:t>WebSockets</a:t>
              </a:r>
              <a:r>
                <a:rPr lang="en-GB" sz="3200" b="1" dirty="0"/>
                <a:t> for Live UI Updates?</a:t>
              </a:r>
              <a:endParaRPr lang="en-US" sz="32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6854232F-5606-3B82-0B77-0706E417AA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4AECE7E0-D084-E285-0202-F50F4E83611A}"/>
              </a:ext>
            </a:extLst>
          </p:cNvPr>
          <p:cNvSpPr txBox="1"/>
          <p:nvPr/>
        </p:nvSpPr>
        <p:spPr>
          <a:xfrm>
            <a:off x="562146" y="1033529"/>
            <a:ext cx="8001000" cy="3785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1600" dirty="0"/>
              <a:t>Traditional HTTP follows a request–response model, which is inefficient for real-time updates.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1600" dirty="0" err="1"/>
              <a:t>WebSockets</a:t>
            </a:r>
            <a:r>
              <a:rPr lang="en-GB" sz="1600" dirty="0"/>
              <a:t> eliminate the need for continuous polling by maintaining an open connection.</a:t>
            </a:r>
          </a:p>
          <a:p>
            <a:pPr>
              <a:lnSpc>
                <a:spcPct val="150000"/>
              </a:lnSpc>
            </a:pPr>
            <a:endParaRPr lang="en-GB" sz="1600" dirty="0"/>
          </a:p>
          <a:p>
            <a:pPr>
              <a:lnSpc>
                <a:spcPct val="150000"/>
              </a:lnSpc>
            </a:pPr>
            <a:r>
              <a:rPr lang="en-GB" sz="1600" b="1" dirty="0"/>
              <a:t>Advantages include: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Low latency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Reduced network overhead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Instant data delivery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Better user experience</a:t>
            </a:r>
            <a:endParaRPr lang="en-IN" sz="1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3B8FCBC-4440-BCD1-D2BD-8D1B0D8B0DA4}"/>
              </a:ext>
            </a:extLst>
          </p:cNvPr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7</a:t>
            </a:r>
          </a:p>
        </p:txBody>
      </p:sp>
      <p:grpSp>
        <p:nvGrpSpPr>
          <p:cNvPr id="17" name="Google Shape;108;p2">
            <a:extLst>
              <a:ext uri="{FF2B5EF4-FFF2-40B4-BE49-F238E27FC236}">
                <a16:creationId xmlns:a16="http://schemas.microsoft.com/office/drawing/2014/main" id="{9EC5D87B-A270-6DD8-4D46-2B86625EE105}"/>
              </a:ext>
            </a:extLst>
          </p:cNvPr>
          <p:cNvGrpSpPr/>
          <p:nvPr/>
        </p:nvGrpSpPr>
        <p:grpSpPr>
          <a:xfrm>
            <a:off x="815820" y="348934"/>
            <a:ext cx="8245053" cy="824088"/>
            <a:chOff x="-2423" y="6299"/>
            <a:chExt cx="5583357" cy="824088"/>
          </a:xfrm>
          <a:noFill/>
        </p:grpSpPr>
        <p:sp>
          <p:nvSpPr>
            <p:cNvPr id="18" name="Google Shape;109;p2">
              <a:extLst>
                <a:ext uri="{FF2B5EF4-FFF2-40B4-BE49-F238E27FC236}">
                  <a16:creationId xmlns:a16="http://schemas.microsoft.com/office/drawing/2014/main" id="{0A95BA47-5736-BC82-F4CC-35D51C1BE429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9" name="Google Shape;110;p2">
              <a:extLst>
                <a:ext uri="{FF2B5EF4-FFF2-40B4-BE49-F238E27FC236}">
                  <a16:creationId xmlns:a16="http://schemas.microsoft.com/office/drawing/2014/main" id="{EA40291A-0D19-D650-98E9-84EC50205B88}"/>
                </a:ext>
              </a:extLst>
            </p:cNvPr>
            <p:cNvSpPr txBox="1"/>
            <p:nvPr/>
          </p:nvSpPr>
          <p:spPr>
            <a:xfrm>
              <a:off x="-2423" y="429195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720501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5A79C876-8596-E374-F632-D96C3C2DA9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D022427D-7469-F8A2-B956-734E55019692}"/>
              </a:ext>
            </a:extLst>
          </p:cNvPr>
          <p:cNvGrpSpPr/>
          <p:nvPr/>
        </p:nvGrpSpPr>
        <p:grpSpPr>
          <a:xfrm>
            <a:off x="783770" y="218172"/>
            <a:ext cx="8241475" cy="564040"/>
            <a:chOff x="0" y="6299"/>
            <a:chExt cx="5580934" cy="56404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1DAC577C-E326-12F9-00BE-7D13441ABB6E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2358F8D3-40A5-3040-A95E-D1B4BC09296D}"/>
                </a:ext>
              </a:extLst>
            </p:cNvPr>
            <p:cNvSpPr txBox="1"/>
            <p:nvPr/>
          </p:nvSpPr>
          <p:spPr>
            <a:xfrm>
              <a:off x="0" y="169147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lvl="0" algn="ctr">
                <a:lnSpc>
                  <a:spcPct val="90000"/>
                </a:lnSpc>
                <a:buSzPts val="1900"/>
              </a:pPr>
              <a:r>
                <a:rPr lang="en-GB" sz="3200" b="1" dirty="0"/>
                <a:t>Real-Time UI Updates Using </a:t>
              </a:r>
              <a:r>
                <a:rPr lang="en-GB" sz="3200" b="1" dirty="0" err="1"/>
                <a:t>WebSockets</a:t>
              </a:r>
              <a:endParaRPr lang="en-US" sz="32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2974D6E5-4183-16B6-613D-2513664F9F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832C02CE-8E7F-C759-06BD-366202BC0548}"/>
              </a:ext>
            </a:extLst>
          </p:cNvPr>
          <p:cNvSpPr txBox="1"/>
          <p:nvPr/>
        </p:nvSpPr>
        <p:spPr>
          <a:xfrm>
            <a:off x="711347" y="1039334"/>
            <a:ext cx="8249797" cy="3416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indent="-285750" fontAlgn="base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1600" dirty="0"/>
              <a:t>When data changes on the server, </a:t>
            </a:r>
            <a:r>
              <a:rPr lang="en-GB" sz="1600" dirty="0" err="1"/>
              <a:t>WebSockets</a:t>
            </a:r>
            <a:r>
              <a:rPr lang="en-GB" sz="1600" dirty="0"/>
              <a:t> allow the server to immediately notify the client.</a:t>
            </a:r>
          </a:p>
          <a:p>
            <a:pPr marL="285750" indent="-285750" fontAlgn="base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1600" dirty="0"/>
              <a:t>The client receives the data and updates the UI dynamically using state management.</a:t>
            </a:r>
          </a:p>
          <a:p>
            <a:pPr fontAlgn="base">
              <a:lnSpc>
                <a:spcPct val="150000"/>
              </a:lnSpc>
            </a:pPr>
            <a:endParaRPr lang="en-GB" sz="1600" b="1" dirty="0"/>
          </a:p>
          <a:p>
            <a:pPr fontAlgn="base">
              <a:lnSpc>
                <a:spcPct val="150000"/>
              </a:lnSpc>
            </a:pPr>
            <a:r>
              <a:rPr lang="en-GB" sz="1600" b="1" dirty="0"/>
              <a:t>This enables features such as:</a:t>
            </a:r>
          </a:p>
          <a:p>
            <a:pPr marL="28575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Live notifications</a:t>
            </a:r>
          </a:p>
          <a:p>
            <a:pPr marL="28575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Chat applications</a:t>
            </a:r>
          </a:p>
          <a:p>
            <a:pPr marL="28575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Stock price updates</a:t>
            </a:r>
          </a:p>
          <a:p>
            <a:pPr marL="28575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Live dashboards</a:t>
            </a:r>
            <a:endParaRPr lang="en-IN" sz="1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C754E23-92AA-64E2-FB10-68E16949A7E5}"/>
              </a:ext>
            </a:extLst>
          </p:cNvPr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8</a:t>
            </a:r>
          </a:p>
        </p:txBody>
      </p:sp>
      <p:grpSp>
        <p:nvGrpSpPr>
          <p:cNvPr id="17" name="Google Shape;108;p2">
            <a:extLst>
              <a:ext uri="{FF2B5EF4-FFF2-40B4-BE49-F238E27FC236}">
                <a16:creationId xmlns:a16="http://schemas.microsoft.com/office/drawing/2014/main" id="{2F6826A5-78ED-9861-4B61-7E7B76DEC999}"/>
              </a:ext>
            </a:extLst>
          </p:cNvPr>
          <p:cNvGrpSpPr/>
          <p:nvPr/>
        </p:nvGrpSpPr>
        <p:grpSpPr>
          <a:xfrm>
            <a:off x="815820" y="348934"/>
            <a:ext cx="8245053" cy="824088"/>
            <a:chOff x="-2423" y="6299"/>
            <a:chExt cx="5583357" cy="824088"/>
          </a:xfrm>
          <a:noFill/>
        </p:grpSpPr>
        <p:sp>
          <p:nvSpPr>
            <p:cNvPr id="18" name="Google Shape;109;p2">
              <a:extLst>
                <a:ext uri="{FF2B5EF4-FFF2-40B4-BE49-F238E27FC236}">
                  <a16:creationId xmlns:a16="http://schemas.microsoft.com/office/drawing/2014/main" id="{1EF02D29-70F3-3CA0-420E-6A0F5A4057F4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9" name="Google Shape;110;p2">
              <a:extLst>
                <a:ext uri="{FF2B5EF4-FFF2-40B4-BE49-F238E27FC236}">
                  <a16:creationId xmlns:a16="http://schemas.microsoft.com/office/drawing/2014/main" id="{29D885FB-908B-8510-32A9-53D10647CCA7}"/>
                </a:ext>
              </a:extLst>
            </p:cNvPr>
            <p:cNvSpPr txBox="1"/>
            <p:nvPr/>
          </p:nvSpPr>
          <p:spPr>
            <a:xfrm>
              <a:off x="-2423" y="429195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619735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73EE90CA-44A2-145C-4FAE-3CC32C14AF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2E2E8708-715E-5880-FFFB-DA34E4925BD6}"/>
              </a:ext>
            </a:extLst>
          </p:cNvPr>
          <p:cNvGrpSpPr/>
          <p:nvPr/>
        </p:nvGrpSpPr>
        <p:grpSpPr>
          <a:xfrm>
            <a:off x="652101" y="308954"/>
            <a:ext cx="8241475" cy="564040"/>
            <a:chOff x="0" y="6299"/>
            <a:chExt cx="5580934" cy="56404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6D691364-EFD0-2D9F-5866-4C7B91B20487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7805727D-B8EA-DBCD-C854-C2EBCC631473}"/>
                </a:ext>
              </a:extLst>
            </p:cNvPr>
            <p:cNvSpPr txBox="1"/>
            <p:nvPr/>
          </p:nvSpPr>
          <p:spPr>
            <a:xfrm>
              <a:off x="0" y="169147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lvl="0" algn="ctr">
                <a:lnSpc>
                  <a:spcPct val="90000"/>
                </a:lnSpc>
                <a:buSzPts val="1900"/>
              </a:pPr>
              <a:r>
                <a:rPr lang="en-GB" sz="3600" b="1" dirty="0"/>
                <a:t>Integrating </a:t>
              </a:r>
              <a:r>
                <a:rPr lang="en-GB" sz="3600" b="1" dirty="0" err="1"/>
                <a:t>WebSockets</a:t>
              </a:r>
              <a:r>
                <a:rPr lang="en-GB" sz="3600" b="1" dirty="0"/>
                <a:t> with React Components</a:t>
              </a:r>
              <a:endParaRPr lang="en-US" sz="36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17A9FDA0-49B6-4954-2D0C-A01F69EF7B8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438832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957FA0CB-C0E2-2561-594C-E584D83C7DB8}"/>
              </a:ext>
            </a:extLst>
          </p:cNvPr>
          <p:cNvSpPr txBox="1"/>
          <p:nvPr/>
        </p:nvSpPr>
        <p:spPr>
          <a:xfrm>
            <a:off x="394419" y="1249487"/>
            <a:ext cx="8692738" cy="2308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1600" b="1" dirty="0"/>
              <a:t>In React, WebSocket data is usually handled by: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Establishing a connection when the component mounts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Updating component state when messages are received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Automatically re-rendering UI based on state changes</a:t>
            </a:r>
          </a:p>
          <a:p>
            <a:pPr>
              <a:lnSpc>
                <a:spcPct val="150000"/>
              </a:lnSpc>
            </a:pPr>
            <a:endParaRPr lang="en-GB" sz="1600" dirty="0"/>
          </a:p>
          <a:p>
            <a:pPr>
              <a:lnSpc>
                <a:spcPct val="150000"/>
              </a:lnSpc>
            </a:pPr>
            <a:r>
              <a:rPr lang="en-GB" sz="1600" dirty="0"/>
              <a:t>This approach keeps the UI synchronized with live data.</a:t>
            </a:r>
            <a:endParaRPr lang="en-IN" sz="1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9A84EE9-D937-17F8-8B5E-E50C3BB257F5}"/>
              </a:ext>
            </a:extLst>
          </p:cNvPr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9</a:t>
            </a:r>
          </a:p>
        </p:txBody>
      </p:sp>
      <p:grpSp>
        <p:nvGrpSpPr>
          <p:cNvPr id="17" name="Google Shape;108;p2">
            <a:extLst>
              <a:ext uri="{FF2B5EF4-FFF2-40B4-BE49-F238E27FC236}">
                <a16:creationId xmlns:a16="http://schemas.microsoft.com/office/drawing/2014/main" id="{D55CA380-5370-5933-21CC-2E4197E96008}"/>
              </a:ext>
            </a:extLst>
          </p:cNvPr>
          <p:cNvGrpSpPr/>
          <p:nvPr/>
        </p:nvGrpSpPr>
        <p:grpSpPr>
          <a:xfrm>
            <a:off x="815820" y="348934"/>
            <a:ext cx="8245053" cy="824088"/>
            <a:chOff x="-2423" y="6299"/>
            <a:chExt cx="5583357" cy="824088"/>
          </a:xfrm>
          <a:noFill/>
        </p:grpSpPr>
        <p:sp>
          <p:nvSpPr>
            <p:cNvPr id="18" name="Google Shape;109;p2">
              <a:extLst>
                <a:ext uri="{FF2B5EF4-FFF2-40B4-BE49-F238E27FC236}">
                  <a16:creationId xmlns:a16="http://schemas.microsoft.com/office/drawing/2014/main" id="{316261BD-C998-8D71-6D28-2AA8554237AE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9" name="Google Shape;110;p2">
              <a:extLst>
                <a:ext uri="{FF2B5EF4-FFF2-40B4-BE49-F238E27FC236}">
                  <a16:creationId xmlns:a16="http://schemas.microsoft.com/office/drawing/2014/main" id="{DBD15C4C-4BCE-B2F9-EB24-983A34345AAB}"/>
                </a:ext>
              </a:extLst>
            </p:cNvPr>
            <p:cNvSpPr txBox="1"/>
            <p:nvPr/>
          </p:nvSpPr>
          <p:spPr>
            <a:xfrm>
              <a:off x="-2423" y="429195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535802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15C3FEDA-1C24-D77D-3D76-B501337D23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336479E8-4ADB-A2C8-7FFA-3423117946F8}"/>
              </a:ext>
            </a:extLst>
          </p:cNvPr>
          <p:cNvGrpSpPr/>
          <p:nvPr/>
        </p:nvGrpSpPr>
        <p:grpSpPr>
          <a:xfrm>
            <a:off x="593724" y="278362"/>
            <a:ext cx="8241475" cy="564040"/>
            <a:chOff x="0" y="6299"/>
            <a:chExt cx="5580934" cy="56404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9C096D61-E8CC-BCFF-36D6-E110D615EF3E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2CFA3818-57F4-A9F3-0325-DF6BD6DE9066}"/>
                </a:ext>
              </a:extLst>
            </p:cNvPr>
            <p:cNvSpPr txBox="1"/>
            <p:nvPr/>
          </p:nvSpPr>
          <p:spPr>
            <a:xfrm>
              <a:off x="0" y="169147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lvl="0" algn="ctr">
                <a:lnSpc>
                  <a:spcPct val="90000"/>
                </a:lnSpc>
                <a:buSzPts val="1900"/>
              </a:pPr>
              <a:r>
                <a:rPr lang="en-GB" sz="3600" b="1" dirty="0"/>
                <a:t>Role of Component Composition in Live UI</a:t>
              </a:r>
              <a:endParaRPr lang="en-US" sz="36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FE3DC9D6-FC96-9049-4400-B750C78D7F6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503642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185D4BD8-D608-CF84-4402-910908E63E23}"/>
              </a:ext>
            </a:extLst>
          </p:cNvPr>
          <p:cNvSpPr txBox="1"/>
          <p:nvPr/>
        </p:nvSpPr>
        <p:spPr>
          <a:xfrm>
            <a:off x="469410" y="1265298"/>
            <a:ext cx="8674590" cy="2308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fontAlgn="base">
              <a:lnSpc>
                <a:spcPct val="150000"/>
              </a:lnSpc>
            </a:pPr>
            <a:r>
              <a:rPr lang="en-GB" sz="1600" b="1" dirty="0"/>
              <a:t>Component composition helps manage WebSocket data efficiently by:</a:t>
            </a:r>
          </a:p>
          <a:p>
            <a:pPr marL="28575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Separating data handling logic from UI rendering</a:t>
            </a:r>
          </a:p>
          <a:p>
            <a:pPr marL="28575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Passing real-time data to child components as props</a:t>
            </a:r>
          </a:p>
          <a:p>
            <a:pPr marL="28575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Keeping components reusable and independent</a:t>
            </a:r>
          </a:p>
          <a:p>
            <a:pPr fontAlgn="base">
              <a:lnSpc>
                <a:spcPct val="150000"/>
              </a:lnSpc>
            </a:pPr>
            <a:endParaRPr lang="en-GB" sz="1600" dirty="0"/>
          </a:p>
          <a:p>
            <a:pPr fontAlgn="base">
              <a:lnSpc>
                <a:spcPct val="150000"/>
              </a:lnSpc>
            </a:pPr>
            <a:r>
              <a:rPr lang="en-GB" sz="1600" dirty="0"/>
              <a:t>This ensures that live updates do not make components tightly coupled.</a:t>
            </a:r>
            <a:endParaRPr lang="en-IN" sz="1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D2330D0-2BDA-72C1-1B10-F20D89A65963}"/>
              </a:ext>
            </a:extLst>
          </p:cNvPr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10</a:t>
            </a:r>
          </a:p>
        </p:txBody>
      </p:sp>
      <p:grpSp>
        <p:nvGrpSpPr>
          <p:cNvPr id="17" name="Google Shape;108;p2">
            <a:extLst>
              <a:ext uri="{FF2B5EF4-FFF2-40B4-BE49-F238E27FC236}">
                <a16:creationId xmlns:a16="http://schemas.microsoft.com/office/drawing/2014/main" id="{E07CB556-7321-E168-C4F7-A9452CB089DF}"/>
              </a:ext>
            </a:extLst>
          </p:cNvPr>
          <p:cNvGrpSpPr/>
          <p:nvPr/>
        </p:nvGrpSpPr>
        <p:grpSpPr>
          <a:xfrm>
            <a:off x="815820" y="348934"/>
            <a:ext cx="8245053" cy="824088"/>
            <a:chOff x="-2423" y="6299"/>
            <a:chExt cx="5583357" cy="824088"/>
          </a:xfrm>
          <a:noFill/>
        </p:grpSpPr>
        <p:sp>
          <p:nvSpPr>
            <p:cNvPr id="18" name="Google Shape;109;p2">
              <a:extLst>
                <a:ext uri="{FF2B5EF4-FFF2-40B4-BE49-F238E27FC236}">
                  <a16:creationId xmlns:a16="http://schemas.microsoft.com/office/drawing/2014/main" id="{2CEED89F-6A08-93BA-90AA-D633EB496EE5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9" name="Google Shape;110;p2">
              <a:extLst>
                <a:ext uri="{FF2B5EF4-FFF2-40B4-BE49-F238E27FC236}">
                  <a16:creationId xmlns:a16="http://schemas.microsoft.com/office/drawing/2014/main" id="{AB85F620-883C-1A9D-10AC-ECD4CCE28151}"/>
                </a:ext>
              </a:extLst>
            </p:cNvPr>
            <p:cNvSpPr txBox="1"/>
            <p:nvPr/>
          </p:nvSpPr>
          <p:spPr>
            <a:xfrm>
              <a:off x="-2423" y="429195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707900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B4881312-8C34-11D8-A0D1-FDC73B358C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7FB77EF3-ED72-3523-B555-000DAE4F3E3C}"/>
              </a:ext>
            </a:extLst>
          </p:cNvPr>
          <p:cNvGrpSpPr/>
          <p:nvPr/>
        </p:nvGrpSpPr>
        <p:grpSpPr>
          <a:xfrm>
            <a:off x="783768" y="465789"/>
            <a:ext cx="8241475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2413BF18-54E0-F7D8-FB94-DBB30127E4FE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4A1805F4-1C2C-6914-B520-7BBFCEDC25F0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lvl="0" algn="ctr">
                <a:lnSpc>
                  <a:spcPct val="90000"/>
                </a:lnSpc>
                <a:buSzPts val="1900"/>
              </a:pPr>
              <a:r>
                <a:rPr lang="en-IN" sz="3200" b="1" dirty="0"/>
                <a:t>Challenges in Handling WebSocket Data</a:t>
              </a:r>
              <a:endParaRPr lang="en-US" sz="32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371CDE13-0AA7-94B4-A34B-5D2A3CC3002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77DBA305-99A9-2627-CC23-48241F7BDC93}"/>
              </a:ext>
            </a:extLst>
          </p:cNvPr>
          <p:cNvSpPr txBox="1"/>
          <p:nvPr/>
        </p:nvSpPr>
        <p:spPr>
          <a:xfrm>
            <a:off x="498760" y="1159392"/>
            <a:ext cx="8645240" cy="2677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fontAlgn="base">
              <a:lnSpc>
                <a:spcPct val="150000"/>
              </a:lnSpc>
            </a:pPr>
            <a:r>
              <a:rPr lang="en-IN" sz="1600" b="1" dirty="0"/>
              <a:t>Handling WebSocket data introduces challenges such as:</a:t>
            </a:r>
          </a:p>
          <a:p>
            <a:pPr marL="28575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Managing connection lifecycle</a:t>
            </a:r>
          </a:p>
          <a:p>
            <a:pPr marL="28575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Avoiding memory leaks</a:t>
            </a:r>
          </a:p>
          <a:p>
            <a:pPr marL="28575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Handling network interruptions</a:t>
            </a:r>
          </a:p>
          <a:p>
            <a:pPr marL="28575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Preventing unnecessary re-renders</a:t>
            </a:r>
          </a:p>
          <a:p>
            <a:pPr fontAlgn="base">
              <a:lnSpc>
                <a:spcPct val="150000"/>
              </a:lnSpc>
            </a:pPr>
            <a:endParaRPr lang="en-IN" sz="1600" dirty="0"/>
          </a:p>
          <a:p>
            <a:pPr fontAlgn="base">
              <a:lnSpc>
                <a:spcPct val="150000"/>
              </a:lnSpc>
            </a:pPr>
            <a:r>
              <a:rPr lang="en-IN" sz="1600" dirty="0"/>
              <a:t>Proper design and cleanup mechanisms are essential.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21459E1-7AF1-A55C-BDB6-D6202C2488AF}"/>
              </a:ext>
            </a:extLst>
          </p:cNvPr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11</a:t>
            </a:r>
          </a:p>
        </p:txBody>
      </p:sp>
      <p:grpSp>
        <p:nvGrpSpPr>
          <p:cNvPr id="17" name="Google Shape;108;p2">
            <a:extLst>
              <a:ext uri="{FF2B5EF4-FFF2-40B4-BE49-F238E27FC236}">
                <a16:creationId xmlns:a16="http://schemas.microsoft.com/office/drawing/2014/main" id="{7B990DCC-ED35-C11B-FB01-016307CF15E5}"/>
              </a:ext>
            </a:extLst>
          </p:cNvPr>
          <p:cNvGrpSpPr/>
          <p:nvPr/>
        </p:nvGrpSpPr>
        <p:grpSpPr>
          <a:xfrm>
            <a:off x="815820" y="348934"/>
            <a:ext cx="8245053" cy="824088"/>
            <a:chOff x="-2423" y="6299"/>
            <a:chExt cx="5583357" cy="824088"/>
          </a:xfrm>
          <a:noFill/>
        </p:grpSpPr>
        <p:sp>
          <p:nvSpPr>
            <p:cNvPr id="18" name="Google Shape;109;p2">
              <a:extLst>
                <a:ext uri="{FF2B5EF4-FFF2-40B4-BE49-F238E27FC236}">
                  <a16:creationId xmlns:a16="http://schemas.microsoft.com/office/drawing/2014/main" id="{3F960A93-B946-DCAB-25E9-3CE87675CE29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9" name="Google Shape;110;p2">
              <a:extLst>
                <a:ext uri="{FF2B5EF4-FFF2-40B4-BE49-F238E27FC236}">
                  <a16:creationId xmlns:a16="http://schemas.microsoft.com/office/drawing/2014/main" id="{E8EA1C90-A413-9C71-2F44-E4AE3A90F17F}"/>
                </a:ext>
              </a:extLst>
            </p:cNvPr>
            <p:cNvSpPr txBox="1"/>
            <p:nvPr/>
          </p:nvSpPr>
          <p:spPr>
            <a:xfrm>
              <a:off x="-2423" y="429195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33825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6C765F80-1F94-ABEF-81ED-5189B8ED1E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EC68C85E-3B9A-0625-434B-8D0553ED39BA}"/>
              </a:ext>
            </a:extLst>
          </p:cNvPr>
          <p:cNvGrpSpPr/>
          <p:nvPr/>
        </p:nvGrpSpPr>
        <p:grpSpPr>
          <a:xfrm>
            <a:off x="783768" y="465789"/>
            <a:ext cx="8241475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93B8D9BB-BA0C-50F8-7656-D2E6F1C45270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3F3A65F1-2E6F-181F-BFD3-555631C3FD86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lvl="0" algn="ctr">
                <a:lnSpc>
                  <a:spcPct val="90000"/>
                </a:lnSpc>
                <a:buSzPts val="1900"/>
              </a:pPr>
              <a:r>
                <a:rPr lang="en-GB" sz="3600" b="1" dirty="0"/>
                <a:t>Best Practices for Live UI Updates</a:t>
              </a:r>
              <a:endParaRPr lang="en-US" sz="36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34FFDFD1-FB16-009B-D769-0F031005D6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F7B435D8-92FD-4600-B059-EEC9E5B6731D}"/>
              </a:ext>
            </a:extLst>
          </p:cNvPr>
          <p:cNvSpPr txBox="1"/>
          <p:nvPr/>
        </p:nvSpPr>
        <p:spPr>
          <a:xfrm>
            <a:off x="581885" y="1194726"/>
            <a:ext cx="8241475" cy="3046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fontAlgn="base">
              <a:lnSpc>
                <a:spcPct val="150000"/>
              </a:lnSpc>
            </a:pPr>
            <a:r>
              <a:rPr lang="en-GB" sz="1600" b="1" dirty="0"/>
              <a:t>Best practices include:</a:t>
            </a:r>
          </a:p>
          <a:p>
            <a:pPr marL="28575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Properly opening and closing WebSocket connections</a:t>
            </a:r>
          </a:p>
          <a:p>
            <a:pPr marL="28575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Using state management efficiently</a:t>
            </a:r>
          </a:p>
          <a:p>
            <a:pPr marL="28575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Structuring UI with composed components</a:t>
            </a:r>
          </a:p>
          <a:p>
            <a:pPr marL="28575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Handling errors and reconnection logic</a:t>
            </a:r>
          </a:p>
          <a:p>
            <a:pPr marL="28575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Avoiding excessive updates</a:t>
            </a:r>
          </a:p>
          <a:p>
            <a:pPr fontAlgn="base">
              <a:lnSpc>
                <a:spcPct val="150000"/>
              </a:lnSpc>
            </a:pPr>
            <a:endParaRPr lang="en-GB" sz="1600" dirty="0"/>
          </a:p>
          <a:p>
            <a:pPr fontAlgn="base">
              <a:lnSpc>
                <a:spcPct val="150000"/>
              </a:lnSpc>
            </a:pPr>
            <a:r>
              <a:rPr lang="en-GB" sz="1600" dirty="0"/>
              <a:t>These practices improve performance and reliability.</a:t>
            </a:r>
            <a:endParaRPr lang="en-IN" sz="1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4B527CC-6D8D-1A50-603C-0776132DEEB8}"/>
              </a:ext>
            </a:extLst>
          </p:cNvPr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12</a:t>
            </a:r>
          </a:p>
        </p:txBody>
      </p:sp>
      <p:grpSp>
        <p:nvGrpSpPr>
          <p:cNvPr id="17" name="Google Shape;108;p2">
            <a:extLst>
              <a:ext uri="{FF2B5EF4-FFF2-40B4-BE49-F238E27FC236}">
                <a16:creationId xmlns:a16="http://schemas.microsoft.com/office/drawing/2014/main" id="{59DD73EB-9078-80FC-F64B-EAA84B2BFBA9}"/>
              </a:ext>
            </a:extLst>
          </p:cNvPr>
          <p:cNvGrpSpPr/>
          <p:nvPr/>
        </p:nvGrpSpPr>
        <p:grpSpPr>
          <a:xfrm>
            <a:off x="815820" y="348934"/>
            <a:ext cx="8245053" cy="824088"/>
            <a:chOff x="-2423" y="6299"/>
            <a:chExt cx="5583357" cy="824088"/>
          </a:xfrm>
          <a:noFill/>
        </p:grpSpPr>
        <p:sp>
          <p:nvSpPr>
            <p:cNvPr id="18" name="Google Shape;109;p2">
              <a:extLst>
                <a:ext uri="{FF2B5EF4-FFF2-40B4-BE49-F238E27FC236}">
                  <a16:creationId xmlns:a16="http://schemas.microsoft.com/office/drawing/2014/main" id="{31A579B8-D92C-8182-F84F-485D52B7E1D8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9" name="Google Shape;110;p2">
              <a:extLst>
                <a:ext uri="{FF2B5EF4-FFF2-40B4-BE49-F238E27FC236}">
                  <a16:creationId xmlns:a16="http://schemas.microsoft.com/office/drawing/2014/main" id="{7B19319B-B601-D623-A91F-520A6F2C954D}"/>
                </a:ext>
              </a:extLst>
            </p:cNvPr>
            <p:cNvSpPr txBox="1"/>
            <p:nvPr/>
          </p:nvSpPr>
          <p:spPr>
            <a:xfrm>
              <a:off x="-2423" y="429195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610055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43F45145-E73B-FD94-CA99-14803F72A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13DBCE09-EDB8-6011-2DC0-70F42438823D}"/>
              </a:ext>
            </a:extLst>
          </p:cNvPr>
          <p:cNvGrpSpPr/>
          <p:nvPr/>
        </p:nvGrpSpPr>
        <p:grpSpPr>
          <a:xfrm>
            <a:off x="783768" y="465789"/>
            <a:ext cx="8241475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B6F71F62-3E21-D55A-3312-FF9FBF676185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0F7FD72D-8F4B-FD20-94D3-FCC5DBE49ADC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lvl="0" algn="ctr">
                <a:lnSpc>
                  <a:spcPct val="90000"/>
                </a:lnSpc>
                <a:buSzPts val="1900"/>
              </a:pPr>
              <a:r>
                <a:rPr lang="en-IN" sz="3200" b="1" dirty="0"/>
                <a:t>Component Composition + </a:t>
              </a:r>
              <a:r>
                <a:rPr lang="en-IN" sz="3200" b="1" dirty="0" err="1"/>
                <a:t>WebSockets</a:t>
              </a:r>
              <a:endParaRPr lang="en-US" sz="32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548CF0B4-3F1A-EC03-4387-21E2E743BC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GB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lang="en-GB"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9CF2803-4CDF-C481-6798-88D4B004C084}"/>
              </a:ext>
            </a:extLst>
          </p:cNvPr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13</a:t>
            </a:r>
          </a:p>
        </p:txBody>
      </p:sp>
      <p:grpSp>
        <p:nvGrpSpPr>
          <p:cNvPr id="17" name="Google Shape;108;p2">
            <a:extLst>
              <a:ext uri="{FF2B5EF4-FFF2-40B4-BE49-F238E27FC236}">
                <a16:creationId xmlns:a16="http://schemas.microsoft.com/office/drawing/2014/main" id="{42C23A8A-99EB-10B8-F7A7-4E8F856A7B00}"/>
              </a:ext>
            </a:extLst>
          </p:cNvPr>
          <p:cNvGrpSpPr/>
          <p:nvPr/>
        </p:nvGrpSpPr>
        <p:grpSpPr>
          <a:xfrm>
            <a:off x="815820" y="348934"/>
            <a:ext cx="8245053" cy="824088"/>
            <a:chOff x="-2423" y="6299"/>
            <a:chExt cx="5583357" cy="824088"/>
          </a:xfrm>
          <a:noFill/>
        </p:grpSpPr>
        <p:sp>
          <p:nvSpPr>
            <p:cNvPr id="18" name="Google Shape;109;p2">
              <a:extLst>
                <a:ext uri="{FF2B5EF4-FFF2-40B4-BE49-F238E27FC236}">
                  <a16:creationId xmlns:a16="http://schemas.microsoft.com/office/drawing/2014/main" id="{1E261A4A-47C5-DE5E-127C-8240ECEF80D6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9" name="Google Shape;110;p2">
              <a:extLst>
                <a:ext uri="{FF2B5EF4-FFF2-40B4-BE49-F238E27FC236}">
                  <a16:creationId xmlns:a16="http://schemas.microsoft.com/office/drawing/2014/main" id="{24D7E7EB-8E9E-7840-22A6-3FF10898E1F4}"/>
                </a:ext>
              </a:extLst>
            </p:cNvPr>
            <p:cNvSpPr txBox="1"/>
            <p:nvPr/>
          </p:nvSpPr>
          <p:spPr>
            <a:xfrm>
              <a:off x="-2423" y="429195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9D6CB4AB-F549-56EF-A98C-AF305175D7A1}"/>
              </a:ext>
            </a:extLst>
          </p:cNvPr>
          <p:cNvSpPr txBox="1"/>
          <p:nvPr/>
        </p:nvSpPr>
        <p:spPr>
          <a:xfrm>
            <a:off x="669073" y="1194726"/>
            <a:ext cx="7805853" cy="15240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1600" dirty="0"/>
              <a:t>Component composition provides a clean and modular UI structure, while </a:t>
            </a:r>
            <a:r>
              <a:rPr lang="en-GB" sz="1600" dirty="0" err="1"/>
              <a:t>WebSockets</a:t>
            </a:r>
            <a:r>
              <a:rPr lang="en-GB" sz="1600" dirty="0"/>
              <a:t> enable real-time data flow.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1600" dirty="0"/>
              <a:t>Together, they help build scalable, responsive, and interactive applications.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1600" dirty="0"/>
              <a:t>This combination is widely used in modern web systems.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3978054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C6F26A9A-51A8-DA0C-152B-AD37E9CEC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A2A21673-0A1D-F07A-5F4A-24C8EDC3204D}"/>
              </a:ext>
            </a:extLst>
          </p:cNvPr>
          <p:cNvGrpSpPr/>
          <p:nvPr/>
        </p:nvGrpSpPr>
        <p:grpSpPr>
          <a:xfrm>
            <a:off x="712518" y="218172"/>
            <a:ext cx="8312727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D38799F9-4E43-3EC1-B502-26CB35DA3A64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1167C827-DCC4-87E3-24C7-4E2CCEE8F404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Quiz/ FAQ’s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BD6EBDB1-8664-1692-8A39-12350449E1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12518" y="862360"/>
            <a:ext cx="8280399" cy="38508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1400" b="1" dirty="0">
                <a:solidFill>
                  <a:schemeClr val="bg2"/>
                </a:solidFill>
                <a:latin typeface="+mj-lt"/>
                <a:ea typeface="Times New Roman"/>
                <a:cs typeface="Times New Roman"/>
                <a:sym typeface="Times New Roman"/>
              </a:rPr>
              <a:t>1. Component composition mainly helps in:</a:t>
            </a: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1400" dirty="0">
                <a:solidFill>
                  <a:schemeClr val="bg2"/>
                </a:solidFill>
                <a:latin typeface="+mj-lt"/>
                <a:ea typeface="Times New Roman"/>
                <a:cs typeface="Times New Roman"/>
                <a:sym typeface="Times New Roman"/>
              </a:rPr>
              <a:t>A. Routing</a:t>
            </a: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1400" dirty="0">
                <a:solidFill>
                  <a:schemeClr val="bg2"/>
                </a:solidFill>
                <a:latin typeface="+mj-lt"/>
                <a:ea typeface="Times New Roman"/>
                <a:cs typeface="Times New Roman"/>
                <a:sym typeface="Times New Roman"/>
              </a:rPr>
              <a:t>B. Code reusability</a:t>
            </a: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1400" dirty="0">
                <a:solidFill>
                  <a:schemeClr val="bg2"/>
                </a:solidFill>
                <a:latin typeface="+mj-lt"/>
                <a:ea typeface="Times New Roman"/>
                <a:cs typeface="Times New Roman"/>
                <a:sym typeface="Times New Roman"/>
              </a:rPr>
              <a:t>C. API calls</a:t>
            </a: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1400" dirty="0">
                <a:solidFill>
                  <a:schemeClr val="bg2"/>
                </a:solidFill>
                <a:latin typeface="+mj-lt"/>
                <a:ea typeface="Times New Roman"/>
                <a:cs typeface="Times New Roman"/>
                <a:sym typeface="Times New Roman"/>
              </a:rPr>
              <a:t>D. Styling</a:t>
            </a: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buNone/>
            </a:pPr>
            <a:endParaRPr lang="en-GB" sz="1400" b="1" dirty="0">
              <a:solidFill>
                <a:schemeClr val="bg2"/>
              </a:solidFill>
              <a:latin typeface="+mj-lt"/>
              <a:ea typeface="Times New Roman"/>
              <a:cs typeface="Times New Roman"/>
              <a:sym typeface="Times New Roman"/>
            </a:endParaRP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1400" b="1" dirty="0">
                <a:solidFill>
                  <a:schemeClr val="bg2"/>
                </a:solidFill>
                <a:latin typeface="+mj-lt"/>
                <a:ea typeface="Times New Roman"/>
                <a:cs typeface="Times New Roman"/>
                <a:sym typeface="Times New Roman"/>
              </a:rPr>
              <a:t>Answer: B</a:t>
            </a: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buNone/>
            </a:pPr>
            <a:endParaRPr lang="en-GB" sz="1400" b="1" dirty="0">
              <a:solidFill>
                <a:schemeClr val="bg2"/>
              </a:solidFill>
              <a:latin typeface="+mj-lt"/>
              <a:ea typeface="Times New Roman"/>
              <a:cs typeface="Times New Roman"/>
              <a:sym typeface="Times New Roman"/>
            </a:endParaRP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1400" b="1" dirty="0">
                <a:solidFill>
                  <a:schemeClr val="bg2"/>
                </a:solidFill>
                <a:latin typeface="+mj-lt"/>
                <a:ea typeface="Times New Roman"/>
                <a:cs typeface="Times New Roman"/>
                <a:sym typeface="Times New Roman"/>
              </a:rPr>
              <a:t>2. </a:t>
            </a:r>
            <a:r>
              <a:rPr lang="en-GB" sz="1400" b="1" dirty="0" err="1">
                <a:solidFill>
                  <a:schemeClr val="bg2"/>
                </a:solidFill>
                <a:latin typeface="+mj-lt"/>
                <a:ea typeface="Times New Roman"/>
                <a:cs typeface="Times New Roman"/>
                <a:sym typeface="Times New Roman"/>
              </a:rPr>
              <a:t>WebSockets</a:t>
            </a:r>
            <a:r>
              <a:rPr lang="en-GB" sz="1400" b="1" dirty="0">
                <a:solidFill>
                  <a:schemeClr val="bg2"/>
                </a:solidFill>
                <a:latin typeface="+mj-lt"/>
                <a:ea typeface="Times New Roman"/>
                <a:cs typeface="Times New Roman"/>
                <a:sym typeface="Times New Roman"/>
              </a:rPr>
              <a:t> are best suited for:</a:t>
            </a: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1400" dirty="0">
                <a:solidFill>
                  <a:schemeClr val="bg2"/>
                </a:solidFill>
                <a:latin typeface="+mj-lt"/>
                <a:ea typeface="Times New Roman"/>
                <a:cs typeface="Times New Roman"/>
                <a:sym typeface="Times New Roman"/>
              </a:rPr>
              <a:t>A. Static websites</a:t>
            </a: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1400" dirty="0">
                <a:solidFill>
                  <a:schemeClr val="bg2"/>
                </a:solidFill>
                <a:latin typeface="+mj-lt"/>
                <a:ea typeface="Times New Roman"/>
                <a:cs typeface="Times New Roman"/>
                <a:sym typeface="Times New Roman"/>
              </a:rPr>
              <a:t>B. Real-time communication</a:t>
            </a: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1400" dirty="0">
                <a:solidFill>
                  <a:schemeClr val="bg2"/>
                </a:solidFill>
                <a:latin typeface="+mj-lt"/>
                <a:ea typeface="Times New Roman"/>
                <a:cs typeface="Times New Roman"/>
                <a:sym typeface="Times New Roman"/>
              </a:rPr>
              <a:t>C. File uploads</a:t>
            </a: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1400" dirty="0">
                <a:solidFill>
                  <a:schemeClr val="bg2"/>
                </a:solidFill>
                <a:latin typeface="+mj-lt"/>
                <a:ea typeface="Times New Roman"/>
                <a:cs typeface="Times New Roman"/>
                <a:sym typeface="Times New Roman"/>
              </a:rPr>
              <a:t>D. Database storage</a:t>
            </a: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buNone/>
            </a:pPr>
            <a:endParaRPr lang="en-GB" sz="1400" b="1" dirty="0">
              <a:solidFill>
                <a:schemeClr val="bg2"/>
              </a:solidFill>
              <a:latin typeface="+mj-lt"/>
              <a:ea typeface="Times New Roman"/>
              <a:cs typeface="Times New Roman"/>
              <a:sym typeface="Times New Roman"/>
            </a:endParaRP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1400" b="1" dirty="0">
                <a:solidFill>
                  <a:schemeClr val="bg2"/>
                </a:solidFill>
                <a:latin typeface="+mj-lt"/>
                <a:ea typeface="Times New Roman"/>
                <a:cs typeface="Times New Roman"/>
                <a:sym typeface="Times New Roman"/>
              </a:rPr>
              <a:t>Answer: B</a:t>
            </a:r>
            <a:endParaRPr sz="1400" b="1" i="0" u="none" dirty="0">
              <a:solidFill>
                <a:schemeClr val="bg2"/>
              </a:solidFill>
              <a:latin typeface="+mj-lt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30270363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E23510B7-C3A2-E27A-3736-0F10336312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78445F02-A161-533C-83C3-5BC21C2F7F4B}"/>
              </a:ext>
            </a:extLst>
          </p:cNvPr>
          <p:cNvGrpSpPr/>
          <p:nvPr/>
        </p:nvGrpSpPr>
        <p:grpSpPr>
          <a:xfrm>
            <a:off x="748144" y="218172"/>
            <a:ext cx="8277101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20A44487-169C-8822-4CE0-BBB62C89DEBF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67D92D25-44E7-E9BB-697B-B5F6A519F27B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R</a:t>
              </a: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eferences/ Articles/ Videos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95329CA0-B433-F78D-DDAC-218F49813D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E730872A-040D-2549-AF98-86A7A4840E43}"/>
              </a:ext>
            </a:extLst>
          </p:cNvPr>
          <p:cNvSpPr txBox="1"/>
          <p:nvPr/>
        </p:nvSpPr>
        <p:spPr>
          <a:xfrm>
            <a:off x="608525" y="1232942"/>
            <a:ext cx="7606207" cy="2893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GB" dirty="0"/>
              <a:t>• React Official Documentation – Composition</a:t>
            </a:r>
            <a:br>
              <a:rPr lang="en-GB" dirty="0"/>
            </a:br>
            <a:r>
              <a:rPr lang="en-GB" dirty="0">
                <a:hlinkClick r:id="rId3"/>
              </a:rPr>
              <a:t>https://react.dev</a:t>
            </a:r>
            <a:endParaRPr lang="en-GB" dirty="0"/>
          </a:p>
          <a:p>
            <a:endParaRPr lang="en-GB" dirty="0"/>
          </a:p>
          <a:p>
            <a:r>
              <a:rPr lang="en-GB" dirty="0"/>
              <a:t>• MDN Web Docs – </a:t>
            </a:r>
            <a:r>
              <a:rPr lang="en-GB" dirty="0" err="1"/>
              <a:t>WebSockets</a:t>
            </a:r>
            <a:br>
              <a:rPr lang="en-GB" dirty="0"/>
            </a:br>
            <a:r>
              <a:rPr lang="en-GB" dirty="0">
                <a:hlinkClick r:id="rId4"/>
              </a:rPr>
              <a:t>https://developer.mozilla.org/en-US/docs/Web/API/WebSockets_API</a:t>
            </a:r>
            <a:endParaRPr lang="en-GB" dirty="0"/>
          </a:p>
          <a:p>
            <a:endParaRPr lang="en-GB" dirty="0"/>
          </a:p>
          <a:p>
            <a:r>
              <a:rPr lang="en-GB" dirty="0"/>
              <a:t>• WebSocket Protocol Overview</a:t>
            </a:r>
          </a:p>
          <a:p>
            <a:r>
              <a:rPr lang="en-GB" dirty="0">
                <a:hlinkClick r:id="rId5"/>
              </a:rPr>
              <a:t>https://www.websocket.org</a:t>
            </a:r>
            <a:endParaRPr lang="en-GB" dirty="0"/>
          </a:p>
          <a:p>
            <a:endParaRPr lang="en-GB" dirty="0"/>
          </a:p>
          <a:p>
            <a:r>
              <a:rPr lang="en-GB" dirty="0"/>
              <a:t>• W3Schools – </a:t>
            </a:r>
            <a:r>
              <a:rPr lang="en-GB" dirty="0" err="1"/>
              <a:t>WebSockets</a:t>
            </a:r>
            <a:br>
              <a:rPr lang="en-GB" dirty="0"/>
            </a:br>
            <a:r>
              <a:rPr lang="en-GB" dirty="0">
                <a:hlinkClick r:id="rId6"/>
              </a:rPr>
              <a:t>https://www.w3schools.com/html/html5_websockets.asp</a:t>
            </a:r>
            <a:endParaRPr lang="en-GB" dirty="0"/>
          </a:p>
          <a:p>
            <a:endParaRPr lang="en-GB" dirty="0"/>
          </a:p>
          <a:p>
            <a:endParaRPr lang="en-IN" dirty="0"/>
          </a:p>
        </p:txBody>
      </p:sp>
      <p:sp>
        <p:nvSpPr>
          <p:cNvPr id="7" name="TextBox 6"/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2947860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8A55AB18-D4CA-00FD-9048-6518AF6BF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F1900A86-A15B-28B5-54CA-49F17AC3B9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11F095B4-BE95-F6C7-73C0-ED3F8AB0372C}"/>
              </a:ext>
            </a:extLst>
          </p:cNvPr>
          <p:cNvSpPr txBox="1"/>
          <p:nvPr/>
        </p:nvSpPr>
        <p:spPr>
          <a:xfrm>
            <a:off x="385500" y="2170166"/>
            <a:ext cx="8471559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1" u="none" strike="noStrike" cap="none" dirty="0">
                <a:solidFill>
                  <a:srgbClr val="FF0000"/>
                </a:solidFill>
                <a:latin typeface="Vladimir Script" panose="03050402040407070305" pitchFamily="66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Thank You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2A2976-DC1D-EB73-7C31-7FA517DF4948}"/>
              </a:ext>
            </a:extLst>
          </p:cNvPr>
          <p:cNvSpPr txBox="1"/>
          <p:nvPr/>
        </p:nvSpPr>
        <p:spPr>
          <a:xfrm>
            <a:off x="385500" y="3948192"/>
            <a:ext cx="457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queries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Email: tushar.e18319@cumail.in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786127203"/>
      </p:ext>
    </p:extLst>
  </p:cSld>
  <p:clrMapOvr>
    <a:masterClrMapping/>
  </p:clrMapOvr>
</p:sld>
</file>

<file path=ppt/theme/theme1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3146</TotalTime>
  <Words>839</Words>
  <Application>Microsoft Office PowerPoint</Application>
  <PresentationFormat>On-screen Show (16:9)</PresentationFormat>
  <Paragraphs>168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6" baseType="lpstr">
      <vt:lpstr>Arial Black</vt:lpstr>
      <vt:lpstr>Calibri</vt:lpstr>
      <vt:lpstr>Arial</vt:lpstr>
      <vt:lpstr>Lato</vt:lpstr>
      <vt:lpstr>Wingdings</vt:lpstr>
      <vt:lpstr>Vladimir Script</vt:lpstr>
      <vt:lpstr>Times New Roman</vt:lpstr>
      <vt:lpstr>Cambria</vt:lpstr>
      <vt:lpstr>Streamline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Tushar Sood</dc:creator>
  <cp:lastModifiedBy>Pankaj</cp:lastModifiedBy>
  <cp:revision>91</cp:revision>
  <dcterms:modified xsi:type="dcterms:W3CDTF">2025-12-14T14:04:51Z</dcterms:modified>
</cp:coreProperties>
</file>