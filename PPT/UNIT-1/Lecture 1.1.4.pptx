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2"/>
  </p:notesMasterIdLst>
  <p:sldIdLst>
    <p:sldId id="256" r:id="rId2"/>
    <p:sldId id="283" r:id="rId3"/>
    <p:sldId id="306" r:id="rId4"/>
    <p:sldId id="285" r:id="rId5"/>
    <p:sldId id="309" r:id="rId6"/>
    <p:sldId id="312" r:id="rId7"/>
    <p:sldId id="339" r:id="rId8"/>
    <p:sldId id="313" r:id="rId9"/>
    <p:sldId id="331" r:id="rId10"/>
    <p:sldId id="338" r:id="rId11"/>
    <p:sldId id="332" r:id="rId12"/>
    <p:sldId id="333" r:id="rId13"/>
    <p:sldId id="334" r:id="rId14"/>
    <p:sldId id="335" r:id="rId15"/>
    <p:sldId id="336" r:id="rId16"/>
    <p:sldId id="337" r:id="rId17"/>
    <p:sldId id="340" r:id="rId18"/>
    <p:sldId id="288" r:id="rId19"/>
    <p:sldId id="300" r:id="rId20"/>
    <p:sldId id="305" r:id="rId21"/>
  </p:sldIdLst>
  <p:sldSz cx="9144000" cy="5143500" type="screen16x9"/>
  <p:notesSz cx="6858000" cy="9144000"/>
  <p:embeddedFontLst>
    <p:embeddedFont>
      <p:font typeface="Arial Black" panose="020B0A04020102020204" pitchFamily="34" charset="0"/>
      <p:bold r:id="rId23"/>
    </p:embeddedFont>
    <p:embeddedFont>
      <p:font typeface="Cambria" panose="02040503050406030204" pitchFamily="18"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Vladimir Script" panose="03050402040407070305" pitchFamily="66"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6"/>
  </p:normalViewPr>
  <p:slideViewPr>
    <p:cSldViewPr snapToGrid="0">
      <p:cViewPr varScale="1">
        <p:scale>
          <a:sx n="103" d="100"/>
          <a:sy n="103" d="100"/>
        </p:scale>
        <p:origin x="811" y="91"/>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4596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AE2F180-9A0B-4C89-E2A4-C820E350D8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B0DF4C-0C0C-F327-13CB-D147B8854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3BD526-06AE-0DCC-FB9B-29E2E50FD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429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4E6E191-7A3F-DDE5-9BE0-7C2318399A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214E21D-CF7D-5069-DDED-FD92C19088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916B821-9BB8-4C7C-D798-8C8AC1714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6675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93D42F-A578-35C8-4DE2-AFBF6F7B549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5B0AE6F-9BF3-05DC-A9E3-C4AEA6BC74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C5276FB-61A1-1D7F-1C2B-F453FE277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1021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CF2FD77-3A12-327B-1017-A052503EB14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8A161CE-9003-05C7-BC6A-E295E288E9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D74D3CF-3163-F842-692B-5F05C0C1F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00789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A40620E-3089-5F8D-090A-DB7E941B522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3026ADA-F4BD-437C-FBCE-91ADC10560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74D4E52-C230-743D-BB4C-629D38BE18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53426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F2EAF43-0C35-C400-0344-3B8A96A4B52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6AF32E5-F98E-803F-46B8-3280593DB7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E15BFB9-CC2F-AB67-25B2-F78994C09E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82965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F2311CB-9124-7406-D62A-482D0EDA41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312CE9C-6D7C-E136-7A57-0B80110FBB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E1A4379-ABDF-8790-A2FD-CD53EEA98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59575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2FB2EF6-F1D7-957A-6C71-777D7B3675D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591C234-8E88-3C19-C560-1B987DDF1A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9EC9A32-A619-030A-C7F5-6D4C04189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99464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972A8C1-4C75-F39C-F400-A20161F2FF4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EED3C96-130B-244C-5E9B-499ACAE494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C90747C-F4D4-6666-14F3-D743AC7DED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40141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6DAA5FC-9AC5-A424-7F7A-3F2ECBB4B70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7629C53-2DD9-79F0-A806-110197D39F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47C0093-047F-CC0C-D63A-899E53E9BC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77825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4963ED3-C8E0-20E9-8258-D4135EBEFE7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95CA72-7B27-3900-CA5D-36A6F8A101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A45E7E-0D78-6E70-A79A-F39E8140C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90770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ABBDB4-5F2D-23C8-F3AF-340E1E0CC5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2BE700-45E2-21A3-DCD5-7800A32343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E5ADFF3-C8F4-7A6D-26DF-A57A6DE05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5491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D5BC3CF-33E1-F01F-3243-040A775979F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F9F8438-3AF8-985D-502F-55D029F386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0ECB1F3-8D78-B34B-454E-A82BA8285A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92676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33C0E5D-A2AD-2620-178B-3A8EE0308F0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43521B3-812A-BDBD-BE28-982620618D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A81E9F1-160F-4D5F-56A3-69FAAE930F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125640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93993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26200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reactrouter.com/"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eveloper.mozilla.org/en-US/docs/Glossary/SPA" TargetMode="External"/><Relationship Id="rId5" Type="http://schemas.openxmlformats.org/officeDocument/2006/relationships/hyperlink" Target="https://www.w3schools.com/react/react_router.asp" TargetMode="External"/><Relationship Id="rId4" Type="http://schemas.openxmlformats.org/officeDocument/2006/relationships/hyperlink" Target="https://react.dev/"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751231"/>
            <a:ext cx="8213400" cy="434166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a:t>
            </a:r>
            <a:r>
              <a:rPr lang="en-US" sz="36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Of Computer Science &amp;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Bachelor of Computer Science </a:t>
            </a:r>
            <a:r>
              <a:rPr lang="en-US"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6th </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a:t>
            </a:r>
            <a:endParaRPr lang="en-US" baseline="30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b="1" dirty="0"/>
              <a:t>Full Stack Development – II</a:t>
            </a:r>
          </a:p>
          <a:p>
            <a:pPr lvl="0" algn="ctr">
              <a:lnSpc>
                <a:spcPct val="90000"/>
              </a:lnSpc>
              <a:spcBef>
                <a:spcPts val="980"/>
              </a:spcBef>
              <a:buClr>
                <a:schemeClr val="dk1"/>
              </a:buClr>
              <a:buSzPts val="2800"/>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r>
              <a:rPr lang="en-GB" sz="2400" dirty="0">
                <a:solidFill>
                  <a:schemeClr val="bg2"/>
                </a:solidFill>
                <a:latin typeface="Calibri" panose="020F0502020204030204" pitchFamily="34" charset="0"/>
                <a:ea typeface="Calibri" panose="020F0502020204030204" pitchFamily="34" charset="0"/>
                <a:cs typeface="Calibri" panose="020F0502020204030204" pitchFamily="34" charset="0"/>
              </a:rPr>
              <a:t>23CSH-309/23ITH-309</a:t>
            </a:r>
            <a:r>
              <a:rPr lang="en-GB"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endParaRPr lang="en-GB"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GB" sz="1800" b="1" dirty="0">
                <a:latin typeface="Calibri" panose="020F0502020204030204" pitchFamily="34" charset="0"/>
                <a:ea typeface="Calibri" panose="020F0502020204030204" pitchFamily="34" charset="0"/>
                <a:cs typeface="Calibri" panose="020F0502020204030204" pitchFamily="34" charset="0"/>
              </a:rPr>
              <a:t>Unit No. 1                     Chapter No. 1                    Lecture No.4</a:t>
            </a:r>
          </a:p>
          <a:p>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b="1" dirty="0"/>
              <a:t>Routing: Client-side routing with React Router, Dynamic Routes, Nested Routes, and Layout components.</a:t>
            </a:r>
            <a:endParaRPr lang="en-IN" b="1" dirty="0"/>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Er. Tushar Sood (E18319)                                                       Technical Trainer(CSE)</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2026-27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13" name="Rectangle 10">
            <a:extLst>
              <a:ext uri="{FF2B5EF4-FFF2-40B4-BE49-F238E27FC236}">
                <a16:creationId xmlns:a16="http://schemas.microsoft.com/office/drawing/2014/main" id="{FDFB5912-E799-63B5-2CF1-182A365BA276}"/>
              </a:ext>
            </a:extLst>
          </p:cNvPr>
          <p:cNvSpPr>
            <a:spLocks noGrp="1" noChangeArrowheads="1"/>
          </p:cNvSpPr>
          <p:nvPr>
            <p:ph type="body" idx="1"/>
          </p:nvPr>
        </p:nvSpPr>
        <p:spPr bwMode="auto">
          <a:xfrm>
            <a:off x="104078" y="1433075"/>
            <a:ext cx="903992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Understanding client-side routing in React</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Explaining the role of React Router</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Implementing the dynamic routes</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Understanding the nested routes</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Using layout components for consistent UI structure</a:t>
            </a:r>
            <a:endParaRPr kumimoji="0" lang="en-US" altLang="en-US" sz="1800" i="0" u="none" strike="noStrike" cap="none" normalizeH="0" baseline="0" dirty="0">
              <a:ln>
                <a:noFill/>
              </a:ln>
              <a:solidFill>
                <a:schemeClr val="bg2"/>
              </a:solidFill>
              <a:effectLst/>
              <a:latin typeface="+mj-lt"/>
            </a:endParaRP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748144" y="218172"/>
            <a:ext cx="8277101" cy="571932"/>
            <a:chOff x="0" y="6299"/>
            <a:chExt cx="5580934" cy="571932"/>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0" y="177039"/>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GB" sz="4000" b="1" dirty="0"/>
                <a:t>Introduction to Routing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3" name="Google Shape;113;p2">
            <a:extLst>
              <a:ext uri="{FF2B5EF4-FFF2-40B4-BE49-F238E27FC236}">
                <a16:creationId xmlns:a16="http://schemas.microsoft.com/office/drawing/2014/main" id="{BC685EF9-A30D-D2E6-4A85-FB96E46BDA9B}"/>
              </a:ext>
            </a:extLst>
          </p:cNvPr>
          <p:cNvSpPr txBox="1"/>
          <p:nvPr/>
        </p:nvSpPr>
        <p:spPr>
          <a:xfrm>
            <a:off x="333551" y="1262827"/>
            <a:ext cx="8810449" cy="1938952"/>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Wingdings" panose="05000000000000000000" pitchFamily="2" charset="2"/>
              <a:buChar char="Ø"/>
            </a:pPr>
            <a:r>
              <a:rPr lang="en-GB" sz="1600" dirty="0"/>
              <a:t>Routing in React enables navigation between different views or pages without reloading the entire web page.</a:t>
            </a:r>
          </a:p>
          <a:p>
            <a:pPr marL="285750" indent="-285750">
              <a:lnSpc>
                <a:spcPct val="150000"/>
              </a:lnSpc>
              <a:buFont typeface="Wingdings" panose="05000000000000000000" pitchFamily="2" charset="2"/>
              <a:buChar char="Ø"/>
            </a:pPr>
            <a:r>
              <a:rPr lang="en-GB" sz="1600" dirty="0"/>
              <a:t>React uses client-side routing, which improves performance and provides a smooth user experience similar to single-page applications (SPAs).</a:t>
            </a:r>
          </a:p>
          <a:p>
            <a:pPr marL="285750" indent="-285750">
              <a:lnSpc>
                <a:spcPct val="150000"/>
              </a:lnSpc>
              <a:buFont typeface="Wingdings" panose="05000000000000000000" pitchFamily="2" charset="2"/>
              <a:buChar char="Ø"/>
            </a:pPr>
            <a:r>
              <a:rPr lang="en-GB" sz="1600" dirty="0"/>
              <a:t>React Router is the most popular library used to implement routing in React applications.</a:t>
            </a:r>
          </a:p>
        </p:txBody>
      </p:sp>
      <p:sp>
        <p:nvSpPr>
          <p:cNvPr id="8" name="TextBox 7"/>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2691230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8FA9E54-824C-3174-92D1-1FD55557D5B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A721AF1-4121-990B-D3BC-3A69461EE53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A2839E68-8CC4-454C-1CA9-8CC8B94AE13A}"/>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EB27271-7D91-E3E7-B4A8-A483F805DA4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t>What is Client-Side Routing?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A9B100B-BAD8-99A1-3211-6CBBD09F1115}"/>
              </a:ext>
            </a:extLst>
          </p:cNvPr>
          <p:cNvSpPr txBox="1">
            <a:spLocks noGrp="1"/>
          </p:cNvSpPr>
          <p:nvPr>
            <p:ph type="body" idx="1"/>
          </p:nvPr>
        </p:nvSpPr>
        <p:spPr>
          <a:xfrm>
            <a:off x="400368" y="1114349"/>
            <a:ext cx="8001000" cy="3531991"/>
          </a:xfrm>
          <a:prstGeom prst="rect">
            <a:avLst/>
          </a:prstGeom>
          <a:noFill/>
          <a:ln>
            <a:noFill/>
          </a:ln>
        </p:spPr>
        <p:txBody>
          <a:bodyPr spcFirstLastPara="1" wrap="square" lIns="91425" tIns="45700" rIns="91425" bIns="45700" anchor="t" anchorCtr="0">
            <a:noAutofit/>
          </a:bodyPr>
          <a:lstStyle/>
          <a:p>
            <a:pPr marL="285750" indent="-285750" algn="just">
              <a:lnSpc>
                <a:spcPct val="100000"/>
              </a:lnSpc>
              <a:spcBef>
                <a:spcPts val="0"/>
              </a:spcBef>
              <a:buClr>
                <a:schemeClr val="bg2"/>
              </a:buClr>
              <a:buFont typeface="Wingdings" panose="05000000000000000000" pitchFamily="2" charset="2"/>
              <a:buChar char="Ø"/>
            </a:pPr>
            <a:r>
              <a:rPr lang="en-GB" sz="1600" dirty="0">
                <a:solidFill>
                  <a:schemeClr val="bg2"/>
                </a:solidFill>
                <a:latin typeface="+mj-lt"/>
                <a:ea typeface="Times New Roman"/>
                <a:cs typeface="Times New Roman"/>
                <a:sym typeface="Times New Roman"/>
              </a:rPr>
              <a:t>Client-side routing is a technique where navigation between pages is handled within the browser without making a request to the server for each page change.</a:t>
            </a:r>
          </a:p>
          <a:p>
            <a:pPr marL="0" indent="0" algn="just">
              <a:lnSpc>
                <a:spcPct val="100000"/>
              </a:lnSpc>
              <a:spcBef>
                <a:spcPts val="0"/>
              </a:spcBef>
              <a:buClr>
                <a:schemeClr val="bg2"/>
              </a:buClr>
              <a:buNone/>
            </a:pPr>
            <a:endParaRPr lang="en-GB" sz="1600" dirty="0">
              <a:solidFill>
                <a:schemeClr val="bg2"/>
              </a:solidFill>
              <a:latin typeface="+mj-lt"/>
              <a:ea typeface="Times New Roman"/>
              <a:cs typeface="Times New Roman"/>
              <a:sym typeface="Times New Roman"/>
            </a:endParaRPr>
          </a:p>
          <a:p>
            <a:pPr marL="285750" indent="-285750" algn="just">
              <a:lnSpc>
                <a:spcPct val="100000"/>
              </a:lnSpc>
              <a:spcBef>
                <a:spcPts val="0"/>
              </a:spcBef>
              <a:buClr>
                <a:schemeClr val="bg2"/>
              </a:buClr>
              <a:buFont typeface="Wingdings" panose="05000000000000000000" pitchFamily="2" charset="2"/>
              <a:buChar char="Ø"/>
            </a:pPr>
            <a:r>
              <a:rPr lang="en-GB" sz="1600" dirty="0">
                <a:solidFill>
                  <a:schemeClr val="bg2"/>
                </a:solidFill>
                <a:latin typeface="+mj-lt"/>
                <a:ea typeface="Times New Roman"/>
                <a:cs typeface="Times New Roman"/>
                <a:sym typeface="Times New Roman"/>
              </a:rPr>
              <a:t>Instead of loading a new HTML page, React dynamically updates the UI by rendering different components based on the URL.</a:t>
            </a:r>
          </a:p>
          <a:p>
            <a:pPr marL="0" indent="0" algn="just">
              <a:lnSpc>
                <a:spcPct val="100000"/>
              </a:lnSpc>
              <a:spcBef>
                <a:spcPts val="0"/>
              </a:spcBef>
              <a:buClr>
                <a:schemeClr val="bg2"/>
              </a:buClr>
              <a:buNone/>
            </a:pPr>
            <a:endParaRPr lang="en-GB" sz="1600" dirty="0">
              <a:solidFill>
                <a:schemeClr val="bg2"/>
              </a:solidFill>
              <a:latin typeface="+mj-lt"/>
              <a:ea typeface="Times New Roman"/>
              <a:cs typeface="Times New Roman"/>
              <a:sym typeface="Times New Roman"/>
            </a:endParaRPr>
          </a:p>
          <a:p>
            <a:pPr marL="285750" indent="-285750" algn="just">
              <a:lnSpc>
                <a:spcPct val="100000"/>
              </a:lnSpc>
              <a:spcBef>
                <a:spcPts val="0"/>
              </a:spcBef>
              <a:buClr>
                <a:schemeClr val="bg2"/>
              </a:buClr>
              <a:buFont typeface="Wingdings" panose="05000000000000000000" pitchFamily="2" charset="2"/>
              <a:buChar char="Ø"/>
            </a:pPr>
            <a:r>
              <a:rPr lang="en-GB" sz="1600" dirty="0">
                <a:solidFill>
                  <a:schemeClr val="bg2"/>
                </a:solidFill>
                <a:latin typeface="+mj-lt"/>
                <a:ea typeface="Times New Roman"/>
                <a:cs typeface="Times New Roman"/>
                <a:sym typeface="Times New Roman"/>
              </a:rPr>
              <a:t>This approach results in faster navigation, reduced server load, and a better user experience.</a:t>
            </a:r>
          </a:p>
          <a:p>
            <a:pPr marL="0" indent="0" algn="just">
              <a:lnSpc>
                <a:spcPct val="100000"/>
              </a:lnSpc>
              <a:spcBef>
                <a:spcPts val="0"/>
              </a:spcBef>
              <a:buClr>
                <a:schemeClr val="bg2"/>
              </a:buClr>
              <a:buNone/>
            </a:pPr>
            <a:endParaRPr lang="en-GB" sz="1600" dirty="0">
              <a:solidFill>
                <a:schemeClr val="bg2"/>
              </a:solidFill>
              <a:latin typeface="+mj-lt"/>
              <a:ea typeface="Times New Roman"/>
              <a:cs typeface="Times New Roman"/>
              <a:sym typeface="Times New Roman"/>
            </a:endParaRPr>
          </a:p>
          <a:p>
            <a:pPr marL="285750" indent="-285750" algn="just">
              <a:lnSpc>
                <a:spcPct val="100000"/>
              </a:lnSpc>
              <a:spcBef>
                <a:spcPts val="0"/>
              </a:spcBef>
              <a:buClr>
                <a:schemeClr val="bg2"/>
              </a:buClr>
              <a:buFont typeface="Wingdings" panose="05000000000000000000" pitchFamily="2" charset="2"/>
              <a:buChar char="Ø"/>
            </a:pPr>
            <a:r>
              <a:rPr lang="en-GB" sz="1600" dirty="0">
                <a:solidFill>
                  <a:schemeClr val="bg2"/>
                </a:solidFill>
                <a:latin typeface="+mj-lt"/>
                <a:ea typeface="Times New Roman"/>
                <a:cs typeface="Times New Roman"/>
                <a:sym typeface="Times New Roman"/>
              </a:rPr>
              <a:t>In applications employing client-side routing, the server initially provides a single HTML file, irrespective of the URL path. This “shell” is then enriched and manipulated by JavaScript running in the browser. Subsequent navigation between different parts of the app does not send new requests to the server but rather modifies the displayed content based on the loaded JavaScript and data.</a:t>
            </a:r>
            <a:endParaRPr sz="1600" i="0" u="none" strike="noStrike" cap="none" dirty="0">
              <a:solidFill>
                <a:schemeClr val="bg2"/>
              </a:solidFill>
              <a:latin typeface="+mj-lt"/>
              <a:ea typeface="Times New Roman"/>
              <a:cs typeface="Times New Roman"/>
              <a:sym typeface="Times New Roman"/>
            </a:endParaRPr>
          </a:p>
        </p:txBody>
      </p:sp>
      <p:sp>
        <p:nvSpPr>
          <p:cNvPr id="10" name="TextBox 9"/>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1211972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178EC9D-3AF2-FF46-AE40-8AADB0C035F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4FFF226-09D2-BD23-5ADA-FDF121AE7076}"/>
              </a:ext>
            </a:extLst>
          </p:cNvPr>
          <p:cNvGrpSpPr/>
          <p:nvPr/>
        </p:nvGrpSpPr>
        <p:grpSpPr>
          <a:xfrm>
            <a:off x="751718" y="393764"/>
            <a:ext cx="8241475" cy="444600"/>
            <a:chOff x="0" y="6299"/>
            <a:chExt cx="5580934" cy="444600"/>
          </a:xfrm>
          <a:noFill/>
        </p:grpSpPr>
        <p:sp>
          <p:nvSpPr>
            <p:cNvPr id="109" name="Google Shape;109;p2">
              <a:extLst>
                <a:ext uri="{FF2B5EF4-FFF2-40B4-BE49-F238E27FC236}">
                  <a16:creationId xmlns:a16="http://schemas.microsoft.com/office/drawing/2014/main" id="{BDBFAAD7-33FB-3AC6-1B1A-504C8E53D5E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945FE62-323F-F949-9208-8982D26D5CB9}"/>
                </a:ext>
              </a:extLst>
            </p:cNvPr>
            <p:cNvSpPr txBox="1"/>
            <p:nvPr/>
          </p:nvSpPr>
          <p:spPr>
            <a:xfrm>
              <a:off x="0"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Server-Side Routing V/S Client-Side Routing</a:t>
              </a:r>
            </a:p>
          </p:txBody>
        </p:sp>
      </p:grpSp>
      <p:sp>
        <p:nvSpPr>
          <p:cNvPr id="111" name="Google Shape;111;p2">
            <a:extLst>
              <a:ext uri="{FF2B5EF4-FFF2-40B4-BE49-F238E27FC236}">
                <a16:creationId xmlns:a16="http://schemas.microsoft.com/office/drawing/2014/main" id="{AA2D43A7-B4AC-7396-B002-904551AF782D}"/>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DE159C79-7AC0-4E46-EB54-6E995667A62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grpSp>
        <p:nvGrpSpPr>
          <p:cNvPr id="17" name="Google Shape;108;p2">
            <a:extLst>
              <a:ext uri="{FF2B5EF4-FFF2-40B4-BE49-F238E27FC236}">
                <a16:creationId xmlns:a16="http://schemas.microsoft.com/office/drawing/2014/main" id="{D964EB89-B350-5658-4193-6D077B5D19AD}"/>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96E4E321-561E-07CE-DCD2-94E9FE5C81A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706259B5-2280-84B6-86A6-C84A7685C9DE}"/>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2" name="Table 1">
            <a:extLst>
              <a:ext uri="{FF2B5EF4-FFF2-40B4-BE49-F238E27FC236}">
                <a16:creationId xmlns:a16="http://schemas.microsoft.com/office/drawing/2014/main" id="{991E8B28-EBFE-0125-6798-F6E180C2CEA4}"/>
              </a:ext>
            </a:extLst>
          </p:cNvPr>
          <p:cNvGraphicFramePr>
            <a:graphicFrameLocks noGrp="1"/>
          </p:cNvGraphicFramePr>
          <p:nvPr>
            <p:extLst>
              <p:ext uri="{D42A27DB-BD31-4B8C-83A1-F6EECF244321}">
                <p14:modId xmlns:p14="http://schemas.microsoft.com/office/powerpoint/2010/main" val="2323698092"/>
              </p:ext>
            </p:extLst>
          </p:nvPr>
        </p:nvGraphicFramePr>
        <p:xfrm>
          <a:off x="311150" y="1809749"/>
          <a:ext cx="8521700" cy="1989100"/>
        </p:xfrm>
        <a:graphic>
          <a:graphicData uri="http://schemas.openxmlformats.org/drawingml/2006/table">
            <a:tbl>
              <a:tblPr>
                <a:tableStyleId>{3C2FFA5D-87B4-456A-9821-1D502468CF0F}</a:tableStyleId>
              </a:tblPr>
              <a:tblGrid>
                <a:gridCol w="4260850">
                  <a:extLst>
                    <a:ext uri="{9D8B030D-6E8A-4147-A177-3AD203B41FA5}">
                      <a16:colId xmlns:a16="http://schemas.microsoft.com/office/drawing/2014/main" val="3841936176"/>
                    </a:ext>
                  </a:extLst>
                </a:gridCol>
                <a:gridCol w="4260850">
                  <a:extLst>
                    <a:ext uri="{9D8B030D-6E8A-4147-A177-3AD203B41FA5}">
                      <a16:colId xmlns:a16="http://schemas.microsoft.com/office/drawing/2014/main" val="630661871"/>
                    </a:ext>
                  </a:extLst>
                </a:gridCol>
              </a:tblGrid>
              <a:tr h="397820">
                <a:tc>
                  <a:txBody>
                    <a:bodyPr/>
                    <a:lstStyle/>
                    <a:p>
                      <a:pPr>
                        <a:buNone/>
                      </a:pPr>
                      <a:r>
                        <a:rPr lang="en-IN" b="1">
                          <a:solidFill>
                            <a:schemeClr val="bg2"/>
                          </a:solidFill>
                        </a:rPr>
                        <a:t>Server-Side Routing</a:t>
                      </a:r>
                    </a:p>
                  </a:txBody>
                  <a:tcPr anchor="ctr">
                    <a:solidFill>
                      <a:schemeClr val="bg2">
                        <a:lumMod val="50000"/>
                        <a:lumOff val="50000"/>
                      </a:schemeClr>
                    </a:solidFill>
                  </a:tcPr>
                </a:tc>
                <a:tc>
                  <a:txBody>
                    <a:bodyPr/>
                    <a:lstStyle/>
                    <a:p>
                      <a:pPr>
                        <a:buNone/>
                      </a:pPr>
                      <a:r>
                        <a:rPr lang="en-IN" b="1" dirty="0">
                          <a:solidFill>
                            <a:schemeClr val="bg2"/>
                          </a:solidFill>
                        </a:rPr>
                        <a:t>Client-Side Routing</a:t>
                      </a:r>
                    </a:p>
                  </a:txBody>
                  <a:tcPr anchor="ctr">
                    <a:solidFill>
                      <a:schemeClr val="bg2">
                        <a:lumMod val="50000"/>
                        <a:lumOff val="50000"/>
                      </a:schemeClr>
                    </a:solidFill>
                  </a:tcPr>
                </a:tc>
                <a:extLst>
                  <a:ext uri="{0D108BD9-81ED-4DB2-BD59-A6C34878D82A}">
                    <a16:rowId xmlns:a16="http://schemas.microsoft.com/office/drawing/2014/main" val="3647018465"/>
                  </a:ext>
                </a:extLst>
              </a:tr>
              <a:tr h="397820">
                <a:tc>
                  <a:txBody>
                    <a:bodyPr/>
                    <a:lstStyle/>
                    <a:p>
                      <a:pPr>
                        <a:buNone/>
                      </a:pPr>
                      <a:r>
                        <a:rPr lang="en-IN">
                          <a:solidFill>
                            <a:schemeClr val="bg2"/>
                          </a:solidFill>
                        </a:rPr>
                        <a:t>Page reloads on navigation</a:t>
                      </a:r>
                    </a:p>
                  </a:txBody>
                  <a:tcPr anchor="ctr"/>
                </a:tc>
                <a:tc>
                  <a:txBody>
                    <a:bodyPr/>
                    <a:lstStyle/>
                    <a:p>
                      <a:pPr>
                        <a:buNone/>
                      </a:pPr>
                      <a:r>
                        <a:rPr lang="en-IN">
                          <a:solidFill>
                            <a:schemeClr val="bg2"/>
                          </a:solidFill>
                        </a:rPr>
                        <a:t>No page reload</a:t>
                      </a:r>
                    </a:p>
                  </a:txBody>
                  <a:tcPr anchor="ctr"/>
                </a:tc>
                <a:extLst>
                  <a:ext uri="{0D108BD9-81ED-4DB2-BD59-A6C34878D82A}">
                    <a16:rowId xmlns:a16="http://schemas.microsoft.com/office/drawing/2014/main" val="3690948948"/>
                  </a:ext>
                </a:extLst>
              </a:tr>
              <a:tr h="397820">
                <a:tc>
                  <a:txBody>
                    <a:bodyPr/>
                    <a:lstStyle/>
                    <a:p>
                      <a:pPr>
                        <a:buNone/>
                      </a:pPr>
                      <a:r>
                        <a:rPr lang="en-IN">
                          <a:solidFill>
                            <a:schemeClr val="bg2"/>
                          </a:solidFill>
                        </a:rPr>
                        <a:t>Slower performance</a:t>
                      </a:r>
                    </a:p>
                  </a:txBody>
                  <a:tcPr anchor="ctr"/>
                </a:tc>
                <a:tc>
                  <a:txBody>
                    <a:bodyPr/>
                    <a:lstStyle/>
                    <a:p>
                      <a:pPr>
                        <a:buNone/>
                      </a:pPr>
                      <a:r>
                        <a:rPr lang="en-IN">
                          <a:solidFill>
                            <a:schemeClr val="bg2"/>
                          </a:solidFill>
                        </a:rPr>
                        <a:t>Faster navigation</a:t>
                      </a:r>
                    </a:p>
                  </a:txBody>
                  <a:tcPr anchor="ctr"/>
                </a:tc>
                <a:extLst>
                  <a:ext uri="{0D108BD9-81ED-4DB2-BD59-A6C34878D82A}">
                    <a16:rowId xmlns:a16="http://schemas.microsoft.com/office/drawing/2014/main" val="2199761017"/>
                  </a:ext>
                </a:extLst>
              </a:tr>
              <a:tr h="397820">
                <a:tc>
                  <a:txBody>
                    <a:bodyPr/>
                    <a:lstStyle/>
                    <a:p>
                      <a:pPr>
                        <a:buNone/>
                      </a:pPr>
                      <a:r>
                        <a:rPr lang="en-IN">
                          <a:solidFill>
                            <a:schemeClr val="bg2"/>
                          </a:solidFill>
                        </a:rPr>
                        <a:t>Server handles routing</a:t>
                      </a:r>
                    </a:p>
                  </a:txBody>
                  <a:tcPr anchor="ctr"/>
                </a:tc>
                <a:tc>
                  <a:txBody>
                    <a:bodyPr/>
                    <a:lstStyle/>
                    <a:p>
                      <a:pPr>
                        <a:buNone/>
                      </a:pPr>
                      <a:r>
                        <a:rPr lang="en-IN">
                          <a:solidFill>
                            <a:schemeClr val="bg2"/>
                          </a:solidFill>
                        </a:rPr>
                        <a:t>Browser handles routing</a:t>
                      </a:r>
                    </a:p>
                  </a:txBody>
                  <a:tcPr anchor="ctr"/>
                </a:tc>
                <a:extLst>
                  <a:ext uri="{0D108BD9-81ED-4DB2-BD59-A6C34878D82A}">
                    <a16:rowId xmlns:a16="http://schemas.microsoft.com/office/drawing/2014/main" val="749028934"/>
                  </a:ext>
                </a:extLst>
              </a:tr>
              <a:tr h="397820">
                <a:tc>
                  <a:txBody>
                    <a:bodyPr/>
                    <a:lstStyle/>
                    <a:p>
                      <a:pPr>
                        <a:buNone/>
                      </a:pPr>
                      <a:r>
                        <a:rPr lang="en-IN">
                          <a:solidFill>
                            <a:schemeClr val="bg2"/>
                          </a:solidFill>
                        </a:rPr>
                        <a:t>Traditional websites</a:t>
                      </a:r>
                    </a:p>
                  </a:txBody>
                  <a:tcPr anchor="ctr"/>
                </a:tc>
                <a:tc>
                  <a:txBody>
                    <a:bodyPr/>
                    <a:lstStyle/>
                    <a:p>
                      <a:pPr>
                        <a:buNone/>
                      </a:pPr>
                      <a:r>
                        <a:rPr lang="en-IN" dirty="0">
                          <a:solidFill>
                            <a:schemeClr val="bg2"/>
                          </a:solidFill>
                        </a:rPr>
                        <a:t>Single Page Applications</a:t>
                      </a:r>
                    </a:p>
                  </a:txBody>
                  <a:tcPr anchor="ctr"/>
                </a:tc>
                <a:extLst>
                  <a:ext uri="{0D108BD9-81ED-4DB2-BD59-A6C34878D82A}">
                    <a16:rowId xmlns:a16="http://schemas.microsoft.com/office/drawing/2014/main" val="4243791524"/>
                  </a:ext>
                </a:extLst>
              </a:tr>
            </a:tbl>
          </a:graphicData>
        </a:graphic>
      </p:graphicFrame>
    </p:spTree>
    <p:extLst>
      <p:ext uri="{BB962C8B-B14F-4D97-AF65-F5344CB8AC3E}">
        <p14:creationId xmlns:p14="http://schemas.microsoft.com/office/powerpoint/2010/main" val="1214819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DC29400-89C7-6A6F-FDCC-3A14F135975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A1E0372-C71E-C8FF-EA68-B3A001392437}"/>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25826B79-33D3-443A-614A-6F6AA9F0633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91F2A5D-F5A3-D823-AC38-7E68C89292D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Introduction to React Router</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E83A1FA8-10FE-2D4E-39EB-872A7BDF539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F4C3EC31-8B8F-E5E5-4108-1157654D8404}"/>
              </a:ext>
            </a:extLst>
          </p:cNvPr>
          <p:cNvSpPr txBox="1"/>
          <p:nvPr/>
        </p:nvSpPr>
        <p:spPr>
          <a:xfrm>
            <a:off x="415633" y="1173022"/>
            <a:ext cx="8977746" cy="3293169"/>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React Router is a standard library used for handling routing in React applications.</a:t>
            </a:r>
          </a:p>
          <a:p>
            <a:pPr fontAlgn="base"/>
            <a:endParaRPr lang="en-GB" sz="1600" dirty="0"/>
          </a:p>
          <a:p>
            <a:pPr marL="285750" indent="-285750" fontAlgn="base">
              <a:buFont typeface="Wingdings" panose="05000000000000000000" pitchFamily="2" charset="2"/>
              <a:buChar char="Ø"/>
            </a:pPr>
            <a:r>
              <a:rPr lang="en-GB" sz="1600" dirty="0"/>
              <a:t>It keeps the UI in sync with the URL and allows developers to map URLs to components.</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Key features of React Router:</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dirty="0"/>
              <a:t>Declarative routing</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dirty="0"/>
              <a:t>Dynamic route handling</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dirty="0"/>
              <a:t>Nested routes support</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dirty="0"/>
              <a:t>Layout-based routing</a:t>
            </a:r>
            <a:endParaRPr lang="en-IN" sz="1600" dirty="0"/>
          </a:p>
        </p:txBody>
      </p:sp>
      <p:sp>
        <p:nvSpPr>
          <p:cNvPr id="10" name="TextBox 9">
            <a:extLst>
              <a:ext uri="{FF2B5EF4-FFF2-40B4-BE49-F238E27FC236}">
                <a16:creationId xmlns:a16="http://schemas.microsoft.com/office/drawing/2014/main" id="{AD41F94B-4381-9960-700F-E0E3150A567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grpSp>
        <p:nvGrpSpPr>
          <p:cNvPr id="17" name="Google Shape;108;p2">
            <a:extLst>
              <a:ext uri="{FF2B5EF4-FFF2-40B4-BE49-F238E27FC236}">
                <a16:creationId xmlns:a16="http://schemas.microsoft.com/office/drawing/2014/main" id="{C4CD5BA6-C07A-1DF8-879C-A5E9C3432C02}"/>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88EBE040-CA66-B9AA-D219-417CCA8CD72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002F189B-2F78-0FBE-9BE2-5FCCD02BA85A}"/>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24513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4881312-8C34-11D8-A0D1-FDC73B358CD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FB77EF3-ED72-3523-B555-000DAE4F3E3C}"/>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2413BF18-54E0-F7D8-FB94-DBB30127E4F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A1805F4-1C2C-6914-B520-7BBFCEDC25F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Types of React Router</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371CDE13-0AA7-94B4-A34B-5D2A3CC3002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7DBA305-99A9-2627-CC23-48241F7BDC93}"/>
              </a:ext>
            </a:extLst>
          </p:cNvPr>
          <p:cNvSpPr txBox="1"/>
          <p:nvPr/>
        </p:nvSpPr>
        <p:spPr>
          <a:xfrm>
            <a:off x="415633" y="1173022"/>
            <a:ext cx="8645240" cy="3046948"/>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There are three types of routers in React:</a:t>
            </a:r>
          </a:p>
          <a:p>
            <a:pPr marL="285750" indent="-285750" fontAlgn="base">
              <a:buFont typeface="Wingdings" panose="05000000000000000000" pitchFamily="2" charset="2"/>
              <a:buChar char="Ø"/>
            </a:pPr>
            <a:endParaRPr lang="en-GB" sz="1600" dirty="0"/>
          </a:p>
          <a:p>
            <a:pPr marL="342900" indent="-342900" fontAlgn="base">
              <a:buAutoNum type="arabicPeriod"/>
            </a:pPr>
            <a:r>
              <a:rPr lang="en-GB" sz="1600" b="1" dirty="0" err="1"/>
              <a:t>BrowserRouter</a:t>
            </a:r>
            <a:r>
              <a:rPr lang="en-GB" sz="1600" dirty="0"/>
              <a:t>: The </a:t>
            </a:r>
            <a:r>
              <a:rPr lang="en-GB" sz="1600" dirty="0" err="1"/>
              <a:t>BrowserRouter</a:t>
            </a:r>
            <a:r>
              <a:rPr lang="en-GB" sz="1600" dirty="0"/>
              <a:t> is the most commonly used router for modern React applications. It uses the HTML5 History API to manage routing, which allows the URL to be dynamically updated while ensuring the browser's address bar and history are in sync.</a:t>
            </a:r>
          </a:p>
          <a:p>
            <a:pPr marL="342900" indent="-342900" fontAlgn="base">
              <a:buAutoNum type="arabicPeriod"/>
            </a:pPr>
            <a:endParaRPr lang="en-GB" sz="1600" b="1" dirty="0"/>
          </a:p>
          <a:p>
            <a:pPr marL="342900" indent="-342900" fontAlgn="base">
              <a:buAutoNum type="arabicPeriod"/>
            </a:pPr>
            <a:r>
              <a:rPr lang="en-GB" sz="1600" b="1" dirty="0" err="1"/>
              <a:t>HashRouter</a:t>
            </a:r>
            <a:r>
              <a:rPr lang="en-GB" sz="1600" dirty="0"/>
              <a:t>: The </a:t>
            </a:r>
            <a:r>
              <a:rPr lang="en-GB" sz="1600" dirty="0" err="1"/>
              <a:t>HashRouter</a:t>
            </a:r>
            <a:r>
              <a:rPr lang="en-GB" sz="1600" dirty="0"/>
              <a:t> is useful when you want to use a URL hash (#) for routing, rather than the HTML5 history API. It doesn't require server configuration and works even if the server doesn't support URL rewriting.</a:t>
            </a:r>
          </a:p>
          <a:p>
            <a:pPr marL="342900" indent="-342900" fontAlgn="base">
              <a:buAutoNum type="arabicPeriod"/>
            </a:pPr>
            <a:endParaRPr lang="en-GB" sz="1600" b="1" dirty="0"/>
          </a:p>
          <a:p>
            <a:pPr marL="342900" indent="-342900" fontAlgn="base">
              <a:buAutoNum type="arabicPeriod"/>
            </a:pPr>
            <a:r>
              <a:rPr lang="en-GB" sz="1600" b="1" dirty="0" err="1"/>
              <a:t>MemoryRouter</a:t>
            </a:r>
            <a:r>
              <a:rPr lang="en-GB" sz="1600" dirty="0"/>
              <a:t>: The </a:t>
            </a:r>
            <a:r>
              <a:rPr lang="en-GB" sz="1600" dirty="0" err="1"/>
              <a:t>MemoryRouter</a:t>
            </a:r>
            <a:r>
              <a:rPr lang="en-GB" sz="1600" dirty="0"/>
              <a:t> is used in non-browser environments, such as in React Native or when running tests.</a:t>
            </a:r>
            <a:endParaRPr lang="en-IN" sz="1600" dirty="0"/>
          </a:p>
        </p:txBody>
      </p:sp>
      <p:sp>
        <p:nvSpPr>
          <p:cNvPr id="10" name="TextBox 9">
            <a:extLst>
              <a:ext uri="{FF2B5EF4-FFF2-40B4-BE49-F238E27FC236}">
                <a16:creationId xmlns:a16="http://schemas.microsoft.com/office/drawing/2014/main" id="{021459E1-7AF1-A55C-BDB6-D6202C2488A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grpSp>
        <p:nvGrpSpPr>
          <p:cNvPr id="17" name="Google Shape;108;p2">
            <a:extLst>
              <a:ext uri="{FF2B5EF4-FFF2-40B4-BE49-F238E27FC236}">
                <a16:creationId xmlns:a16="http://schemas.microsoft.com/office/drawing/2014/main" id="{7B990DCC-ED35-C11B-FB01-016307CF15E5}"/>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3F960A93-B946-DCAB-25E9-3CE87675CE2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E8EA1C90-A413-9C71-2F44-E4AE3A90F17F}"/>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7338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856B544-7EFD-A3F9-0AEF-9FE15700C08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D73656-3772-F07D-A15C-6FE2A1BEC944}"/>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798F6BBE-B159-465A-934B-92B51DD6224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B2F6733-41B6-49C3-6C58-81445EE09CB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D749E346-8CF2-76ED-2B63-A83F534FF9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24AFBD17-599D-A9C5-B47B-6BB71EB243A7}"/>
              </a:ext>
            </a:extLst>
          </p:cNvPr>
          <p:cNvSpPr txBox="1"/>
          <p:nvPr/>
        </p:nvSpPr>
        <p:spPr>
          <a:xfrm>
            <a:off x="499282" y="1315156"/>
            <a:ext cx="8810449" cy="2308284"/>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The main components provided by React Router include:</a:t>
            </a:r>
          </a:p>
          <a:p>
            <a:pPr marL="285750" indent="-285750" fontAlgn="base">
              <a:buFont typeface="Wingdings" panose="05000000000000000000" pitchFamily="2" charset="2"/>
              <a:buChar char="Ø"/>
            </a:pPr>
            <a:endParaRPr lang="en-GB" sz="1600" dirty="0"/>
          </a:p>
          <a:p>
            <a:pPr marL="285750" indent="-285750" fontAlgn="base">
              <a:buFont typeface="Arial" panose="020B0604020202020204" pitchFamily="34" charset="0"/>
              <a:buChar char="•"/>
            </a:pPr>
            <a:r>
              <a:rPr lang="en-GB" sz="1600" b="1" dirty="0" err="1"/>
              <a:t>BrowserRouter</a:t>
            </a:r>
            <a:r>
              <a:rPr lang="en-GB" sz="1600" dirty="0"/>
              <a:t> – Wraps the application and enables routing</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b="1" dirty="0"/>
              <a:t>Routes</a:t>
            </a:r>
            <a:r>
              <a:rPr lang="en-GB" sz="1600" dirty="0"/>
              <a:t> – Container for all route definitions</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b="1" dirty="0"/>
              <a:t>Route</a:t>
            </a:r>
            <a:r>
              <a:rPr lang="en-GB" sz="1600" dirty="0"/>
              <a:t> – Defines a path and its corresponding component</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b="1" dirty="0"/>
              <a:t>Link / </a:t>
            </a:r>
            <a:r>
              <a:rPr lang="en-GB" sz="1600" b="1" dirty="0" err="1"/>
              <a:t>NavLink</a:t>
            </a:r>
            <a:r>
              <a:rPr lang="en-GB" sz="1600" b="1" dirty="0"/>
              <a:t> </a:t>
            </a:r>
            <a:r>
              <a:rPr lang="en-GB" sz="1600" dirty="0"/>
              <a:t>– Used for navigation without page reload</a:t>
            </a:r>
            <a:endParaRPr lang="en-IN" sz="1600" dirty="0"/>
          </a:p>
        </p:txBody>
      </p:sp>
      <p:sp>
        <p:nvSpPr>
          <p:cNvPr id="10" name="TextBox 9">
            <a:extLst>
              <a:ext uri="{FF2B5EF4-FFF2-40B4-BE49-F238E27FC236}">
                <a16:creationId xmlns:a16="http://schemas.microsoft.com/office/drawing/2014/main" id="{B2AF76D3-1C67-D56C-1204-3AAFD499F3E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grpSp>
        <p:nvGrpSpPr>
          <p:cNvPr id="17" name="Google Shape;108;p2">
            <a:extLst>
              <a:ext uri="{FF2B5EF4-FFF2-40B4-BE49-F238E27FC236}">
                <a16:creationId xmlns:a16="http://schemas.microsoft.com/office/drawing/2014/main" id="{EE54ACBA-E913-5D9B-23F8-C2BDA02F49F6}"/>
              </a:ext>
            </a:extLst>
          </p:cNvPr>
          <p:cNvGrpSpPr/>
          <p:nvPr/>
        </p:nvGrpSpPr>
        <p:grpSpPr>
          <a:xfrm>
            <a:off x="648523" y="448456"/>
            <a:ext cx="8245053" cy="823292"/>
            <a:chOff x="-2423" y="7095"/>
            <a:chExt cx="5583357" cy="823292"/>
          </a:xfrm>
          <a:noFill/>
        </p:grpSpPr>
        <p:sp>
          <p:nvSpPr>
            <p:cNvPr id="18" name="Google Shape;109;p2">
              <a:extLst>
                <a:ext uri="{FF2B5EF4-FFF2-40B4-BE49-F238E27FC236}">
                  <a16:creationId xmlns:a16="http://schemas.microsoft.com/office/drawing/2014/main" id="{6140E404-9819-8236-CC47-1FF8D42D4E94}"/>
                </a:ext>
              </a:extLst>
            </p:cNvPr>
            <p:cNvSpPr/>
            <p:nvPr/>
          </p:nvSpPr>
          <p:spPr>
            <a:xfrm>
              <a:off x="0" y="7095"/>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Core Components of React Router</a:t>
              </a:r>
            </a:p>
          </p:txBody>
        </p:sp>
        <p:sp>
          <p:nvSpPr>
            <p:cNvPr id="19" name="Google Shape;110;p2">
              <a:extLst>
                <a:ext uri="{FF2B5EF4-FFF2-40B4-BE49-F238E27FC236}">
                  <a16:creationId xmlns:a16="http://schemas.microsoft.com/office/drawing/2014/main" id="{19993986-5375-3520-905D-539005CE73B2}"/>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984998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F550E18-C2B5-1B6E-B5FF-43D01639794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19C11AA-3341-E692-30C6-302CE09FBB9E}"/>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E0F81368-7B47-ED3C-38BB-237953032D5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4C79A58-1ED5-87B5-9480-C9389007963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849CF2D-43CC-7590-AB72-4919DD9D17E6}"/>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BB1AD8FA-D98D-D78E-5AA4-DAC15D305757}"/>
              </a:ext>
            </a:extLst>
          </p:cNvPr>
          <p:cNvSpPr txBox="1"/>
          <p:nvPr/>
        </p:nvSpPr>
        <p:spPr>
          <a:xfrm>
            <a:off x="385500" y="1292806"/>
            <a:ext cx="8810449" cy="3416279"/>
          </a:xfrm>
          <a:prstGeom prst="rect">
            <a:avLst/>
          </a:prstGeom>
          <a:noFill/>
          <a:ln>
            <a:noFill/>
          </a:ln>
        </p:spPr>
        <p:txBody>
          <a:bodyPr spcFirstLastPara="1" wrap="square" lIns="91425" tIns="45700" rIns="91425" bIns="45700" anchor="t" anchorCtr="0">
            <a:spAutoFit/>
          </a:bodyPr>
          <a:lstStyle/>
          <a:p>
            <a:pPr marL="285750" indent="-285750" fontAlgn="base">
              <a:lnSpc>
                <a:spcPct val="150000"/>
              </a:lnSpc>
              <a:buFont typeface="Wingdings" panose="05000000000000000000" pitchFamily="2" charset="2"/>
              <a:buChar char="Ø"/>
            </a:pPr>
            <a:r>
              <a:rPr lang="en-GB" sz="1600" dirty="0"/>
              <a:t>Client-side routing is implemented by defining routes that map URLs to React components.</a:t>
            </a:r>
          </a:p>
          <a:p>
            <a:pPr marL="285750" indent="-285750" fontAlgn="base">
              <a:lnSpc>
                <a:spcPct val="150000"/>
              </a:lnSpc>
              <a:buFont typeface="Wingdings" panose="05000000000000000000" pitchFamily="2" charset="2"/>
              <a:buChar char="Ø"/>
            </a:pPr>
            <a:r>
              <a:rPr lang="en-GB" sz="1600" dirty="0"/>
              <a:t>When the URL changes, React Router renders the matching component without refreshing the page.</a:t>
            </a:r>
          </a:p>
          <a:p>
            <a:pPr marL="285750" indent="-285750" fontAlgn="base">
              <a:lnSpc>
                <a:spcPct val="150000"/>
              </a:lnSpc>
              <a:buFont typeface="Wingdings" panose="05000000000000000000" pitchFamily="2" charset="2"/>
              <a:buChar char="Ø"/>
            </a:pPr>
            <a:r>
              <a:rPr lang="en-GB" sz="1600" dirty="0"/>
              <a:t>This allows applications to behave like traditional multi-page websites while remaining a single page application.</a:t>
            </a:r>
          </a:p>
          <a:p>
            <a:pPr marL="285750" indent="-285750" fontAlgn="base">
              <a:lnSpc>
                <a:spcPct val="150000"/>
              </a:lnSpc>
              <a:buFont typeface="Wingdings" panose="05000000000000000000" pitchFamily="2" charset="2"/>
              <a:buChar char="Ø"/>
            </a:pPr>
            <a:r>
              <a:rPr lang="en-GB" sz="1600" b="1" dirty="0"/>
              <a:t>The flow for client-side routing usually looks like the following:</a:t>
            </a:r>
          </a:p>
          <a:p>
            <a:pPr marL="285750" indent="-285750" fontAlgn="base">
              <a:lnSpc>
                <a:spcPct val="150000"/>
              </a:lnSpc>
              <a:buFont typeface="Arial" panose="020B0604020202020204" pitchFamily="34" charset="0"/>
              <a:buChar char="•"/>
            </a:pPr>
            <a:r>
              <a:rPr lang="en-GB" sz="1600" dirty="0"/>
              <a:t>The client makes an initial request to the server.</a:t>
            </a:r>
          </a:p>
          <a:p>
            <a:pPr marL="285750" indent="-285750" fontAlgn="base">
              <a:lnSpc>
                <a:spcPct val="150000"/>
              </a:lnSpc>
              <a:buFont typeface="Arial" panose="020B0604020202020204" pitchFamily="34" charset="0"/>
              <a:buChar char="•"/>
            </a:pPr>
            <a:r>
              <a:rPr lang="en-GB" sz="1600" dirty="0"/>
              <a:t>The server responds with a primary HTML document (the single page of the SPA) and associated assets (e.g., JavaScript, CSS).</a:t>
            </a:r>
          </a:p>
        </p:txBody>
      </p:sp>
      <p:sp>
        <p:nvSpPr>
          <p:cNvPr id="10" name="TextBox 9">
            <a:extLst>
              <a:ext uri="{FF2B5EF4-FFF2-40B4-BE49-F238E27FC236}">
                <a16:creationId xmlns:a16="http://schemas.microsoft.com/office/drawing/2014/main" id="{CA032BB5-7146-575C-1F84-82756010D3F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grpSp>
        <p:nvGrpSpPr>
          <p:cNvPr id="17" name="Google Shape;108;p2">
            <a:extLst>
              <a:ext uri="{FF2B5EF4-FFF2-40B4-BE49-F238E27FC236}">
                <a16:creationId xmlns:a16="http://schemas.microsoft.com/office/drawing/2014/main" id="{61E8144F-6089-1B4D-49BD-1B06084EDB6B}"/>
              </a:ext>
            </a:extLst>
          </p:cNvPr>
          <p:cNvGrpSpPr/>
          <p:nvPr/>
        </p:nvGrpSpPr>
        <p:grpSpPr>
          <a:xfrm>
            <a:off x="648523" y="526102"/>
            <a:ext cx="8241475" cy="665888"/>
            <a:chOff x="-2423" y="164499"/>
            <a:chExt cx="5580934" cy="665888"/>
          </a:xfrm>
          <a:noFill/>
        </p:grpSpPr>
        <p:sp>
          <p:nvSpPr>
            <p:cNvPr id="18" name="Google Shape;109;p2">
              <a:extLst>
                <a:ext uri="{FF2B5EF4-FFF2-40B4-BE49-F238E27FC236}">
                  <a16:creationId xmlns:a16="http://schemas.microsoft.com/office/drawing/2014/main" id="{6C26B34B-A09A-09DB-138D-ACF131B2D12A}"/>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Client-Side Routing with React Router</a:t>
              </a:r>
            </a:p>
          </p:txBody>
        </p:sp>
        <p:sp>
          <p:nvSpPr>
            <p:cNvPr id="19" name="Google Shape;110;p2">
              <a:extLst>
                <a:ext uri="{FF2B5EF4-FFF2-40B4-BE49-F238E27FC236}">
                  <a16:creationId xmlns:a16="http://schemas.microsoft.com/office/drawing/2014/main" id="{2B404ACF-A893-11DC-7307-81D33DABD874}"/>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88907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08226FB-5307-17B3-619F-B1043CF457B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6E9FC8F1-265A-A933-6869-149BFC3B41CC}"/>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82217F34-6E88-6602-6743-ABA8660D551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3F7CC0C-7A05-5122-5F9F-0CC76CAD39C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EDA365C-0D92-19BB-8A4C-009BB7EE6BE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D7597203-D85A-AE7B-FB7A-61FBB47C4A60}"/>
              </a:ext>
            </a:extLst>
          </p:cNvPr>
          <p:cNvSpPr txBox="1"/>
          <p:nvPr/>
        </p:nvSpPr>
        <p:spPr>
          <a:xfrm>
            <a:off x="385501" y="1292806"/>
            <a:ext cx="8758500" cy="3046948"/>
          </a:xfrm>
          <a:prstGeom prst="rect">
            <a:avLst/>
          </a:prstGeom>
          <a:noFill/>
          <a:ln>
            <a:noFill/>
          </a:ln>
        </p:spPr>
        <p:txBody>
          <a:bodyPr spcFirstLastPara="1" wrap="square" lIns="91425" tIns="45700" rIns="91425" bIns="45700" anchor="t" anchorCtr="0">
            <a:spAutoFit/>
          </a:bodyPr>
          <a:lstStyle/>
          <a:p>
            <a:pPr marL="285750" indent="-285750" fontAlgn="base">
              <a:lnSpc>
                <a:spcPct val="150000"/>
              </a:lnSpc>
              <a:buFont typeface="Arial" panose="020B0604020202020204" pitchFamily="34" charset="0"/>
              <a:buChar char="•"/>
            </a:pPr>
            <a:r>
              <a:rPr lang="en-GB" sz="1600" dirty="0"/>
              <a:t>The client interprets the JavaScript, and the app logic determines which content to display based on the URL path.</a:t>
            </a:r>
          </a:p>
          <a:p>
            <a:pPr marL="285750" indent="-285750" fontAlgn="base">
              <a:lnSpc>
                <a:spcPct val="150000"/>
              </a:lnSpc>
              <a:buFont typeface="Arial" panose="020B0604020202020204" pitchFamily="34" charset="0"/>
              <a:buChar char="•"/>
            </a:pPr>
            <a:r>
              <a:rPr lang="en-GB" sz="1600" dirty="0"/>
              <a:t>For subsequent route changes, the JavaScript updates the browser’s history and displayed content without a full page reload.</a:t>
            </a:r>
          </a:p>
          <a:p>
            <a:pPr fontAlgn="base">
              <a:lnSpc>
                <a:spcPct val="150000"/>
              </a:lnSpc>
            </a:pPr>
            <a:endParaRPr lang="en-GB" sz="1600" dirty="0"/>
          </a:p>
          <a:p>
            <a:pPr fontAlgn="base">
              <a:lnSpc>
                <a:spcPct val="150000"/>
              </a:lnSpc>
            </a:pPr>
            <a:r>
              <a:rPr lang="en-GB" sz="1600" dirty="0"/>
              <a:t>With client-side routing, while the initial load might seem slower because the entire app (or large parts of it) gets loaded, subsequent navigations are swift and seamless, as they don’t require round-trips to the server.</a:t>
            </a:r>
          </a:p>
        </p:txBody>
      </p:sp>
      <p:sp>
        <p:nvSpPr>
          <p:cNvPr id="10" name="TextBox 9">
            <a:extLst>
              <a:ext uri="{FF2B5EF4-FFF2-40B4-BE49-F238E27FC236}">
                <a16:creationId xmlns:a16="http://schemas.microsoft.com/office/drawing/2014/main" id="{3D42E451-8826-EC2C-1418-69292FF4B5E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grpSp>
        <p:nvGrpSpPr>
          <p:cNvPr id="17" name="Google Shape;108;p2">
            <a:extLst>
              <a:ext uri="{FF2B5EF4-FFF2-40B4-BE49-F238E27FC236}">
                <a16:creationId xmlns:a16="http://schemas.microsoft.com/office/drawing/2014/main" id="{52B91FCE-306E-730F-545B-3C804E067B68}"/>
              </a:ext>
            </a:extLst>
          </p:cNvPr>
          <p:cNvGrpSpPr/>
          <p:nvPr/>
        </p:nvGrpSpPr>
        <p:grpSpPr>
          <a:xfrm>
            <a:off x="648523" y="526102"/>
            <a:ext cx="8241475" cy="665888"/>
            <a:chOff x="-2423" y="164499"/>
            <a:chExt cx="5580934" cy="665888"/>
          </a:xfrm>
          <a:noFill/>
        </p:grpSpPr>
        <p:sp>
          <p:nvSpPr>
            <p:cNvPr id="18" name="Google Shape;109;p2">
              <a:extLst>
                <a:ext uri="{FF2B5EF4-FFF2-40B4-BE49-F238E27FC236}">
                  <a16:creationId xmlns:a16="http://schemas.microsoft.com/office/drawing/2014/main" id="{1247D161-6716-1DA6-B889-9803F94FD59C}"/>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Client-Side Routing with React Router (Contd.)</a:t>
              </a:r>
            </a:p>
          </p:txBody>
        </p:sp>
        <p:sp>
          <p:nvSpPr>
            <p:cNvPr id="19" name="Google Shape;110;p2">
              <a:extLst>
                <a:ext uri="{FF2B5EF4-FFF2-40B4-BE49-F238E27FC236}">
                  <a16:creationId xmlns:a16="http://schemas.microsoft.com/office/drawing/2014/main" id="{15FB9998-6602-24D1-5353-EB7B90D0828A}"/>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887427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91D4B91-D58B-79D0-32A0-7989FF68D6BA}"/>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1A5C36B-00A5-64E6-B490-EEB35955B41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D016D137-9343-25CB-8404-B6F27434636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3BA3802-77E9-A8ED-B3A5-C639B2ACDE6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B4C5A6A-B94F-A5D0-90AB-5FFF079B831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CE63C4EE-E045-B4F3-78AA-EC7DC96D120C}"/>
              </a:ext>
            </a:extLst>
          </p:cNvPr>
          <p:cNvSpPr txBox="1"/>
          <p:nvPr/>
        </p:nvSpPr>
        <p:spPr>
          <a:xfrm>
            <a:off x="499282" y="1139717"/>
            <a:ext cx="8394294" cy="3046948"/>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Wingdings" panose="05000000000000000000" pitchFamily="2" charset="2"/>
              <a:buChar char="Ø"/>
            </a:pPr>
            <a:r>
              <a:rPr lang="en-GB" sz="1600" dirty="0"/>
              <a:t>Dynamic routes allow applications to display different data using the same component based on URL parameters.</a:t>
            </a:r>
          </a:p>
          <a:p>
            <a:pPr marL="285750" indent="-285750">
              <a:lnSpc>
                <a:spcPct val="150000"/>
              </a:lnSpc>
              <a:buFont typeface="Wingdings" panose="05000000000000000000" pitchFamily="2" charset="2"/>
              <a:buChar char="Ø"/>
            </a:pPr>
            <a:r>
              <a:rPr lang="en-GB" sz="1600" dirty="0"/>
              <a:t>Dynamic routing in React, typically implemented using the </a:t>
            </a:r>
            <a:r>
              <a:rPr lang="en-GB" sz="1600" b="1" dirty="0"/>
              <a:t>React Router</a:t>
            </a:r>
            <a:r>
              <a:rPr lang="en-GB" sz="1600" dirty="0"/>
              <a:t> library, allows you to create flexible routes that can handle varying parameters in the URL, such as a product ID or a user ID</a:t>
            </a:r>
          </a:p>
          <a:p>
            <a:pPr marL="285750" indent="-285750">
              <a:lnSpc>
                <a:spcPct val="150000"/>
              </a:lnSpc>
              <a:buFont typeface="Wingdings" panose="05000000000000000000" pitchFamily="2" charset="2"/>
              <a:buChar char="Ø"/>
            </a:pPr>
            <a:r>
              <a:rPr lang="en-GB" sz="1600" dirty="0"/>
              <a:t>They are commonly used for user profiles, product details, blog posts, etc.</a:t>
            </a:r>
          </a:p>
          <a:p>
            <a:pPr marL="285750" indent="-285750">
              <a:lnSpc>
                <a:spcPct val="150000"/>
              </a:lnSpc>
              <a:buFont typeface="Wingdings" panose="05000000000000000000" pitchFamily="2" charset="2"/>
              <a:buChar char="Ø"/>
            </a:pPr>
            <a:r>
              <a:rPr lang="en-GB" sz="1600" dirty="0"/>
              <a:t>Dynamic routes make applications more scalable and flexible, as a single route definition can handle multiple values.</a:t>
            </a:r>
          </a:p>
        </p:txBody>
      </p:sp>
      <p:sp>
        <p:nvSpPr>
          <p:cNvPr id="10" name="TextBox 9">
            <a:extLst>
              <a:ext uri="{FF2B5EF4-FFF2-40B4-BE49-F238E27FC236}">
                <a16:creationId xmlns:a16="http://schemas.microsoft.com/office/drawing/2014/main" id="{0337AB76-EBE9-2F08-F38D-F0A3F6AD325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grpSp>
        <p:nvGrpSpPr>
          <p:cNvPr id="17" name="Google Shape;108;p2">
            <a:extLst>
              <a:ext uri="{FF2B5EF4-FFF2-40B4-BE49-F238E27FC236}">
                <a16:creationId xmlns:a16="http://schemas.microsoft.com/office/drawing/2014/main" id="{8AAEF830-FEFC-359C-B2DA-A156BD9AC64F}"/>
              </a:ext>
            </a:extLst>
          </p:cNvPr>
          <p:cNvGrpSpPr/>
          <p:nvPr/>
        </p:nvGrpSpPr>
        <p:grpSpPr>
          <a:xfrm>
            <a:off x="616472" y="321741"/>
            <a:ext cx="8241475" cy="950007"/>
            <a:chOff x="-24127" y="-119620"/>
            <a:chExt cx="5580934" cy="950007"/>
          </a:xfrm>
          <a:noFill/>
        </p:grpSpPr>
        <p:sp>
          <p:nvSpPr>
            <p:cNvPr id="18" name="Google Shape;109;p2">
              <a:extLst>
                <a:ext uri="{FF2B5EF4-FFF2-40B4-BE49-F238E27FC236}">
                  <a16:creationId xmlns:a16="http://schemas.microsoft.com/office/drawing/2014/main" id="{815409A3-FD20-D0D7-7A47-A67265355223}"/>
                </a:ext>
              </a:extLst>
            </p:cNvPr>
            <p:cNvSpPr/>
            <p:nvPr/>
          </p:nvSpPr>
          <p:spPr>
            <a:xfrm>
              <a:off x="-24127" y="-119620"/>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Dynamic Routes</a:t>
              </a:r>
            </a:p>
          </p:txBody>
        </p:sp>
        <p:sp>
          <p:nvSpPr>
            <p:cNvPr id="19" name="Google Shape;110;p2">
              <a:extLst>
                <a:ext uri="{FF2B5EF4-FFF2-40B4-BE49-F238E27FC236}">
                  <a16:creationId xmlns:a16="http://schemas.microsoft.com/office/drawing/2014/main" id="{46ED7786-73C8-3717-37EC-8715FFA239A9}"/>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512673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C2B75F1-DC65-1681-FA2D-4E974A69743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00606D-0BEA-F43C-7F9C-4FABD5C204CF}"/>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192C18FB-523F-CE16-89B2-F676C684BD4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59168C6-C980-82F6-A25B-895B173C8A5D}"/>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8495FB18-1627-41B7-80C7-33B0911B182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E282682-093E-12CE-076B-36B48FD1D78E}"/>
              </a:ext>
            </a:extLst>
          </p:cNvPr>
          <p:cNvSpPr txBox="1"/>
          <p:nvPr/>
        </p:nvSpPr>
        <p:spPr>
          <a:xfrm>
            <a:off x="333552" y="1228803"/>
            <a:ext cx="8691694" cy="3539390"/>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Using React Router, when you want to create a </a:t>
            </a:r>
            <a:r>
              <a:rPr lang="en-GB" sz="1600" b="1" dirty="0"/>
              <a:t>Route</a:t>
            </a:r>
            <a:r>
              <a:rPr lang="en-GB" sz="1600" dirty="0"/>
              <a:t> that uses a URL parameter, you do so by including a </a:t>
            </a:r>
            <a:r>
              <a:rPr lang="en-GB" sz="1600" b="1" dirty="0"/>
              <a:t>:</a:t>
            </a:r>
            <a:r>
              <a:rPr lang="en-GB" sz="1600" dirty="0"/>
              <a:t> in front of the value you pass to </a:t>
            </a:r>
            <a:r>
              <a:rPr lang="en-GB" sz="1600" b="1" dirty="0"/>
              <a:t>Route</a:t>
            </a:r>
            <a:r>
              <a:rPr lang="en-GB" sz="1600" dirty="0"/>
              <a:t>'s </a:t>
            </a:r>
            <a:r>
              <a:rPr lang="en-GB" sz="1600" b="1" dirty="0"/>
              <a:t>path</a:t>
            </a:r>
            <a:r>
              <a:rPr lang="en-GB" sz="1600" dirty="0"/>
              <a:t> prop.</a:t>
            </a:r>
          </a:p>
          <a:p>
            <a:pPr fontAlgn="base"/>
            <a:endParaRPr lang="en-GB" sz="1600" dirty="0"/>
          </a:p>
          <a:p>
            <a:pPr marL="285750" indent="-285750" fontAlgn="base">
              <a:buFont typeface="Wingdings" panose="05000000000000000000" pitchFamily="2" charset="2"/>
              <a:buChar char="Ø"/>
            </a:pPr>
            <a:r>
              <a:rPr lang="en-GB" sz="1600" dirty="0"/>
              <a:t>These parameters capture values from the URL and pass them to components.</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The captured parameters help identify which data should be displayed, such as an ID or username.</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URL parameters include both </a:t>
            </a:r>
            <a:r>
              <a:rPr lang="en-GB" sz="1600" b="1" dirty="0"/>
              <a:t>route parameters</a:t>
            </a:r>
            <a:r>
              <a:rPr lang="en-GB" sz="1600" dirty="0"/>
              <a:t> and </a:t>
            </a:r>
            <a:r>
              <a:rPr lang="en-GB" sz="1600" b="1" dirty="0"/>
              <a:t>search parameters</a:t>
            </a:r>
            <a:r>
              <a:rPr lang="en-GB" sz="1600" dirty="0"/>
              <a:t>. Expo Router provides hooks for accessing and modifying these parameters.</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URL parameters solve a similar problem, except instead of declaring placeholders for a function, you can declare placeholders for a URL. In terms of React and React Router, this means what you render can be dynamic based on the "placeholder" portion of the URL.</a:t>
            </a:r>
          </a:p>
        </p:txBody>
      </p:sp>
      <p:sp>
        <p:nvSpPr>
          <p:cNvPr id="10" name="TextBox 9">
            <a:extLst>
              <a:ext uri="{FF2B5EF4-FFF2-40B4-BE49-F238E27FC236}">
                <a16:creationId xmlns:a16="http://schemas.microsoft.com/office/drawing/2014/main" id="{7C8D17F9-C30C-0BC6-38F4-19F451FC5AD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grpSp>
        <p:nvGrpSpPr>
          <p:cNvPr id="17" name="Google Shape;108;p2">
            <a:extLst>
              <a:ext uri="{FF2B5EF4-FFF2-40B4-BE49-F238E27FC236}">
                <a16:creationId xmlns:a16="http://schemas.microsoft.com/office/drawing/2014/main" id="{5BC6A00E-4BD3-64AE-56F2-8BAC8905D086}"/>
              </a:ext>
            </a:extLst>
          </p:cNvPr>
          <p:cNvGrpSpPr/>
          <p:nvPr/>
        </p:nvGrpSpPr>
        <p:grpSpPr>
          <a:xfrm>
            <a:off x="648523" y="390199"/>
            <a:ext cx="8241475" cy="881549"/>
            <a:chOff x="-2423" y="-51162"/>
            <a:chExt cx="5580934" cy="881549"/>
          </a:xfrm>
          <a:noFill/>
        </p:grpSpPr>
        <p:sp>
          <p:nvSpPr>
            <p:cNvPr id="18" name="Google Shape;109;p2">
              <a:extLst>
                <a:ext uri="{FF2B5EF4-FFF2-40B4-BE49-F238E27FC236}">
                  <a16:creationId xmlns:a16="http://schemas.microsoft.com/office/drawing/2014/main" id="{A937AB79-0639-409B-5EA3-5B71444677D0}"/>
                </a:ext>
              </a:extLst>
            </p:cNvPr>
            <p:cNvSpPr/>
            <p:nvPr/>
          </p:nvSpPr>
          <p:spPr>
            <a:xfrm>
              <a:off x="-2423" y="-51162"/>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URL Parameters in Dynamic Routes</a:t>
              </a:r>
            </a:p>
          </p:txBody>
        </p:sp>
        <p:sp>
          <p:nvSpPr>
            <p:cNvPr id="19" name="Google Shape;110;p2">
              <a:extLst>
                <a:ext uri="{FF2B5EF4-FFF2-40B4-BE49-F238E27FC236}">
                  <a16:creationId xmlns:a16="http://schemas.microsoft.com/office/drawing/2014/main" id="{C2AB2BC1-1A1C-80A8-79FC-32C920B47DE4}"/>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012633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97D74F4-6A8F-682B-C1B5-032684FCEAD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978959C-1CA1-82CF-4884-8E3CBF596D4C}"/>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455F6A32-4664-5FE0-6A6F-25EAED64878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2376A51-BF88-F16C-0689-1155BF7C59D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8A7948E-BB8D-DA70-93DD-009ECC66FC9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2521A513-FE0C-2ED6-4B97-D0629E36B45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grpSp>
        <p:nvGrpSpPr>
          <p:cNvPr id="17" name="Google Shape;108;p2">
            <a:extLst>
              <a:ext uri="{FF2B5EF4-FFF2-40B4-BE49-F238E27FC236}">
                <a16:creationId xmlns:a16="http://schemas.microsoft.com/office/drawing/2014/main" id="{E4417B15-3C4F-266A-64A6-4965DA714C5C}"/>
              </a:ext>
            </a:extLst>
          </p:cNvPr>
          <p:cNvGrpSpPr/>
          <p:nvPr/>
        </p:nvGrpSpPr>
        <p:grpSpPr>
          <a:xfrm>
            <a:off x="648523" y="418768"/>
            <a:ext cx="8241475" cy="852980"/>
            <a:chOff x="-2423" y="-22593"/>
            <a:chExt cx="5580934" cy="852980"/>
          </a:xfrm>
          <a:noFill/>
        </p:grpSpPr>
        <p:sp>
          <p:nvSpPr>
            <p:cNvPr id="18" name="Google Shape;109;p2">
              <a:extLst>
                <a:ext uri="{FF2B5EF4-FFF2-40B4-BE49-F238E27FC236}">
                  <a16:creationId xmlns:a16="http://schemas.microsoft.com/office/drawing/2014/main" id="{75EFEE7A-57BD-D3E0-1EA7-0BFA0AC2C00E}"/>
                </a:ext>
              </a:extLst>
            </p:cNvPr>
            <p:cNvSpPr/>
            <p:nvPr/>
          </p:nvSpPr>
          <p:spPr>
            <a:xfrm>
              <a:off x="-2423" y="-22593"/>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Nested Routes</a:t>
              </a:r>
            </a:p>
          </p:txBody>
        </p:sp>
        <p:sp>
          <p:nvSpPr>
            <p:cNvPr id="19" name="Google Shape;110;p2">
              <a:extLst>
                <a:ext uri="{FF2B5EF4-FFF2-40B4-BE49-F238E27FC236}">
                  <a16:creationId xmlns:a16="http://schemas.microsoft.com/office/drawing/2014/main" id="{A96531C5-32AE-D149-E612-766A6A1912FE}"/>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3" name="Google Shape;113;p2">
            <a:extLst>
              <a:ext uri="{FF2B5EF4-FFF2-40B4-BE49-F238E27FC236}">
                <a16:creationId xmlns:a16="http://schemas.microsoft.com/office/drawing/2014/main" id="{E29DF040-8D66-31AC-CE03-76EACC49D0F7}"/>
              </a:ext>
            </a:extLst>
          </p:cNvPr>
          <p:cNvSpPr txBox="1"/>
          <p:nvPr/>
        </p:nvSpPr>
        <p:spPr>
          <a:xfrm>
            <a:off x="499282" y="1118013"/>
            <a:ext cx="8810449" cy="4278054"/>
          </a:xfrm>
          <a:prstGeom prst="rect">
            <a:avLst/>
          </a:prstGeom>
          <a:noFill/>
          <a:ln>
            <a:noFill/>
          </a:ln>
        </p:spPr>
        <p:txBody>
          <a:bodyPr spcFirstLastPara="1" wrap="square" lIns="91425" tIns="45700" rIns="91425" bIns="45700" anchor="t" anchorCtr="0">
            <a:spAutoFit/>
          </a:bodyPr>
          <a:lstStyle/>
          <a:p>
            <a:pPr marL="285750" indent="-285750" fontAlgn="base">
              <a:lnSpc>
                <a:spcPct val="150000"/>
              </a:lnSpc>
              <a:buFont typeface="Wingdings" panose="05000000000000000000" pitchFamily="2" charset="2"/>
              <a:buChar char="Ø"/>
            </a:pPr>
            <a:r>
              <a:rPr lang="en-GB" sz="1600" dirty="0"/>
              <a:t>Nested routes allow routes to be defined inside other routes.</a:t>
            </a:r>
          </a:p>
          <a:p>
            <a:pPr marL="285750" indent="-285750" fontAlgn="base">
              <a:lnSpc>
                <a:spcPct val="150000"/>
              </a:lnSpc>
              <a:buFont typeface="Wingdings" panose="05000000000000000000" pitchFamily="2" charset="2"/>
              <a:buChar char="Ø"/>
            </a:pPr>
            <a:r>
              <a:rPr lang="en-GB" sz="1600" dirty="0"/>
              <a:t>They are useful when a page has multiple sub-sections that share a common parent component.</a:t>
            </a:r>
          </a:p>
          <a:p>
            <a:pPr marL="285750" indent="-285750" fontAlgn="base">
              <a:lnSpc>
                <a:spcPct val="150000"/>
              </a:lnSpc>
              <a:buFont typeface="Wingdings" panose="05000000000000000000" pitchFamily="2" charset="2"/>
              <a:buChar char="Ø"/>
            </a:pPr>
            <a:r>
              <a:rPr lang="en-GB" sz="1600" dirty="0"/>
              <a:t>This approach helps maintain a hierarchical UI structure and improves code organization.</a:t>
            </a:r>
          </a:p>
          <a:p>
            <a:endParaRPr lang="en-GB" sz="1600" b="1" dirty="0"/>
          </a:p>
          <a:p>
            <a:r>
              <a:rPr lang="en-GB" sz="1600" b="1" dirty="0"/>
              <a:t>Benefits of Nested Routes</a:t>
            </a:r>
          </a:p>
          <a:p>
            <a:pPr marL="285750" indent="-285750">
              <a:lnSpc>
                <a:spcPct val="150000"/>
              </a:lnSpc>
              <a:buFont typeface="Arial" panose="020B0604020202020204" pitchFamily="34" charset="0"/>
              <a:buChar char="•"/>
            </a:pPr>
            <a:r>
              <a:rPr lang="en-GB" sz="1600" dirty="0"/>
              <a:t>Enables structured and modular routing</a:t>
            </a:r>
          </a:p>
          <a:p>
            <a:pPr marL="285750" indent="-285750">
              <a:lnSpc>
                <a:spcPct val="150000"/>
              </a:lnSpc>
              <a:buFont typeface="Arial" panose="020B0604020202020204" pitchFamily="34" charset="0"/>
              <a:buChar char="•"/>
            </a:pPr>
            <a:r>
              <a:rPr lang="en-GB" sz="1600" dirty="0"/>
              <a:t>Reduces code duplication</a:t>
            </a:r>
          </a:p>
          <a:p>
            <a:pPr marL="285750" indent="-285750">
              <a:lnSpc>
                <a:spcPct val="150000"/>
              </a:lnSpc>
              <a:buFont typeface="Arial" panose="020B0604020202020204" pitchFamily="34" charset="0"/>
              <a:buChar char="•"/>
            </a:pPr>
            <a:r>
              <a:rPr lang="en-GB" sz="1600" dirty="0"/>
              <a:t>Maintains parent-child UI relationships</a:t>
            </a:r>
          </a:p>
          <a:p>
            <a:pPr marL="285750" indent="-285750">
              <a:lnSpc>
                <a:spcPct val="150000"/>
              </a:lnSpc>
              <a:buFont typeface="Arial" panose="020B0604020202020204" pitchFamily="34" charset="0"/>
              <a:buChar char="•"/>
            </a:pPr>
            <a:r>
              <a:rPr lang="en-GB" sz="1600" dirty="0"/>
              <a:t>Ideal for dashboards, profiles, and admin panels</a:t>
            </a:r>
          </a:p>
          <a:p>
            <a:pPr marL="285750" indent="-285750">
              <a:lnSpc>
                <a:spcPct val="150000"/>
              </a:lnSpc>
              <a:buFont typeface="Arial" panose="020B0604020202020204" pitchFamily="34" charset="0"/>
              <a:buChar char="•"/>
            </a:pPr>
            <a:r>
              <a:rPr lang="en-GB" sz="1600" dirty="0"/>
              <a:t>Nested routes make large applications easier to manage and scale.</a:t>
            </a:r>
          </a:p>
          <a:p>
            <a:pPr fontAlgn="base">
              <a:lnSpc>
                <a:spcPct val="150000"/>
              </a:lnSpc>
            </a:pPr>
            <a:endParaRPr lang="en-GB" sz="1600" dirty="0"/>
          </a:p>
        </p:txBody>
      </p:sp>
    </p:spTree>
    <p:extLst>
      <p:ext uri="{BB962C8B-B14F-4D97-AF65-F5344CB8AC3E}">
        <p14:creationId xmlns:p14="http://schemas.microsoft.com/office/powerpoint/2010/main" val="3685147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EA335FC-9943-6D15-D875-31186CA0378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4F83402-D53C-67D7-56BD-FAB7085FD497}"/>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6F98B448-CA0D-B814-2DD8-E1DFF376A34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4C2B4E7-1DE1-4465-8F77-D8433B02859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1EF9A34-1A7E-8DD9-0A82-5720DD05D2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942BCFF3-0F79-87CB-DE53-63E3E5B4DA5B}"/>
              </a:ext>
            </a:extLst>
          </p:cNvPr>
          <p:cNvSpPr txBox="1"/>
          <p:nvPr/>
        </p:nvSpPr>
        <p:spPr>
          <a:xfrm>
            <a:off x="331985" y="1221954"/>
            <a:ext cx="8810449" cy="1938952"/>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Wingdings" panose="05000000000000000000" pitchFamily="2" charset="2"/>
              <a:buChar char="Ø"/>
            </a:pPr>
            <a:r>
              <a:rPr lang="en-GB" sz="1600" dirty="0"/>
              <a:t>Layout components are used to define common UI elements such as headers, footers, sidebars, or navigation bars.</a:t>
            </a:r>
          </a:p>
          <a:p>
            <a:pPr marL="285750" indent="-285750">
              <a:lnSpc>
                <a:spcPct val="150000"/>
              </a:lnSpc>
              <a:buFont typeface="Wingdings" panose="05000000000000000000" pitchFamily="2" charset="2"/>
              <a:buChar char="Ø"/>
            </a:pPr>
            <a:r>
              <a:rPr lang="en-GB" sz="1600" dirty="0"/>
              <a:t>They wrap child routes and provide a consistent structure across multiple pages.</a:t>
            </a:r>
          </a:p>
          <a:p>
            <a:pPr marL="285750" indent="-285750">
              <a:lnSpc>
                <a:spcPct val="150000"/>
              </a:lnSpc>
              <a:buFont typeface="Wingdings" panose="05000000000000000000" pitchFamily="2" charset="2"/>
              <a:buChar char="Ø"/>
            </a:pPr>
            <a:r>
              <a:rPr lang="en-GB" sz="1600" dirty="0"/>
              <a:t>Layouts improve user experience by maintaining uniform design while allowing content to change.</a:t>
            </a:r>
          </a:p>
        </p:txBody>
      </p:sp>
      <p:sp>
        <p:nvSpPr>
          <p:cNvPr id="10" name="TextBox 9">
            <a:extLst>
              <a:ext uri="{FF2B5EF4-FFF2-40B4-BE49-F238E27FC236}">
                <a16:creationId xmlns:a16="http://schemas.microsoft.com/office/drawing/2014/main" id="{9665E802-8B95-5280-4AAC-ACB089B7E8C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grpSp>
        <p:nvGrpSpPr>
          <p:cNvPr id="17" name="Google Shape;108;p2">
            <a:extLst>
              <a:ext uri="{FF2B5EF4-FFF2-40B4-BE49-F238E27FC236}">
                <a16:creationId xmlns:a16="http://schemas.microsoft.com/office/drawing/2014/main" id="{0D87D015-08B4-DA40-EFCC-EFF03FCDDC1F}"/>
              </a:ext>
            </a:extLst>
          </p:cNvPr>
          <p:cNvGrpSpPr/>
          <p:nvPr/>
        </p:nvGrpSpPr>
        <p:grpSpPr>
          <a:xfrm>
            <a:off x="648523" y="415468"/>
            <a:ext cx="8241475" cy="856280"/>
            <a:chOff x="-2423" y="-25893"/>
            <a:chExt cx="5580934" cy="856280"/>
          </a:xfrm>
          <a:noFill/>
        </p:grpSpPr>
        <p:sp>
          <p:nvSpPr>
            <p:cNvPr id="18" name="Google Shape;109;p2">
              <a:extLst>
                <a:ext uri="{FF2B5EF4-FFF2-40B4-BE49-F238E27FC236}">
                  <a16:creationId xmlns:a16="http://schemas.microsoft.com/office/drawing/2014/main" id="{FAC4819C-B2C0-E9C0-AE40-7A1EA23E1ABD}"/>
                </a:ext>
              </a:extLst>
            </p:cNvPr>
            <p:cNvSpPr/>
            <p:nvPr/>
          </p:nvSpPr>
          <p:spPr>
            <a:xfrm>
              <a:off x="-2423" y="-25893"/>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Layout Components</a:t>
              </a:r>
            </a:p>
          </p:txBody>
        </p:sp>
        <p:sp>
          <p:nvSpPr>
            <p:cNvPr id="19" name="Google Shape;110;p2">
              <a:extLst>
                <a:ext uri="{FF2B5EF4-FFF2-40B4-BE49-F238E27FC236}">
                  <a16:creationId xmlns:a16="http://schemas.microsoft.com/office/drawing/2014/main" id="{4A44A17B-35B4-60A2-6122-290C65228EDF}"/>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98159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C706850-081D-F772-FC4E-031457F3A88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E287034-7C24-2F03-FA43-A7AD154877C6}"/>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02766CD4-2ECB-7E6E-3E05-7CDA94033AA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740C675-F45A-4F11-53C9-49DACB49822A}"/>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6911C12-B02B-3BEB-215B-8CDF92E5AEC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8D94BDB-D282-D83B-176A-3008D71C2D66}"/>
              </a:ext>
            </a:extLst>
          </p:cNvPr>
          <p:cNvSpPr txBox="1"/>
          <p:nvPr/>
        </p:nvSpPr>
        <p:spPr>
          <a:xfrm>
            <a:off x="499282" y="1271748"/>
            <a:ext cx="8525963" cy="267761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Wingdings" panose="05000000000000000000" pitchFamily="2" charset="2"/>
              <a:buChar char="Ø"/>
            </a:pPr>
            <a:r>
              <a:rPr lang="en-GB" sz="1600" dirty="0"/>
              <a:t>Layout components work closely with nested routes.</a:t>
            </a:r>
          </a:p>
          <a:p>
            <a:pPr marL="285750" indent="-285750">
              <a:lnSpc>
                <a:spcPct val="150000"/>
              </a:lnSpc>
              <a:buFont typeface="Wingdings" panose="05000000000000000000" pitchFamily="2" charset="2"/>
              <a:buChar char="Ø"/>
            </a:pPr>
            <a:r>
              <a:rPr lang="en-GB" sz="1600" dirty="0"/>
              <a:t>The layout remains fixed while child routes change based on navigation.</a:t>
            </a:r>
          </a:p>
          <a:p>
            <a:pPr marL="285750" indent="-285750">
              <a:lnSpc>
                <a:spcPct val="150000"/>
              </a:lnSpc>
              <a:buFont typeface="Wingdings" panose="05000000000000000000" pitchFamily="2" charset="2"/>
              <a:buChar char="Ø"/>
            </a:pPr>
            <a:r>
              <a:rPr lang="en-GB" sz="1600" dirty="0"/>
              <a:t>This ensures:</a:t>
            </a:r>
          </a:p>
          <a:p>
            <a:pPr marL="285750" indent="-285750">
              <a:buFont typeface="Wingdings" panose="05000000000000000000" pitchFamily="2" charset="2"/>
              <a:buChar char="Ø"/>
            </a:pPr>
            <a:endParaRPr lang="en-GB" sz="1600" dirty="0"/>
          </a:p>
          <a:p>
            <a:pPr marL="285750" indent="-285750">
              <a:buFont typeface="Arial" panose="020B0604020202020204" pitchFamily="34" charset="0"/>
              <a:buChar char="•"/>
            </a:pPr>
            <a:r>
              <a:rPr lang="en-GB" sz="1600" dirty="0"/>
              <a:t>Reusable UI structure</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Cleaner routing logic</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Better separation of concerns</a:t>
            </a:r>
          </a:p>
        </p:txBody>
      </p:sp>
      <p:sp>
        <p:nvSpPr>
          <p:cNvPr id="10" name="TextBox 9">
            <a:extLst>
              <a:ext uri="{FF2B5EF4-FFF2-40B4-BE49-F238E27FC236}">
                <a16:creationId xmlns:a16="http://schemas.microsoft.com/office/drawing/2014/main" id="{0DA32919-2677-8B62-92AC-4374D2DC086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grpSp>
        <p:nvGrpSpPr>
          <p:cNvPr id="17" name="Google Shape;108;p2">
            <a:extLst>
              <a:ext uri="{FF2B5EF4-FFF2-40B4-BE49-F238E27FC236}">
                <a16:creationId xmlns:a16="http://schemas.microsoft.com/office/drawing/2014/main" id="{3E7EA7D8-A61C-6AA6-3ABD-A35CD5A803FE}"/>
              </a:ext>
            </a:extLst>
          </p:cNvPr>
          <p:cNvGrpSpPr/>
          <p:nvPr/>
        </p:nvGrpSpPr>
        <p:grpSpPr>
          <a:xfrm>
            <a:off x="648523" y="415468"/>
            <a:ext cx="8241475" cy="856280"/>
            <a:chOff x="-2423" y="-25893"/>
            <a:chExt cx="5580934" cy="856280"/>
          </a:xfrm>
          <a:noFill/>
        </p:grpSpPr>
        <p:sp>
          <p:nvSpPr>
            <p:cNvPr id="18" name="Google Shape;109;p2">
              <a:extLst>
                <a:ext uri="{FF2B5EF4-FFF2-40B4-BE49-F238E27FC236}">
                  <a16:creationId xmlns:a16="http://schemas.microsoft.com/office/drawing/2014/main" id="{B8CFCF21-C989-2660-F7CD-6811731A5C83}"/>
                </a:ext>
              </a:extLst>
            </p:cNvPr>
            <p:cNvSpPr/>
            <p:nvPr/>
          </p:nvSpPr>
          <p:spPr>
            <a:xfrm>
              <a:off x="-2423" y="-25893"/>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Role of Layout Components in Routing</a:t>
              </a:r>
            </a:p>
          </p:txBody>
        </p:sp>
        <p:sp>
          <p:nvSpPr>
            <p:cNvPr id="19" name="Google Shape;110;p2">
              <a:extLst>
                <a:ext uri="{FF2B5EF4-FFF2-40B4-BE49-F238E27FC236}">
                  <a16:creationId xmlns:a16="http://schemas.microsoft.com/office/drawing/2014/main" id="{EA4EE72A-D22C-DA1A-5049-9308031AF2D8}"/>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2008574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2B3A85F-4248-B3DE-50F0-95A9F4FF021C}"/>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4DAAC9E-1A32-D9B8-D946-FFAD2D4D9494}"/>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FDA16079-2DD9-C503-8ABE-9E481F8FE4D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F874885-CE68-D837-7A10-36F52D1DD8D2}"/>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4EE472A4-EFFB-EE98-53A9-B52D5092282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BF988BD1-DB74-62AE-A160-4F3F7DADCC5E}"/>
              </a:ext>
            </a:extLst>
          </p:cNvPr>
          <p:cNvSpPr txBox="1"/>
          <p:nvPr/>
        </p:nvSpPr>
        <p:spPr>
          <a:xfrm>
            <a:off x="499282" y="1271748"/>
            <a:ext cx="8525963" cy="2800726"/>
          </a:xfrm>
          <a:prstGeom prst="rect">
            <a:avLst/>
          </a:prstGeom>
          <a:noFill/>
          <a:ln>
            <a:noFill/>
          </a:ln>
        </p:spPr>
        <p:txBody>
          <a:bodyPr spcFirstLastPara="1" wrap="square" lIns="91425" tIns="45700" rIns="91425" bIns="45700" anchor="t" anchorCtr="0">
            <a:spAutoFit/>
          </a:bodyPr>
          <a:lstStyle/>
          <a:p>
            <a:pPr marL="285750" indent="-285750">
              <a:buFont typeface="Wingdings" panose="05000000000000000000" pitchFamily="2" charset="2"/>
              <a:buChar char="Ø"/>
            </a:pPr>
            <a:r>
              <a:rPr lang="en-GB" sz="1600" dirty="0"/>
              <a:t>Enables smooth client-side navigation</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dirty="0"/>
              <a:t>Improves performance</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dirty="0"/>
              <a:t>Supports dynamic and nested routing</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dirty="0"/>
              <a:t>Allows layout-based page structure</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dirty="0"/>
              <a:t>Easy to integrate with modern React apps</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dirty="0"/>
              <a:t>React Router is widely used in real-world React applications.</a:t>
            </a:r>
          </a:p>
        </p:txBody>
      </p:sp>
      <p:sp>
        <p:nvSpPr>
          <p:cNvPr id="10" name="TextBox 9">
            <a:extLst>
              <a:ext uri="{FF2B5EF4-FFF2-40B4-BE49-F238E27FC236}">
                <a16:creationId xmlns:a16="http://schemas.microsoft.com/office/drawing/2014/main" id="{A40AB9E7-FA1B-2180-1114-7EA7E13C287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grpSp>
        <p:nvGrpSpPr>
          <p:cNvPr id="17" name="Google Shape;108;p2">
            <a:extLst>
              <a:ext uri="{FF2B5EF4-FFF2-40B4-BE49-F238E27FC236}">
                <a16:creationId xmlns:a16="http://schemas.microsoft.com/office/drawing/2014/main" id="{EB0BB29F-3014-1C4D-9F68-1AF47574D5E1}"/>
              </a:ext>
            </a:extLst>
          </p:cNvPr>
          <p:cNvGrpSpPr/>
          <p:nvPr/>
        </p:nvGrpSpPr>
        <p:grpSpPr>
          <a:xfrm>
            <a:off x="648523" y="415468"/>
            <a:ext cx="8241475" cy="856280"/>
            <a:chOff x="-2423" y="-25893"/>
            <a:chExt cx="5580934" cy="856280"/>
          </a:xfrm>
          <a:noFill/>
        </p:grpSpPr>
        <p:sp>
          <p:nvSpPr>
            <p:cNvPr id="18" name="Google Shape;109;p2">
              <a:extLst>
                <a:ext uri="{FF2B5EF4-FFF2-40B4-BE49-F238E27FC236}">
                  <a16:creationId xmlns:a16="http://schemas.microsoft.com/office/drawing/2014/main" id="{E89A0A6C-F65F-9F8B-BC2F-F7294AAC8BB4}"/>
                </a:ext>
              </a:extLst>
            </p:cNvPr>
            <p:cNvSpPr/>
            <p:nvPr/>
          </p:nvSpPr>
          <p:spPr>
            <a:xfrm>
              <a:off x="-2423" y="-25893"/>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Advantages of React Router</a:t>
              </a:r>
            </a:p>
          </p:txBody>
        </p:sp>
        <p:sp>
          <p:nvSpPr>
            <p:cNvPr id="19" name="Google Shape;110;p2">
              <a:extLst>
                <a:ext uri="{FF2B5EF4-FFF2-40B4-BE49-F238E27FC236}">
                  <a16:creationId xmlns:a16="http://schemas.microsoft.com/office/drawing/2014/main" id="{7EE74BBA-349D-DCAB-218C-A5F4D3E87B45}"/>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661417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D125DA-5795-1ED7-42A7-881954858B83}"/>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BD034F6-D0A8-3617-C48A-EF3F2BBCA74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A248773E-2791-9DD1-7048-E13511446B77}"/>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CE8A7AF-61BF-7388-99D1-F2464B4A1D9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F2F672BC-3B1F-5F05-B65C-64242F1016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5E6FC602-0078-6F45-1775-F213F30D9D98}"/>
              </a:ext>
            </a:extLst>
          </p:cNvPr>
          <p:cNvSpPr txBox="1"/>
          <p:nvPr/>
        </p:nvSpPr>
        <p:spPr>
          <a:xfrm>
            <a:off x="499282" y="1271748"/>
            <a:ext cx="8525963" cy="2308284"/>
          </a:xfrm>
          <a:prstGeom prst="rect">
            <a:avLst/>
          </a:prstGeom>
          <a:noFill/>
          <a:ln>
            <a:noFill/>
          </a:ln>
        </p:spPr>
        <p:txBody>
          <a:bodyPr spcFirstLastPara="1" wrap="square" lIns="91425" tIns="45700" rIns="91425" bIns="45700" anchor="t" anchorCtr="0">
            <a:spAutoFit/>
          </a:bodyPr>
          <a:lstStyle/>
          <a:p>
            <a:r>
              <a:rPr lang="en-GB" sz="1600" dirty="0"/>
              <a:t>React Router is commonly used in:</a:t>
            </a:r>
          </a:p>
          <a:p>
            <a:pPr marL="285750" indent="-285750">
              <a:buFont typeface="Wingdings" panose="05000000000000000000" pitchFamily="2" charset="2"/>
              <a:buChar char="Ø"/>
            </a:pPr>
            <a:endParaRPr lang="en-GB" sz="1600" dirty="0"/>
          </a:p>
          <a:p>
            <a:pPr marL="285750" indent="-285750">
              <a:buFont typeface="Arial" panose="020B0604020202020204" pitchFamily="34" charset="0"/>
              <a:buChar char="•"/>
            </a:pPr>
            <a:r>
              <a:rPr lang="en-GB" sz="1600" dirty="0"/>
              <a:t>E-commerce applications (product pages)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Social media platforms (user profiles)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Dashboards and admin panels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Content-based applications (blogs, news sites)</a:t>
            </a:r>
          </a:p>
        </p:txBody>
      </p:sp>
      <p:sp>
        <p:nvSpPr>
          <p:cNvPr id="10" name="TextBox 9">
            <a:extLst>
              <a:ext uri="{FF2B5EF4-FFF2-40B4-BE49-F238E27FC236}">
                <a16:creationId xmlns:a16="http://schemas.microsoft.com/office/drawing/2014/main" id="{4E2F737A-C785-34D3-5B2A-D42CB089294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grpSp>
        <p:nvGrpSpPr>
          <p:cNvPr id="17" name="Google Shape;108;p2">
            <a:extLst>
              <a:ext uri="{FF2B5EF4-FFF2-40B4-BE49-F238E27FC236}">
                <a16:creationId xmlns:a16="http://schemas.microsoft.com/office/drawing/2014/main" id="{8D9F469C-912A-6212-3997-9C64B3556016}"/>
              </a:ext>
            </a:extLst>
          </p:cNvPr>
          <p:cNvGrpSpPr/>
          <p:nvPr/>
        </p:nvGrpSpPr>
        <p:grpSpPr>
          <a:xfrm>
            <a:off x="648523" y="415468"/>
            <a:ext cx="8241475" cy="856280"/>
            <a:chOff x="-2423" y="-25893"/>
            <a:chExt cx="5580934" cy="856280"/>
          </a:xfrm>
          <a:noFill/>
        </p:grpSpPr>
        <p:sp>
          <p:nvSpPr>
            <p:cNvPr id="18" name="Google Shape;109;p2">
              <a:extLst>
                <a:ext uri="{FF2B5EF4-FFF2-40B4-BE49-F238E27FC236}">
                  <a16:creationId xmlns:a16="http://schemas.microsoft.com/office/drawing/2014/main" id="{28A21C23-9DA6-39AF-6EDA-0CE11779BBAB}"/>
                </a:ext>
              </a:extLst>
            </p:cNvPr>
            <p:cNvSpPr/>
            <p:nvPr/>
          </p:nvSpPr>
          <p:spPr>
            <a:xfrm>
              <a:off x="-2423" y="-25893"/>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Real-World Use Cases</a:t>
              </a:r>
            </a:p>
          </p:txBody>
        </p:sp>
        <p:sp>
          <p:nvSpPr>
            <p:cNvPr id="19" name="Google Shape;110;p2">
              <a:extLst>
                <a:ext uri="{FF2B5EF4-FFF2-40B4-BE49-F238E27FC236}">
                  <a16:creationId xmlns:a16="http://schemas.microsoft.com/office/drawing/2014/main" id="{B884DD9A-D615-DD2B-D638-707D9209AE5C}"/>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062235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712518" y="862360"/>
            <a:ext cx="8280399" cy="3850889"/>
          </a:xfrm>
          <a:prstGeom prst="rect">
            <a:avLst/>
          </a:prstGeom>
          <a:noFill/>
          <a:ln>
            <a:noFill/>
          </a:ln>
        </p:spPr>
        <p:txBody>
          <a:bodyPr spcFirstLastPara="1" wrap="square" lIns="91425" tIns="45700" rIns="91425" bIns="45700" anchor="t" anchorCtr="0">
            <a:normAutofit lnSpcReduction="10000"/>
          </a:bodyPr>
          <a:lstStyle/>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1. Client-side routing avoids: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State management</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Page reloads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API calls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Components</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2. React Router is used to:</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Manage state</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Handle routing</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Fetch data</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Style components</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3. Dynamic routes are used to:</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Create static pages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Handle URL parameters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Improve CSS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Manage forms</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endParaRPr sz="1100" b="1" i="0" u="none" dirty="0">
              <a:solidFill>
                <a:schemeClr val="bg2"/>
              </a:solidFill>
              <a:latin typeface="+mj-lt"/>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Tree>
    <p:extLst>
      <p:ext uri="{BB962C8B-B14F-4D97-AF65-F5344CB8AC3E}">
        <p14:creationId xmlns:p14="http://schemas.microsoft.com/office/powerpoint/2010/main" val="3027036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385500" y="1422025"/>
            <a:ext cx="8942119" cy="2462172"/>
          </a:xfrm>
          <a:prstGeom prst="rect">
            <a:avLst/>
          </a:prstGeom>
          <a:noFill/>
          <a:ln>
            <a:noFill/>
          </a:ln>
        </p:spPr>
        <p:txBody>
          <a:bodyPr spcFirstLastPara="1" wrap="square" lIns="91425" tIns="45700" rIns="91425" bIns="45700" anchor="t" anchorCtr="0">
            <a:spAutoFit/>
          </a:bodyPr>
          <a:lstStyle/>
          <a:p>
            <a:r>
              <a:rPr lang="en-GB" dirty="0"/>
              <a:t>• React Router Official Documentation</a:t>
            </a:r>
            <a:br>
              <a:rPr lang="en-GB" dirty="0"/>
            </a:br>
            <a:r>
              <a:rPr lang="en-GB" dirty="0">
                <a:hlinkClick r:id="rId3"/>
              </a:rPr>
              <a:t>https://reactrouter.com</a:t>
            </a:r>
            <a:endParaRPr lang="en-GB" dirty="0"/>
          </a:p>
          <a:p>
            <a:endParaRPr lang="en-GB" dirty="0"/>
          </a:p>
          <a:p>
            <a:r>
              <a:rPr lang="en-GB" dirty="0"/>
              <a:t>• React Official Docs – Routing Concepts</a:t>
            </a:r>
            <a:br>
              <a:rPr lang="en-GB" dirty="0"/>
            </a:br>
            <a:r>
              <a:rPr lang="en-GB" dirty="0">
                <a:hlinkClick r:id="rId4"/>
              </a:rPr>
              <a:t>https://react.dev</a:t>
            </a:r>
            <a:endParaRPr lang="en-GB" dirty="0"/>
          </a:p>
          <a:p>
            <a:endParaRPr lang="en-GB" dirty="0"/>
          </a:p>
          <a:p>
            <a:r>
              <a:rPr lang="en-GB" dirty="0"/>
              <a:t>• W3Schools – React Router</a:t>
            </a:r>
            <a:br>
              <a:rPr lang="en-GB" dirty="0"/>
            </a:br>
            <a:r>
              <a:rPr lang="en-GB" dirty="0">
                <a:hlinkClick r:id="rId5"/>
              </a:rPr>
              <a:t>https://www.w3schools.com/react/react_router.asp</a:t>
            </a:r>
            <a:endParaRPr lang="en-GB" dirty="0"/>
          </a:p>
          <a:p>
            <a:endParaRPr lang="en-GB" dirty="0"/>
          </a:p>
          <a:p>
            <a:r>
              <a:rPr lang="en-GB" dirty="0"/>
              <a:t>• MDN – Single Page Applications</a:t>
            </a:r>
            <a:br>
              <a:rPr lang="en-GB" dirty="0"/>
            </a:br>
            <a:r>
              <a:rPr lang="en-GB" dirty="0">
                <a:hlinkClick r:id="rId6"/>
              </a:rPr>
              <a:t>https://developer.mozilla.org/en-US/docs/Glossary/SPA</a:t>
            </a:r>
            <a:endParaRPr lang="en-GB" dirty="0"/>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Tree>
    <p:extLst>
      <p:ext uri="{BB962C8B-B14F-4D97-AF65-F5344CB8AC3E}">
        <p14:creationId xmlns:p14="http://schemas.microsoft.com/office/powerpoint/2010/main" val="229478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tushar.e18319@cumail.in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3025</TotalTime>
  <Words>1428</Words>
  <Application>Microsoft Office PowerPoint</Application>
  <PresentationFormat>On-screen Show (16:9)</PresentationFormat>
  <Paragraphs>233</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 Black</vt:lpstr>
      <vt:lpstr>Calibri</vt:lpstr>
      <vt:lpstr>Arial</vt:lpstr>
      <vt:lpstr>Wingdings</vt:lpstr>
      <vt:lpstr>Lato</vt:lpstr>
      <vt:lpstr>Vladimir Script</vt:lpstr>
      <vt:lpstr>Times New Roman</vt:lpstr>
      <vt:lpstr>Cambria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Tushar Sood</dc:creator>
  <cp:lastModifiedBy>Pankaj</cp:lastModifiedBy>
  <cp:revision>83</cp:revision>
  <dcterms:modified xsi:type="dcterms:W3CDTF">2025-12-14T10:43:59Z</dcterms:modified>
</cp:coreProperties>
</file>