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288" r:id="rId15"/>
    <p:sldId id="300" r:id="rId16"/>
    <p:sldId id="305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Vladimir Script" panose="03050402040407070305" pitchFamily="66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Header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estfulapi.net/security" TargetMode="External"/><Relationship Id="rId5" Type="http://schemas.openxmlformats.org/officeDocument/2006/relationships/hyperlink" Target="https://owasp.org/www-project-api-security/" TargetMode="External"/><Relationship Id="rId4" Type="http://schemas.openxmlformats.org/officeDocument/2006/relationships/hyperlink" Target="https://jwt.io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2                    Lecture No.4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API communication (Headers, Auth tokens)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556087"/>
            <a:ext cx="90399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importance of API security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the role of HTTP headers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authentication tokens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Differentiate between common token types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748144" y="218172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Why Secure API Communication is Important ?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050753"/>
            <a:ext cx="862731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APIs often handle sensitive data such as user credentials, personal information, and financial records.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Without proper security, APIs become vulnerable to attacks such as data breaches, unauthorized access, and data manipulation.</a:t>
            </a:r>
          </a:p>
          <a:p>
            <a:pPr algn="just">
              <a:lnSpc>
                <a:spcPct val="150000"/>
              </a:lnSpc>
            </a:pPr>
            <a:endParaRPr lang="en-GB" sz="1600" dirty="0"/>
          </a:p>
          <a:p>
            <a:pPr algn="just">
              <a:lnSpc>
                <a:spcPct val="150000"/>
              </a:lnSpc>
            </a:pPr>
            <a:r>
              <a:rPr lang="en-GB" sz="1600" b="1" dirty="0"/>
              <a:t>Secure API communication helps to: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Protect sensitive information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Prevent unauthorized access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Ensure data integrity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Maintain user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What are HTTP Headers 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HTTP headers are key–value pairs sent along with API requests and responses.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They carry metadata that helps the server and client understand how to process the request or response.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Headers play a critical role in authentication, content negotiation, and security enforcement.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Type of HTTP Headers 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HTTP headers are broadly classified into:</a:t>
            </a:r>
          </a:p>
          <a:p>
            <a:pPr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>
              <a:buClr>
                <a:schemeClr val="bg2"/>
              </a:buClr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Request headers </a:t>
            </a:r>
            <a:r>
              <a:rPr lang="en-GB" sz="1600" dirty="0">
                <a:solidFill>
                  <a:schemeClr val="bg2"/>
                </a:solidFill>
                <a:latin typeface="+mj-lt"/>
              </a:rPr>
              <a:t>– Sent by the client</a:t>
            </a:r>
          </a:p>
          <a:p>
            <a:pPr>
              <a:buClr>
                <a:schemeClr val="bg2"/>
              </a:buClr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Response headers </a:t>
            </a:r>
            <a:r>
              <a:rPr lang="en-GB" sz="1600" dirty="0">
                <a:solidFill>
                  <a:schemeClr val="bg2"/>
                </a:solidFill>
                <a:latin typeface="+mj-lt"/>
              </a:rPr>
              <a:t>– Sent by the server</a:t>
            </a:r>
          </a:p>
          <a:p>
            <a:pPr>
              <a:buClr>
                <a:schemeClr val="bg2"/>
              </a:buClr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Security headers </a:t>
            </a:r>
            <a:r>
              <a:rPr lang="en-GB" sz="1600" dirty="0">
                <a:solidFill>
                  <a:schemeClr val="bg2"/>
                </a:solidFill>
                <a:latin typeface="+mj-lt"/>
              </a:rPr>
              <a:t>– Enforce security rules</a:t>
            </a:r>
          </a:p>
          <a:p>
            <a:pPr marL="76200" indent="0"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Headers are essential for controlling communication </a:t>
            </a:r>
            <a:r>
              <a:rPr lang="en-GB" sz="1600" dirty="0" err="1">
                <a:solidFill>
                  <a:schemeClr val="bg2"/>
                </a:solidFill>
                <a:latin typeface="+mj-lt"/>
              </a:rPr>
              <a:t>behavior</a:t>
            </a:r>
            <a:r>
              <a:rPr lang="en-GB" sz="1600" dirty="0">
                <a:solidFill>
                  <a:schemeClr val="bg2"/>
                </a:solidFill>
                <a:latin typeface="+mj-l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Common Security-Related Headers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94207" y="1171600"/>
            <a:ext cx="8001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Some commonly used security headers include: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Authorization</a:t>
            </a:r>
            <a:r>
              <a:rPr lang="en-GB" sz="1600" dirty="0"/>
              <a:t> – Sends authentication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Content-Type</a:t>
            </a:r>
            <a:r>
              <a:rPr lang="en-GB" sz="1600" dirty="0"/>
              <a:t> – Specifies request data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Accept</a:t>
            </a:r>
            <a:r>
              <a:rPr lang="en-GB" sz="1600" dirty="0"/>
              <a:t> – Indicates expected response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X-Content-Type-Options </a:t>
            </a:r>
            <a:r>
              <a:rPr lang="en-GB" sz="1600" dirty="0"/>
              <a:t>– Prevents MIME type sniffing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X-Frame-Options</a:t>
            </a:r>
            <a:r>
              <a:rPr lang="en-GB" sz="1600" dirty="0"/>
              <a:t> – Protects against clickjacking</a:t>
            </a:r>
          </a:p>
          <a:p>
            <a:endParaRPr lang="en-GB" sz="1600" dirty="0"/>
          </a:p>
          <a:p>
            <a:r>
              <a:rPr lang="en-GB" sz="1600" dirty="0"/>
              <a:t>These headers improve API security and reliability.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Authorization Header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383584" y="1332546"/>
            <a:ext cx="897774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Authorization header is used to send authentication information to the server.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typically contains an authentication token or credentials.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This header ensures that only authorized users can access protected API endpoints.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Authorization Tokens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383584" y="1332546"/>
            <a:ext cx="8977746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Authentication tokens are unique strings issued by the server after successful authentication.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act as proof of identity for subsequent API requests.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Tokens eliminate the need to send usernames and passwords repeatedly, making communication more secure.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Types of Authorization Tokens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451262" y="1173022"/>
            <a:ext cx="8977746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en-IN" sz="1600" b="1" dirty="0"/>
              <a:t>Common authentication token types include: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Bearer Tokens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JWT (JSON Web Tokens)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OAuth Tokens</a:t>
            </a:r>
          </a:p>
          <a:p>
            <a:pPr fontAlgn="base">
              <a:lnSpc>
                <a:spcPct val="200000"/>
              </a:lnSpc>
            </a:pPr>
            <a:r>
              <a:rPr lang="en-IN" sz="1600" dirty="0"/>
              <a:t>Each token type serves a specific purpose in securing API communication.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Bearer Tokens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438832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57FA0CB-C0E2-2561-594C-E584D83C7DB8}"/>
              </a:ext>
            </a:extLst>
          </p:cNvPr>
          <p:cNvSpPr txBox="1"/>
          <p:nvPr/>
        </p:nvSpPr>
        <p:spPr>
          <a:xfrm>
            <a:off x="451262" y="1173022"/>
            <a:ext cx="869273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Bearer tokens are simple tokens sent in the Authorization header.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Any client possessing the token is considered authenticated.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are widely used due to simplicity but must be transmitted over HTTPS to prevent token theft.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JSON Web Tokens (JWT)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415633" y="1181180"/>
            <a:ext cx="8977746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1600" dirty="0"/>
              <a:t>JWT is a compact and self-contained token format used for secure data transmission.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b="1" dirty="0"/>
              <a:t>A JWT consists of three parts:</a:t>
            </a:r>
          </a:p>
          <a:p>
            <a:pPr fontAlgn="base"/>
            <a:endParaRPr lang="en-GB" sz="1600" dirty="0"/>
          </a:p>
          <a:p>
            <a:pPr marL="342900" indent="-342900" fontAlgn="base">
              <a:buFont typeface="+mj-lt"/>
              <a:buAutoNum type="arabicPeriod"/>
            </a:pPr>
            <a:r>
              <a:rPr lang="en-GB" sz="1600" dirty="0"/>
              <a:t>Header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GB" sz="1600" dirty="0"/>
              <a:t>Payload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GB" sz="1600" dirty="0"/>
              <a:t>Signature</a:t>
            </a:r>
          </a:p>
          <a:p>
            <a:pPr fontAlgn="base"/>
            <a:endParaRPr lang="en-GB" sz="1600" dirty="0"/>
          </a:p>
          <a:p>
            <a:pPr fontAlgn="base"/>
            <a:r>
              <a:rPr lang="en-GB" sz="1600" dirty="0"/>
              <a:t>JWTs are digitally signed to ensure data integrity and authenticity.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 How Auth Tokens Work ?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415633" y="1194726"/>
            <a:ext cx="864524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The typical authentication flow includes: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User logs in with credentials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Server validates credentials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Server issues an authentication token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Client stores the token securely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Client sends token with every API request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This mechanism ensures secure and stateless communication.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Advantages of Token-Based Authentication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7B435D8-92FD-4600-B059-EEC9E5B6731D}"/>
              </a:ext>
            </a:extLst>
          </p:cNvPr>
          <p:cNvSpPr txBox="1"/>
          <p:nvPr/>
        </p:nvSpPr>
        <p:spPr>
          <a:xfrm>
            <a:off x="498760" y="1305170"/>
            <a:ext cx="864524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Stateless authentication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Scalable and efficient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No need to store session data on server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Works well with REST APIs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Suitable for web and mobile apps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Token-based authentication is widely adopted in modern systems.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Which header is used to send authentication tokens?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Content-Type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Accept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Authorization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Host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JWT stands for: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Java Web Token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JSON Web Token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JavaScript Web Tool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JSON Wide Token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3. HTTPS is important because it: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Improves UI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Encrypts data in transit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Stores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Increases API speed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B</a:t>
            </a:r>
            <a:endParaRPr sz="11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85500" y="1422025"/>
            <a:ext cx="8942119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MDN Web Docs – HTTP Headers</a:t>
            </a:r>
            <a:br>
              <a:rPr lang="en-GB" dirty="0"/>
            </a:br>
            <a:r>
              <a:rPr lang="en-GB" dirty="0">
                <a:hlinkClick r:id="rId3"/>
              </a:rPr>
              <a:t>https://developer.mozilla.org/en-US/docs/Web/HTTP/Headers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JWT Official Documentation</a:t>
            </a:r>
            <a:br>
              <a:rPr lang="en-GB" dirty="0"/>
            </a:br>
            <a:r>
              <a:rPr lang="en-GB" dirty="0">
                <a:hlinkClick r:id="rId4"/>
              </a:rPr>
              <a:t>https://jwt.io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OWASP – API Security Top 10</a:t>
            </a:r>
            <a:br>
              <a:rPr lang="en-GB" dirty="0"/>
            </a:br>
            <a:r>
              <a:rPr lang="en-GB" dirty="0">
                <a:hlinkClick r:id="rId5"/>
              </a:rPr>
              <a:t>https://owasp.org/www-project-api-security/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REST API Security Guide</a:t>
            </a:r>
            <a:br>
              <a:rPr lang="en-GB" dirty="0"/>
            </a:br>
            <a:r>
              <a:rPr lang="en-GB" dirty="0">
                <a:hlinkClick r:id="rId6"/>
              </a:rPr>
              <a:t>https://restfulapi.net/security</a:t>
            </a:r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3078</TotalTime>
  <Words>769</Words>
  <Application>Microsoft Office PowerPoint</Application>
  <PresentationFormat>On-screen Show (16:9)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 Black</vt:lpstr>
      <vt:lpstr>Calibri</vt:lpstr>
      <vt:lpstr>Arial</vt:lpstr>
      <vt:lpstr>Wingdings</vt:lpstr>
      <vt:lpstr>Vladimir Script</vt:lpstr>
      <vt:lpstr>Lato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88</cp:revision>
  <dcterms:modified xsi:type="dcterms:W3CDTF">2025-12-14T12:51:46Z</dcterms:modified>
</cp:coreProperties>
</file>