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3" r:id="rId3"/>
    <p:sldId id="306" r:id="rId4"/>
    <p:sldId id="285" r:id="rId5"/>
    <p:sldId id="309" r:id="rId6"/>
    <p:sldId id="312" r:id="rId7"/>
    <p:sldId id="343" r:id="rId8"/>
    <p:sldId id="339" r:id="rId9"/>
    <p:sldId id="344" r:id="rId10"/>
    <p:sldId id="313" r:id="rId11"/>
    <p:sldId id="345" r:id="rId12"/>
    <p:sldId id="341" r:id="rId13"/>
    <p:sldId id="342" r:id="rId14"/>
    <p:sldId id="331" r:id="rId15"/>
    <p:sldId id="346" r:id="rId16"/>
    <p:sldId id="347" r:id="rId17"/>
    <p:sldId id="288" r:id="rId18"/>
    <p:sldId id="300" r:id="rId19"/>
    <p:sldId id="305" r:id="rId2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Vladimir Script" panose="03050402040407070305" pitchFamily="66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A40620E-3089-5F8D-090A-DB7E941B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3026ADA-F4BD-437C-FBCE-91ADC1056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74D4E52-C230-743D-BB4C-629D38BE1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26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C98FE2C-1CDF-E931-6C8D-8033996C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B2D0D7F-1F1B-1C90-D5D7-24DC80308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52CA0BE-CA0C-9A44-B92D-440C81F36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29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F234057-4236-DC70-A860-FADD549E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1E6D831-D4C0-2AB7-8B3D-69BEE7395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60467DB-E536-FF57-C961-248B6C675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788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2E23B1D-8DE3-1C5E-0151-15F6DF75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199B38D-8F22-651E-3F37-238848804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24FE1A6-876A-3A15-5CCF-BDD06CCE9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933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F2EAF43-0C35-C400-0344-3B8A96A4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6AF32E5-F98E-803F-46B8-3280593DB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E15BFB9-CC2F-AB67-25B2-F78994C09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965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696166-8134-56B0-20BE-CB58AF9C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13FC404-3FDA-4DD4-128A-FE3EB7D17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80B64E9-FF0A-BC3D-0C6C-16DB9763F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20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D5E5F6B-7CA9-94BA-9BC5-039D723A7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CAF5DFC-C92A-EBC9-9206-466587D00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8743572-B246-15D1-FAE8-2BF07DC39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942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Method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ing.postman.com/" TargetMode="External"/><Relationship Id="rId5" Type="http://schemas.openxmlformats.org/officeDocument/2006/relationships/hyperlink" Target="https://www.w3schools.com/tags/ref_httpmethods.asp" TargetMode="External"/><Relationship Id="rId4" Type="http://schemas.openxmlformats.org/officeDocument/2006/relationships/hyperlink" Target="https://restfulapi.net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40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2                    Lecture No.3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REST APIs (GET, POST, PUT, DELETE)</a:t>
            </a:r>
            <a:endParaRPr lang="en-US" b="1" dirty="0"/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279088"/>
            <a:ext cx="90399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what a REST API is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Explaining HTTP methods used in REST APIs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Differentiating between GET, POST, PUT, and DELETE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how data is exchanged between client and server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real-world usage of REST API operations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748144" y="218172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What is a REST API?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293603"/>
            <a:ext cx="862731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REST stands for Representational State Transfer.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 REST API is an architectural style that allows systems to communicate over the web using HTTP protocols.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REST APIs are stateless, meaning each request contains all the information required to process it.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commonly exchange data in JSON format, which is lightweight and easy to parse.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Client–Server Communication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In a REST-based system: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The client sends a request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The server processes the request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The server sends a response back to the client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This separation improves scalability, security, and maintainability of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HTTP Methods in REST APIs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BAF62-B5BB-6B76-CF56-7E001DCB8775}"/>
              </a:ext>
            </a:extLst>
          </p:cNvPr>
          <p:cNvSpPr txBox="1"/>
          <p:nvPr/>
        </p:nvSpPr>
        <p:spPr>
          <a:xfrm>
            <a:off x="449602" y="1056481"/>
            <a:ext cx="8001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REST APIs use HTTP methods to define the type of operation to perform on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r>
              <a:rPr lang="en-GB" sz="1600" b="1" dirty="0"/>
              <a:t>Common HTTP methods include: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GET</a:t>
            </a:r>
            <a:r>
              <a:rPr lang="en-GB" sz="1600" dirty="0"/>
              <a:t> – Retrieve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POST</a:t>
            </a:r>
            <a:r>
              <a:rPr lang="en-GB" sz="1600" dirty="0"/>
              <a:t> – Create new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PUT</a:t>
            </a:r>
            <a:r>
              <a:rPr lang="en-GB" sz="1600" dirty="0"/>
              <a:t> – Update existing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DELETE</a:t>
            </a:r>
            <a:r>
              <a:rPr lang="en-GB" sz="1600" dirty="0"/>
              <a:t> – Remove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r>
              <a:rPr lang="en-GB" sz="1600" dirty="0"/>
              <a:t>Each method represents a specific action on server resources.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GET Method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383584" y="1121533"/>
            <a:ext cx="8977746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 GET method is used to retrieve data from the server.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It does not modify server data and is considered a read-only operation.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b="1" dirty="0"/>
              <a:t>Key characteristics of GET: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Data is requested using a URL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Safe and idempotent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Can be cached by browsers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Does not change server state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 Cases of GET Method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415633" y="1181180"/>
            <a:ext cx="8977746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GB" sz="1600" b="1" dirty="0"/>
              <a:t>GET requests are commonly used for: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Fetching user details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Retrieving product lists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Displaying dashboard data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Loading static or dynamic content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dirty="0"/>
              <a:t>GET is the most frequently used HTTP method in web applications.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POST Method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DBA305-99A9-2627-CC23-48241F7BDC93}"/>
              </a:ext>
            </a:extLst>
          </p:cNvPr>
          <p:cNvSpPr txBox="1"/>
          <p:nvPr/>
        </p:nvSpPr>
        <p:spPr>
          <a:xfrm>
            <a:off x="415633" y="1194726"/>
            <a:ext cx="864524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POST method is used to send data to the server to create a new resource.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Data is sent in the request body, not in the URL.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b="1" dirty="0"/>
              <a:t>Key characteristics of POST:</a:t>
            </a:r>
            <a:endParaRPr lang="en-GB" sz="16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Used for data creation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Not idempotent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Data is securely sent in request body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Can modify server state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Use Cases of POST Method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7B435D8-92FD-4600-B059-EEC9E5B6731D}"/>
              </a:ext>
            </a:extLst>
          </p:cNvPr>
          <p:cNvSpPr txBox="1"/>
          <p:nvPr/>
        </p:nvSpPr>
        <p:spPr>
          <a:xfrm>
            <a:off x="498760" y="1219131"/>
            <a:ext cx="864524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1600" b="1" dirty="0"/>
              <a:t>POST requests are commonly used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User registration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Login authentication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Submitting forms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Creating new records in a database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r>
              <a:rPr lang="en-GB" sz="1600" dirty="0"/>
              <a:t>POST is essential for handling user input and form submissions.</a:t>
            </a:r>
          </a:p>
          <a:p>
            <a:pPr fontAlgn="base"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856B544-7EFD-A3F9-0AEF-9FE15700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0D73656-3772-F07D-A15C-6FE2A1BEC944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98F6BBE-B159-465A-934B-92B51DD6224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B2F6733-41B6-49C3-6C58-81445EE09CB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749E346-8CF2-76ED-2B63-A83F534FF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24AFBD17-599D-A9C5-B47B-6BB71EB243A7}"/>
              </a:ext>
            </a:extLst>
          </p:cNvPr>
          <p:cNvSpPr txBox="1"/>
          <p:nvPr/>
        </p:nvSpPr>
        <p:spPr>
          <a:xfrm>
            <a:off x="318104" y="1123340"/>
            <a:ext cx="8707141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The PUT method is used to update existing data on the server.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It replaces the entire resource with new data provided in the request.</a:t>
            </a:r>
          </a:p>
          <a:p>
            <a:endParaRPr lang="en-GB" sz="1600" dirty="0"/>
          </a:p>
          <a:p>
            <a:r>
              <a:rPr lang="en-GB" sz="1600" b="1" dirty="0"/>
              <a:t>Key characteristics of PUT: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Used for updating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Idempotent (same request gives same result)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Requires complete data of the resource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PUT ensures data consistency during updates.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F76D3-1C67-D56C-1204-3AAFD499F3E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E54ACBA-E913-5D9B-23F8-C2BDA02F49F6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140E404-9819-8236-CC47-1FF8D42D4E94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PUT Method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19993986-5375-3520-905D-539005CE73B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99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BED9428-C867-A84F-EEE8-E9FCE765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73BFD92-C179-D0B6-D710-78A9F82B4DD6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E1A53E7-8532-12B6-9861-002E2408EA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C267C85-E0E6-9D50-5027-41E54379588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8CF2E1-ACF9-A947-A8A6-66474486D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6824B-76EC-3ADD-C152-25AD9FAD19DE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AAD377B-314F-3AC7-C37F-56B0F5C983D7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ED6602E-6691-35AC-A264-64F7121B6BD8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PUT v/s PATCH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C8D4110-415E-56BE-B394-FA225FE1AAD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BC3CC5-9A50-AE32-7EF0-4C9F12D52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942724"/>
              </p:ext>
            </p:extLst>
          </p:nvPr>
        </p:nvGraphicFramePr>
        <p:xfrm>
          <a:off x="311150" y="1946275"/>
          <a:ext cx="85217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97765622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418324085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82842451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2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2"/>
                          </a:solidFill>
                        </a:rPr>
                        <a:t>PUT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2"/>
                          </a:solidFill>
                        </a:rPr>
                        <a:t>PATCH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6850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Type of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Full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Partial update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176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Request body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Entire resource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Only modified fields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4497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Data loss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Yes (if fields missing)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8914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Network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2837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Idempotent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bg2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bg2"/>
                          </a:solidFill>
                        </a:rPr>
                        <a:t>Usually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765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2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50F2A49-37A2-9F01-6291-3CF4CE82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65334DD-2F4B-836D-8ED3-30E20C7FFE41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595FF9-F3C2-6259-72B9-C22968966B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D7F4CC-A3C4-BE90-EBF7-4277616E563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837A941-BF70-701B-BB38-BDE37022F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8BD907E-B35A-3BD5-4224-C5933A182BCA}"/>
              </a:ext>
            </a:extLst>
          </p:cNvPr>
          <p:cNvSpPr txBox="1"/>
          <p:nvPr/>
        </p:nvSpPr>
        <p:spPr>
          <a:xfrm>
            <a:off x="436859" y="1026315"/>
            <a:ext cx="8707141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 DELETE method is used to remove a resource from the server.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It permanently deletes the specified data.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b="1" dirty="0"/>
              <a:t>Key characteristics of DELETE: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Removes server data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Idempotent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Often returns confirmation status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dirty="0"/>
              <a:t>DELETE should be used carefully to avoid unintended data loss.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F6495-9F0D-5B06-20E7-3A5864C96D4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BBABAA2-5BB3-C883-2379-6680D514AC1E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D07CE03-BCEB-7D01-A9EC-A3B649A4F8C1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DELETE Method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5345B4E0-0302-DBA9-C004-D6F0402B50E5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200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6584FAA-BAF6-8F29-AFD6-50DD8F2A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6849020-6509-2DA9-B773-DD3B6797BD6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876C8BF-022C-4A96-E1A3-7B1E8EB1CF3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7901DD-778F-0E61-3B95-C0EDCFA28E2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B1F5ADD-AE7B-9B0A-38AE-24D0E6DD7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EEF44-8005-FE0E-3365-1D2FD48B730E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F4B41F38-73EE-69E0-F2D3-A1DB7CD8CE7A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C1599E8-9FB4-BCEA-878F-5C045753ED05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CRUD Operation Mapping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8916182-09CD-A1F7-8EE0-F4DD23F13AE0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18661D-2E69-2C53-9D32-16206DB29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767436"/>
              </p:ext>
            </p:extLst>
          </p:nvPr>
        </p:nvGraphicFramePr>
        <p:xfrm>
          <a:off x="436859" y="1760537"/>
          <a:ext cx="8117920" cy="21112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58960">
                  <a:extLst>
                    <a:ext uri="{9D8B030D-6E8A-4147-A177-3AD203B41FA5}">
                      <a16:colId xmlns:a16="http://schemas.microsoft.com/office/drawing/2014/main" val="2994209452"/>
                    </a:ext>
                  </a:extLst>
                </a:gridCol>
                <a:gridCol w="4058960">
                  <a:extLst>
                    <a:ext uri="{9D8B030D-6E8A-4147-A177-3AD203B41FA5}">
                      <a16:colId xmlns:a16="http://schemas.microsoft.com/office/drawing/2014/main" val="1902664720"/>
                    </a:ext>
                  </a:extLst>
                </a:gridCol>
              </a:tblGrid>
              <a:tr h="422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CRUD Operation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HTTP Method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16154"/>
                  </a:ext>
                </a:extLst>
              </a:tr>
              <a:tr h="422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567601"/>
                  </a:ext>
                </a:extLst>
              </a:tr>
              <a:tr h="422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812653"/>
                  </a:ext>
                </a:extLst>
              </a:tr>
              <a:tr h="422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77971"/>
                  </a:ext>
                </a:extLst>
              </a:tr>
              <a:tr h="422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DELETE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18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636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50E18-C2B5-1B6E-B5FF-43D01639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19C11AA-3341-E692-30C6-302CE09FBB9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0F81368-7B47-ED3C-38BB-237953032D5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4C79A58-1ED5-87B5-9480-C9389007963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849CF2D-43CC-7590-AB72-4919DD9D1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B1AD8FA-D98D-D78E-5AA4-DAC15D305757}"/>
              </a:ext>
            </a:extLst>
          </p:cNvPr>
          <p:cNvSpPr txBox="1"/>
          <p:nvPr/>
        </p:nvSpPr>
        <p:spPr>
          <a:xfrm>
            <a:off x="214796" y="1061821"/>
            <a:ext cx="881044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GB" sz="1600" b="1" dirty="0"/>
              <a:t>REST APIs respond with: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Status codes (200, 201, 400, 404, 500)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Response data (usually JSON)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Headers with metadata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32BB5-7146-575C-1F84-82756010D3F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61E8144F-6089-1B4D-49BD-1B06084EDB6B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C26B34B-A09A-09DB-138D-ACF131B2D12A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REST API Response Codes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B404ACF-A893-11DC-7307-81D33DABD87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A16D19-741F-8DED-4388-B3C97E164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160881"/>
              </p:ext>
            </p:extLst>
          </p:nvPr>
        </p:nvGraphicFramePr>
        <p:xfrm>
          <a:off x="304197" y="2722560"/>
          <a:ext cx="8521700" cy="2133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051756123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592157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Operation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Response Code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399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GET (success)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200 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63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POST (create)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201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47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PUT/PATCH (update)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200 OK / 204 No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8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204 No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464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Invalid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400 Bad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74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Unauthorized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401 Unauthorized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891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90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0A3FF72-2D67-BE77-FB7F-6C453DF6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0BBED94-7682-A375-1A85-2BFDD4F10042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A999135-48F5-2C96-98BB-DFF905C7A2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62FED92-371C-9C9C-279E-F029941D134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CF947E5-EE6A-18B6-031C-9CC90DA283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AEC93EAB-6681-DD4B-AAEE-769BB2A0240A}"/>
              </a:ext>
            </a:extLst>
          </p:cNvPr>
          <p:cNvSpPr txBox="1"/>
          <p:nvPr/>
        </p:nvSpPr>
        <p:spPr>
          <a:xfrm>
            <a:off x="499282" y="1191990"/>
            <a:ext cx="832661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Platform independent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Scalable and flexible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Stateless communication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Easy integration with frontend frameworks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Uses standard HTTP protocols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REST APIs are widely adopted in modern web and mobile applications.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5C640-C3DB-8833-2623-00A6EBDD44F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175754D7-EB8F-CD79-9420-A6D72220262D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E491B443-E387-0B3B-C4D3-F14B7E0E893B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Advantage of REST API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2E4E879-680F-5A52-AB76-19A4701280E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541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FCE94A4-CA18-F690-6A74-E2974C69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7CED6F1-9D83-0B33-0037-AB2464A7EAB2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B684F82-8FBB-A50F-CDE2-A6F8584E4E6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713864C-ECA7-2AE2-8811-BD2FE0E1ED8A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CEEEA8A-D50E-D68D-3531-FA1CB6476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0ECC1C1-5A03-F23B-6359-56A0AE3BD1F8}"/>
              </a:ext>
            </a:extLst>
          </p:cNvPr>
          <p:cNvSpPr txBox="1"/>
          <p:nvPr/>
        </p:nvSpPr>
        <p:spPr>
          <a:xfrm>
            <a:off x="499282" y="1191990"/>
            <a:ext cx="832661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GB" sz="1600" b="1" dirty="0"/>
              <a:t>REST API operations are used in: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E-commerce platforms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Social media applications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Banking and finance systems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Content management systems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Mobile and web applications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Almost all modern applications rely on REST APIs.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9C954-52E9-1EC1-3650-ED3B0161D79E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894E5A23-1EDE-4D40-98C0-33EEF6240F9E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FD8934B0-83D7-2A8A-BAFD-1650E04D0159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Real-World Applications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92742E9B-E840-1FE6-0101-C913226392C5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0343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Which HTTP method is used to retrieve data?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POST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PUT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GET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DELETE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Which method is used to create new data?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GET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POST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DELETE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PUT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3. PUT method is mainly used for: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Reading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Deleting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Updating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Fetching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  <a:endParaRPr sz="11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385500" y="1422025"/>
            <a:ext cx="8942119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dirty="0"/>
              <a:t>• MDN Web Docs – HTTP Methods</a:t>
            </a:r>
            <a:br>
              <a:rPr lang="en-IN" dirty="0"/>
            </a:br>
            <a:r>
              <a:rPr lang="en-IN" dirty="0">
                <a:hlinkClick r:id="rId3"/>
              </a:rPr>
              <a:t>https://developer.mozilla.org/en-US/docs/Web/HTTP/Methods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REST API Tutorial</a:t>
            </a:r>
            <a:br>
              <a:rPr lang="en-IN" dirty="0"/>
            </a:br>
            <a:r>
              <a:rPr lang="en-IN" dirty="0">
                <a:hlinkClick r:id="rId4"/>
              </a:rPr>
              <a:t>https://restfulapi.net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W3Schools – HTTP Methods</a:t>
            </a:r>
            <a:br>
              <a:rPr lang="en-IN" dirty="0"/>
            </a:br>
            <a:r>
              <a:rPr lang="en-IN" dirty="0">
                <a:hlinkClick r:id="rId5"/>
              </a:rPr>
              <a:t>https://www.w3schools.com/tags/ref_httpmethods.asp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Postman Learning </a:t>
            </a:r>
            <a:r>
              <a:rPr lang="en-IN" dirty="0" err="1"/>
              <a:t>Center</a:t>
            </a:r>
            <a:r>
              <a:rPr lang="en-IN" dirty="0"/>
              <a:t> – REST APIs</a:t>
            </a:r>
            <a:br>
              <a:rPr lang="en-IN" dirty="0"/>
            </a:br>
            <a:r>
              <a:rPr lang="en-IN" dirty="0">
                <a:hlinkClick r:id="rId6"/>
              </a:rPr>
              <a:t>https://learning.postman.com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3065</TotalTime>
  <Words>963</Words>
  <Application>Microsoft Office PowerPoint</Application>
  <PresentationFormat>On-screen Show (16:9)</PresentationFormat>
  <Paragraphs>264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 Black</vt:lpstr>
      <vt:lpstr>Calibri</vt:lpstr>
      <vt:lpstr>Arial</vt:lpstr>
      <vt:lpstr>Wingdings</vt:lpstr>
      <vt:lpstr>Vladimir Script</vt:lpstr>
      <vt:lpstr>Lato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86</cp:revision>
  <dcterms:modified xsi:type="dcterms:W3CDTF">2025-12-14T12:51:56Z</dcterms:modified>
</cp:coreProperties>
</file>