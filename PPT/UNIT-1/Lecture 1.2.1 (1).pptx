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6"/>
  </p:notesMasterIdLst>
  <p:sldIdLst>
    <p:sldId id="256" r:id="rId2"/>
    <p:sldId id="283" r:id="rId3"/>
    <p:sldId id="306" r:id="rId4"/>
    <p:sldId id="285" r:id="rId5"/>
    <p:sldId id="309" r:id="rId6"/>
    <p:sldId id="312" r:id="rId7"/>
    <p:sldId id="339" r:id="rId8"/>
    <p:sldId id="313" r:id="rId9"/>
    <p:sldId id="341" r:id="rId10"/>
    <p:sldId id="342" r:id="rId11"/>
    <p:sldId id="331" r:id="rId12"/>
    <p:sldId id="288" r:id="rId13"/>
    <p:sldId id="300" r:id="rId14"/>
    <p:sldId id="305" r:id="rId15"/>
  </p:sldIdLst>
  <p:sldSz cx="9144000" cy="5143500" type="screen16x9"/>
  <p:notesSz cx="6858000" cy="9144000"/>
  <p:embeddedFontLst>
    <p:embeddedFont>
      <p:font typeface="Arial Black" panose="020B0A04020102020204" pitchFamily="34" charset="0"/>
      <p:bold r:id="rId17"/>
    </p:embeddedFont>
    <p:embeddedFont>
      <p:font typeface="Cambria" panose="02040503050406030204" pitchFamily="18" charset="0"/>
      <p:regular r:id="rId18"/>
      <p:bold r:id="rId19"/>
      <p:italic r:id="rId20"/>
      <p:boldItalic r:id="rId21"/>
    </p:embeddedFont>
    <p:embeddedFont>
      <p:font typeface="Lato" panose="020F0502020204030203" pitchFamily="34" charset="0"/>
      <p:regular r:id="rId22"/>
      <p:bold r:id="rId23"/>
      <p:italic r:id="rId24"/>
      <p:boldItalic r:id="rId25"/>
    </p:embeddedFont>
    <p:embeddedFont>
      <p:font typeface="Vladimir Script" panose="03050402040407070305" pitchFamily="66" charset="0"/>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66"/>
  </p:normalViewPr>
  <p:slideViewPr>
    <p:cSldViewPr snapToGrid="0">
      <p:cViewPr varScale="1">
        <p:scale>
          <a:sx n="103" d="100"/>
          <a:sy n="103" d="100"/>
        </p:scale>
        <p:origin x="811" y="77"/>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45963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AE2F180-9A0B-4C89-E2A4-C820E350D8C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CB0DF4C-0C0C-F327-13CB-D147B885411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D3BD526-06AE-0DCC-FB9B-29E2E50FDB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4297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4E6E191-7A3F-DDE5-9BE0-7C2318399A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214E21D-CF7D-5069-DDED-FD92C19088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916B821-9BB8-4C7C-D798-8C8AC1714A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66759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E93D42F-A578-35C8-4DE2-AFBF6F7B549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5B0AE6F-9BF3-05DC-A9E3-C4AEA6BC745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C5276FB-61A1-1D7F-1C2B-F453FE277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610214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CF2FD77-3A12-327B-1017-A052503EB14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8A161CE-9003-05C7-BC6A-E295E288E9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D74D3CF-3163-F842-692B-5F05C0C1F9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00789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A40620E-3089-5F8D-090A-DB7E941B522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3026ADA-F4BD-437C-FBCE-91ADC10560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74D4E52-C230-743D-BB4C-629D38BE18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53426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F234057-4236-DC70-A860-FADD549E6C4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1E6D831-D4C0-2AB7-8B3D-69BEE73959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60467DB-E536-FF57-C961-248B6C6751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513788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2E23B1D-8DE3-1C5E-0151-15F6DF75C4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199B38D-8F22-651E-3F37-238848804F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24FE1A6-876A-3A15-5CCF-BDD06CCE91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026933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F2EAF43-0C35-C400-0344-3B8A96A4B52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6AF32E5-F98E-803F-46B8-3280593DB7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E15BFB9-CC2F-AB67-25B2-F78994C09E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782965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493993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26200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react.dev/reference/react/createContex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developer.mozilla.org/" TargetMode="External"/><Relationship Id="rId4" Type="http://schemas.openxmlformats.org/officeDocument/2006/relationships/hyperlink" Target="https://react.dev/learn/passing-data-deeply-with-context"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751231"/>
            <a:ext cx="8250688" cy="4028925"/>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6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Department </a:t>
            </a:r>
            <a:r>
              <a:rPr lang="en-US" sz="36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Of Computer Science &amp; Engineering</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Bachelor of Computer Science </a:t>
            </a:r>
            <a:r>
              <a:rPr lang="en-US" sz="2000" b="0" i="0" u="none" strike="noStrike" cap="none"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6th </a:t>
            </a: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a:t>
            </a:r>
            <a:endParaRPr lang="en-US" baseline="30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US" sz="2400" b="1" dirty="0"/>
              <a:t>Full Stack Development – II</a:t>
            </a:r>
          </a:p>
          <a:p>
            <a:pPr lvl="0" algn="ctr">
              <a:lnSpc>
                <a:spcPct val="90000"/>
              </a:lnSpc>
              <a:spcBef>
                <a:spcPts val="980"/>
              </a:spcBef>
              <a:buClr>
                <a:schemeClr val="dk1"/>
              </a:buClr>
              <a:buSzPts val="2800"/>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r>
              <a:rPr lang="en-GB" sz="2400" dirty="0">
                <a:solidFill>
                  <a:schemeClr val="bg2"/>
                </a:solidFill>
                <a:latin typeface="Calibri" panose="020F0502020204030204" pitchFamily="34" charset="0"/>
                <a:ea typeface="Calibri" panose="020F0502020204030204" pitchFamily="34" charset="0"/>
                <a:cs typeface="Calibri" panose="020F0502020204030204" pitchFamily="34" charset="0"/>
              </a:rPr>
              <a:t>23CSH-309/23ITH-309</a:t>
            </a:r>
            <a:r>
              <a:rPr lang="en-GB"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t>
            </a:r>
            <a:endParaRPr lang="en-GB"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GB" sz="1800" b="1" dirty="0">
                <a:latin typeface="Calibri" panose="020F0502020204030204" pitchFamily="34" charset="0"/>
                <a:ea typeface="Calibri" panose="020F0502020204030204" pitchFamily="34" charset="0"/>
                <a:cs typeface="Calibri" panose="020F0502020204030204" pitchFamily="34" charset="0"/>
              </a:rPr>
              <a:t>Unit No. 1                     Chapter No. 2                    Lecture No.1</a:t>
            </a:r>
          </a:p>
          <a:p>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b="1" dirty="0"/>
              <a:t>Limitations of Prop-drilling, Context API (Provider/Consumer)</a:t>
            </a:r>
          </a:p>
          <a:p>
            <a:r>
              <a:rPr lang="en-US" sz="1800" b="1" dirty="0">
                <a:latin typeface="Calibri" panose="020F0502020204030204" pitchFamily="34" charset="0"/>
                <a:ea typeface="Calibri" panose="020F0502020204030204" pitchFamily="34" charset="0"/>
                <a:cs typeface="Calibri" panose="020F0502020204030204" pitchFamily="34" charset="0"/>
              </a:rPr>
              <a:t>Er. Tushar Sood (E18319)                                                       Technical Trainer(CSE)</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2026-27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13" name="Rectangle 10">
            <a:extLst>
              <a:ext uri="{FF2B5EF4-FFF2-40B4-BE49-F238E27FC236}">
                <a16:creationId xmlns:a16="http://schemas.microsoft.com/office/drawing/2014/main" id="{FDFB5912-E799-63B5-2CF1-182A365BA276}"/>
              </a:ext>
            </a:extLst>
          </p:cNvPr>
          <p:cNvSpPr>
            <a:spLocks noGrp="1" noChangeArrowheads="1"/>
          </p:cNvSpPr>
          <p:nvPr>
            <p:ph type="body" idx="1"/>
          </p:nvPr>
        </p:nvSpPr>
        <p:spPr bwMode="auto">
          <a:xfrm>
            <a:off x="104078" y="1433075"/>
            <a:ext cx="903992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Understand the concept of prop-drilling</a:t>
            </a:r>
          </a:p>
          <a:p>
            <a:pPr marL="342900" indent="-342900" eaLnBrk="0" fontAlgn="base" hangingPunct="0">
              <a:lnSpc>
                <a:spcPct val="100000"/>
              </a:lnSpc>
              <a:spcBef>
                <a:spcPct val="0"/>
              </a:spcBef>
              <a:spcAft>
                <a:spcPct val="0"/>
              </a:spcAft>
              <a:buClrTx/>
              <a:buSzTx/>
              <a:buFont typeface="+mj-lt"/>
              <a:buAutoNum type="arabicPeriod"/>
            </a:pPr>
            <a:endParaRPr lang="en-GB" altLang="en-US" sz="1800" dirty="0">
              <a:solidFill>
                <a:schemeClr val="bg2"/>
              </a:solidFill>
              <a:latin typeface="+mj-lt"/>
            </a:endParaRPr>
          </a:p>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Identify the limitations of prop-drilling</a:t>
            </a:r>
          </a:p>
          <a:p>
            <a:pPr marL="342900" indent="-342900" eaLnBrk="0" fontAlgn="base" hangingPunct="0">
              <a:lnSpc>
                <a:spcPct val="100000"/>
              </a:lnSpc>
              <a:spcBef>
                <a:spcPct val="0"/>
              </a:spcBef>
              <a:spcAft>
                <a:spcPct val="0"/>
              </a:spcAft>
              <a:buClrTx/>
              <a:buSzTx/>
              <a:buFont typeface="+mj-lt"/>
              <a:buAutoNum type="arabicPeriod"/>
            </a:pPr>
            <a:endParaRPr lang="en-GB" altLang="en-US" sz="1800" dirty="0">
              <a:solidFill>
                <a:schemeClr val="bg2"/>
              </a:solidFill>
              <a:latin typeface="+mj-lt"/>
            </a:endParaRPr>
          </a:p>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Explain the need for Context API</a:t>
            </a:r>
          </a:p>
          <a:p>
            <a:pPr marL="342900" indent="-342900" eaLnBrk="0" fontAlgn="base" hangingPunct="0">
              <a:lnSpc>
                <a:spcPct val="100000"/>
              </a:lnSpc>
              <a:spcBef>
                <a:spcPct val="0"/>
              </a:spcBef>
              <a:spcAft>
                <a:spcPct val="0"/>
              </a:spcAft>
              <a:buClrTx/>
              <a:buSzTx/>
              <a:buFont typeface="+mj-lt"/>
              <a:buAutoNum type="arabicPeriod"/>
            </a:pPr>
            <a:endParaRPr lang="en-GB" altLang="en-US" sz="1800" dirty="0">
              <a:solidFill>
                <a:schemeClr val="bg2"/>
              </a:solidFill>
              <a:latin typeface="+mj-lt"/>
            </a:endParaRPr>
          </a:p>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Understand Provider and Consumer components</a:t>
            </a:r>
          </a:p>
          <a:p>
            <a:pPr marL="342900" indent="-342900" eaLnBrk="0" fontAlgn="base" hangingPunct="0">
              <a:lnSpc>
                <a:spcPct val="100000"/>
              </a:lnSpc>
              <a:spcBef>
                <a:spcPct val="0"/>
              </a:spcBef>
              <a:spcAft>
                <a:spcPct val="0"/>
              </a:spcAft>
              <a:buClrTx/>
              <a:buSzTx/>
              <a:buFont typeface="+mj-lt"/>
              <a:buAutoNum type="arabicPeriod"/>
            </a:pPr>
            <a:endParaRPr lang="en-GB" altLang="en-US" sz="1800" dirty="0">
              <a:solidFill>
                <a:schemeClr val="bg2"/>
              </a:solidFill>
              <a:latin typeface="+mj-lt"/>
            </a:endParaRPr>
          </a:p>
          <a:p>
            <a:pPr marL="342900" indent="-342900" eaLnBrk="0" fontAlgn="base" hangingPunct="0">
              <a:lnSpc>
                <a:spcPct val="100000"/>
              </a:lnSpc>
              <a:spcBef>
                <a:spcPct val="0"/>
              </a:spcBef>
              <a:spcAft>
                <a:spcPct val="0"/>
              </a:spcAft>
              <a:buClrTx/>
              <a:buSzTx/>
              <a:buFont typeface="+mj-lt"/>
              <a:buAutoNum type="arabicPeriod"/>
            </a:pPr>
            <a:r>
              <a:rPr lang="en-GB" altLang="en-US" sz="1800" dirty="0">
                <a:solidFill>
                  <a:schemeClr val="bg2"/>
                </a:solidFill>
                <a:latin typeface="+mj-lt"/>
              </a:rPr>
              <a:t>Use Context API to manage global data</a:t>
            </a:r>
            <a:endParaRPr kumimoji="0" lang="en-US" altLang="en-US" sz="1800" i="0" u="none" strike="noStrike" cap="none" normalizeH="0" baseline="0" dirty="0">
              <a:ln>
                <a:noFill/>
              </a:ln>
              <a:solidFill>
                <a:schemeClr val="bg2"/>
              </a:solidFill>
              <a:effectLst/>
              <a:latin typeface="+mj-lt"/>
            </a:endParaRPr>
          </a:p>
        </p:txBody>
      </p:sp>
    </p:spTree>
    <p:extLst>
      <p:ext uri="{BB962C8B-B14F-4D97-AF65-F5344CB8AC3E}">
        <p14:creationId xmlns:p14="http://schemas.microsoft.com/office/powerpoint/2010/main" val="163975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9A4CEF4-12CF-768B-A34D-158E7C86A758}"/>
              </a:ext>
            </a:extLst>
          </p:cNvPr>
          <p:cNvGrpSpPr/>
          <p:nvPr/>
        </p:nvGrpSpPr>
        <p:grpSpPr>
          <a:xfrm>
            <a:off x="748144" y="218172"/>
            <a:ext cx="8277101" cy="571932"/>
            <a:chOff x="0" y="6299"/>
            <a:chExt cx="5580934" cy="571932"/>
          </a:xfrm>
          <a:noFill/>
        </p:grpSpPr>
        <p:sp>
          <p:nvSpPr>
            <p:cNvPr id="109" name="Google Shape;109;p2">
              <a:extLst>
                <a:ext uri="{FF2B5EF4-FFF2-40B4-BE49-F238E27FC236}">
                  <a16:creationId xmlns:a16="http://schemas.microsoft.com/office/drawing/2014/main" id="{AF07FB58-ECE4-103C-FAE0-D4F3B657187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622E3EC-0CED-9721-7595-ED925977BC7E}"/>
                </a:ext>
              </a:extLst>
            </p:cNvPr>
            <p:cNvSpPr txBox="1"/>
            <p:nvPr/>
          </p:nvSpPr>
          <p:spPr>
            <a:xfrm>
              <a:off x="0" y="177039"/>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4000" b="1" dirty="0"/>
                <a:t>What is Prop-Drilling?</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3" name="Google Shape;113;p2">
            <a:extLst>
              <a:ext uri="{FF2B5EF4-FFF2-40B4-BE49-F238E27FC236}">
                <a16:creationId xmlns:a16="http://schemas.microsoft.com/office/drawing/2014/main" id="{BC685EF9-A30D-D2E6-4A85-FB96E46BDA9B}"/>
              </a:ext>
            </a:extLst>
          </p:cNvPr>
          <p:cNvSpPr txBox="1"/>
          <p:nvPr/>
        </p:nvSpPr>
        <p:spPr>
          <a:xfrm>
            <a:off x="397930" y="1048276"/>
            <a:ext cx="8627315" cy="3046948"/>
          </a:xfrm>
          <a:prstGeom prst="rect">
            <a:avLst/>
          </a:prstGeom>
          <a:noFill/>
          <a:ln>
            <a:noFill/>
          </a:ln>
        </p:spPr>
        <p:txBody>
          <a:bodyPr spcFirstLastPara="1" wrap="square" lIns="91425" tIns="45700" rIns="91425" bIns="45700" anchor="t" anchorCtr="0">
            <a:spAutoFit/>
          </a:bodyPr>
          <a:lstStyle/>
          <a:p>
            <a:pPr marL="285750" indent="-285750" algn="just">
              <a:lnSpc>
                <a:spcPct val="150000"/>
              </a:lnSpc>
              <a:buFont typeface="Wingdings" panose="05000000000000000000" pitchFamily="2" charset="2"/>
              <a:buChar char="Ø"/>
            </a:pPr>
            <a:r>
              <a:rPr lang="en-GB" sz="1600" dirty="0"/>
              <a:t>Prop drilling refers to the practice of passing data through several layers of nested components in React, even though intermediate components don't directly utilize this data. This means that a middle component doesn't necessarily need the data, but it must still pass it down to the next component, creating an unnecessary and sometimes lengthy chain of props.</a:t>
            </a:r>
          </a:p>
          <a:p>
            <a:pPr marL="285750" indent="-285750" algn="just">
              <a:lnSpc>
                <a:spcPct val="150000"/>
              </a:lnSpc>
              <a:buFont typeface="Wingdings" panose="05000000000000000000" pitchFamily="2" charset="2"/>
              <a:buChar char="Ø"/>
            </a:pPr>
            <a:r>
              <a:rPr lang="en-GB" sz="1600" dirty="0"/>
              <a:t>Even if intermediate components do not need the data, they must still receive and forward the props.</a:t>
            </a:r>
          </a:p>
          <a:p>
            <a:pPr marL="285750" indent="-285750" algn="just">
              <a:lnSpc>
                <a:spcPct val="150000"/>
              </a:lnSpc>
              <a:buFont typeface="Wingdings" panose="05000000000000000000" pitchFamily="2" charset="2"/>
              <a:buChar char="Ø"/>
            </a:pPr>
            <a:r>
              <a:rPr lang="en-GB" sz="1600" dirty="0"/>
              <a:t>This makes the component hierarchy tightly coupled and harder to maintain.</a:t>
            </a:r>
          </a:p>
        </p:txBody>
      </p:sp>
      <p:sp>
        <p:nvSpPr>
          <p:cNvPr id="8" name="TextBox 7"/>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Tree>
    <p:extLst>
      <p:ext uri="{BB962C8B-B14F-4D97-AF65-F5344CB8AC3E}">
        <p14:creationId xmlns:p14="http://schemas.microsoft.com/office/powerpoint/2010/main" val="2691230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8FA9E54-824C-3174-92D1-1FD55557D5B7}"/>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EA721AF1-4121-990B-D3BC-3A69461EE53B}"/>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A2839E68-8CC4-454C-1CA9-8CC8B94AE13A}"/>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EB27271-7D91-E3E7-B4A8-A483F805DA4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4000" b="1" dirty="0"/>
                <a:t>Example of Prop-Drilling</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1A9B100B-BAD8-99A1-3211-6CBBD09F1115}"/>
              </a:ext>
            </a:extLst>
          </p:cNvPr>
          <p:cNvSpPr txBox="1">
            <a:spLocks noGrp="1"/>
          </p:cNvSpPr>
          <p:nvPr>
            <p:ph type="body" idx="1"/>
          </p:nvPr>
        </p:nvSpPr>
        <p:spPr>
          <a:xfrm>
            <a:off x="571500" y="1151519"/>
            <a:ext cx="8001000" cy="3531991"/>
          </a:xfrm>
          <a:prstGeom prst="rect">
            <a:avLst/>
          </a:prstGeom>
          <a:noFill/>
          <a:ln>
            <a:noFill/>
          </a:ln>
        </p:spPr>
        <p:txBody>
          <a:bodyPr spcFirstLastPara="1" wrap="square" lIns="91425" tIns="45700" rIns="91425" bIns="45700" anchor="t" anchorCtr="0">
            <a:noAutofit/>
          </a:bodyPr>
          <a:lstStyle/>
          <a:p>
            <a:pPr>
              <a:buClr>
                <a:schemeClr val="bg2"/>
              </a:buClr>
              <a:buFont typeface="Wingdings" panose="05000000000000000000" pitchFamily="2" charset="2"/>
              <a:buChar char="Ø"/>
            </a:pPr>
            <a:r>
              <a:rPr lang="en-GB" sz="1600" dirty="0">
                <a:solidFill>
                  <a:schemeClr val="bg2"/>
                </a:solidFill>
                <a:latin typeface="+mj-lt"/>
              </a:rPr>
              <a:t>In a component hierarchy such as:</a:t>
            </a:r>
          </a:p>
          <a:p>
            <a:pPr marL="76200" indent="0">
              <a:buNone/>
            </a:pPr>
            <a:endParaRPr lang="en-GB" sz="1600" dirty="0">
              <a:solidFill>
                <a:schemeClr val="bg2"/>
              </a:solidFill>
              <a:latin typeface="+mj-lt"/>
            </a:endParaRPr>
          </a:p>
          <a:p>
            <a:pPr marL="76200" indent="0">
              <a:buNone/>
            </a:pPr>
            <a:r>
              <a:rPr lang="en-GB" sz="1600" dirty="0">
                <a:solidFill>
                  <a:schemeClr val="bg2"/>
                </a:solidFill>
                <a:latin typeface="+mj-lt"/>
              </a:rPr>
              <a:t>	App → Dashboard → Sidebar → </a:t>
            </a:r>
            <a:r>
              <a:rPr lang="en-GB" sz="1600" dirty="0" err="1">
                <a:solidFill>
                  <a:schemeClr val="bg2"/>
                </a:solidFill>
                <a:latin typeface="+mj-lt"/>
              </a:rPr>
              <a:t>UserProfile</a:t>
            </a:r>
            <a:endParaRPr lang="en-GB" sz="1600" dirty="0">
              <a:solidFill>
                <a:schemeClr val="bg2"/>
              </a:solidFill>
              <a:latin typeface="+mj-lt"/>
            </a:endParaRPr>
          </a:p>
          <a:p>
            <a:pPr marL="76200" indent="0">
              <a:buNone/>
            </a:pPr>
            <a:endParaRPr lang="en-GB" sz="1600" dirty="0">
              <a:solidFill>
                <a:schemeClr val="bg2"/>
              </a:solidFill>
              <a:latin typeface="+mj-lt"/>
            </a:endParaRPr>
          </a:p>
          <a:p>
            <a:pPr>
              <a:buClr>
                <a:schemeClr val="bg2"/>
              </a:buClr>
              <a:buFont typeface="Wingdings" panose="05000000000000000000" pitchFamily="2" charset="2"/>
              <a:buChar char="Ø"/>
            </a:pPr>
            <a:r>
              <a:rPr lang="en-GB" sz="1600" dirty="0">
                <a:solidFill>
                  <a:schemeClr val="bg2"/>
                </a:solidFill>
                <a:latin typeface="+mj-lt"/>
              </a:rPr>
              <a:t>If </a:t>
            </a:r>
            <a:r>
              <a:rPr lang="en-GB" sz="1600" dirty="0" err="1">
                <a:solidFill>
                  <a:schemeClr val="bg2"/>
                </a:solidFill>
                <a:latin typeface="+mj-lt"/>
              </a:rPr>
              <a:t>UserProfile</a:t>
            </a:r>
            <a:r>
              <a:rPr lang="en-GB" sz="1600" dirty="0">
                <a:solidFill>
                  <a:schemeClr val="bg2"/>
                </a:solidFill>
                <a:latin typeface="+mj-lt"/>
              </a:rPr>
              <a:t> needs user data, the same data must be passed through App, Dashboard, and Sidebar, even though they do not directly use it.</a:t>
            </a:r>
          </a:p>
          <a:p>
            <a:pPr marL="76200" indent="0">
              <a:buNone/>
            </a:pPr>
            <a:endParaRPr lang="en-GB" sz="1600" dirty="0">
              <a:solidFill>
                <a:schemeClr val="bg2"/>
              </a:solidFill>
              <a:latin typeface="+mj-lt"/>
            </a:endParaRPr>
          </a:p>
          <a:p>
            <a:pPr marL="76200" indent="0">
              <a:buNone/>
            </a:pPr>
            <a:r>
              <a:rPr lang="en-GB" sz="1600" dirty="0">
                <a:solidFill>
                  <a:schemeClr val="bg2"/>
                </a:solidFill>
                <a:latin typeface="+mj-lt"/>
              </a:rPr>
              <a:t>This repetitive passing of props is known as prop-drilling.</a:t>
            </a:r>
          </a:p>
        </p:txBody>
      </p:sp>
      <p:sp>
        <p:nvSpPr>
          <p:cNvPr id="10" name="TextBox 9"/>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Tree>
    <p:extLst>
      <p:ext uri="{BB962C8B-B14F-4D97-AF65-F5344CB8AC3E}">
        <p14:creationId xmlns:p14="http://schemas.microsoft.com/office/powerpoint/2010/main" val="1211972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178EC9D-3AF2-FF46-AE40-8AADB0C035F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4FFF226-09D2-BD23-5ADA-FDF121AE7076}"/>
              </a:ext>
            </a:extLst>
          </p:cNvPr>
          <p:cNvGrpSpPr/>
          <p:nvPr/>
        </p:nvGrpSpPr>
        <p:grpSpPr>
          <a:xfrm>
            <a:off x="751718" y="393764"/>
            <a:ext cx="8241475" cy="444600"/>
            <a:chOff x="0" y="6299"/>
            <a:chExt cx="5580934" cy="444600"/>
          </a:xfrm>
          <a:noFill/>
        </p:grpSpPr>
        <p:sp>
          <p:nvSpPr>
            <p:cNvPr id="109" name="Google Shape;109;p2">
              <a:extLst>
                <a:ext uri="{FF2B5EF4-FFF2-40B4-BE49-F238E27FC236}">
                  <a16:creationId xmlns:a16="http://schemas.microsoft.com/office/drawing/2014/main" id="{BDBFAAD7-33FB-3AC6-1B1A-504C8E53D5E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945FE62-323F-F949-9208-8982D26D5CB9}"/>
                </a:ext>
              </a:extLst>
            </p:cNvPr>
            <p:cNvSpPr txBox="1"/>
            <p:nvPr/>
          </p:nvSpPr>
          <p:spPr>
            <a:xfrm>
              <a:off x="0"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GB"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Why Prop Drilling is Problematic?</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AA2D43A7-B4AC-7396-B002-904551AF782D}"/>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DE159C79-7AC0-4E46-EB54-6E995667A62D}"/>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grpSp>
        <p:nvGrpSpPr>
          <p:cNvPr id="17" name="Google Shape;108;p2">
            <a:extLst>
              <a:ext uri="{FF2B5EF4-FFF2-40B4-BE49-F238E27FC236}">
                <a16:creationId xmlns:a16="http://schemas.microsoft.com/office/drawing/2014/main" id="{D964EB89-B350-5658-4193-6D077B5D19AD}"/>
              </a:ext>
            </a:extLst>
          </p:cNvPr>
          <p:cNvGrpSpPr/>
          <p:nvPr/>
        </p:nvGrpSpPr>
        <p:grpSpPr>
          <a:xfrm>
            <a:off x="815820" y="348934"/>
            <a:ext cx="8245053" cy="824088"/>
            <a:chOff x="-2423" y="6299"/>
            <a:chExt cx="5583357" cy="824088"/>
          </a:xfrm>
          <a:noFill/>
        </p:grpSpPr>
        <p:sp>
          <p:nvSpPr>
            <p:cNvPr id="18" name="Google Shape;109;p2">
              <a:extLst>
                <a:ext uri="{FF2B5EF4-FFF2-40B4-BE49-F238E27FC236}">
                  <a16:creationId xmlns:a16="http://schemas.microsoft.com/office/drawing/2014/main" id="{96E4E321-561E-07CE-DCD2-94E9FE5C81A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9" name="Google Shape;110;p2">
              <a:extLst>
                <a:ext uri="{FF2B5EF4-FFF2-40B4-BE49-F238E27FC236}">
                  <a16:creationId xmlns:a16="http://schemas.microsoft.com/office/drawing/2014/main" id="{706259B5-2280-84B6-86A6-C84A7685C9DE}"/>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3" name="TextBox 2">
            <a:extLst>
              <a:ext uri="{FF2B5EF4-FFF2-40B4-BE49-F238E27FC236}">
                <a16:creationId xmlns:a16="http://schemas.microsoft.com/office/drawing/2014/main" id="{7F6BAF62-B5BB-6B76-CF56-7E001DCB8775}"/>
              </a:ext>
            </a:extLst>
          </p:cNvPr>
          <p:cNvSpPr txBox="1"/>
          <p:nvPr/>
        </p:nvSpPr>
        <p:spPr>
          <a:xfrm>
            <a:off x="449602" y="1056481"/>
            <a:ext cx="8001000" cy="3785652"/>
          </a:xfrm>
          <a:prstGeom prst="rect">
            <a:avLst/>
          </a:prstGeom>
          <a:noFill/>
        </p:spPr>
        <p:txBody>
          <a:bodyPr wrap="square" rtlCol="0">
            <a:spAutoFit/>
          </a:bodyPr>
          <a:lstStyle/>
          <a:p>
            <a:pPr marL="285750" indent="-285750">
              <a:buFont typeface="Wingdings" panose="05000000000000000000" pitchFamily="2" charset="2"/>
              <a:buChar char="Ø"/>
            </a:pPr>
            <a:r>
              <a:rPr lang="en-GB" sz="1600" b="1" dirty="0"/>
              <a:t>Code Complexity</a:t>
            </a:r>
            <a:r>
              <a:rPr lang="en-GB" sz="1600" dirty="0"/>
              <a:t>: It makes the component tree overly complicated, as intermediate components receive and forward props without using them, cluttering your code and causing confusion.</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b="1" dirty="0"/>
              <a:t>Maintenance Overhead</a:t>
            </a:r>
            <a:r>
              <a:rPr lang="en-GB" sz="1600" dirty="0"/>
              <a:t>: Any change to the props requires updating multiple components, which can be time-consuming and error-prone.</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b="1" dirty="0"/>
              <a:t>Reduced Readability</a:t>
            </a:r>
            <a:r>
              <a:rPr lang="en-GB" sz="1600" dirty="0"/>
              <a:t>: It becomes difficult to trace how and where data flows through components, making debugging and development more challenging.</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b="1" dirty="0"/>
              <a:t>Tight Component Coupling</a:t>
            </a:r>
            <a:r>
              <a:rPr lang="en-GB" sz="1600" dirty="0"/>
              <a:t>: Components become less reusable and more tightly coupled, leading to reduced flexibility and difficulties in refactoring.</a:t>
            </a:r>
          </a:p>
          <a:p>
            <a:pPr marL="285750" indent="-285750">
              <a:buFont typeface="Wingdings" panose="05000000000000000000" pitchFamily="2" charset="2"/>
              <a:buChar char="Ø"/>
            </a:pPr>
            <a:endParaRPr lang="en-GB" sz="1600" dirty="0"/>
          </a:p>
          <a:p>
            <a:pPr marL="285750" indent="-285750">
              <a:buFont typeface="Wingdings" panose="05000000000000000000" pitchFamily="2" charset="2"/>
              <a:buChar char="Ø"/>
            </a:pPr>
            <a:r>
              <a:rPr lang="en-GB" sz="1600" b="1" dirty="0"/>
              <a:t>Scalability Issues</a:t>
            </a:r>
            <a:r>
              <a:rPr lang="en-GB" sz="1600" dirty="0"/>
              <a:t>: As your application grows, prop drilling worsens, leading to further complexity and making the app harder to scale effectively.</a:t>
            </a:r>
            <a:endParaRPr lang="en-IN" sz="1600" dirty="0"/>
          </a:p>
        </p:txBody>
      </p:sp>
    </p:spTree>
    <p:extLst>
      <p:ext uri="{BB962C8B-B14F-4D97-AF65-F5344CB8AC3E}">
        <p14:creationId xmlns:p14="http://schemas.microsoft.com/office/powerpoint/2010/main" val="1214819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DC29400-89C7-6A6F-FDCC-3A14F1359752}"/>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A1E0372-C71E-C8FF-EA68-B3A001392437}"/>
              </a:ext>
            </a:extLst>
          </p:cNvPr>
          <p:cNvGrpSpPr/>
          <p:nvPr/>
        </p:nvGrpSpPr>
        <p:grpSpPr>
          <a:xfrm>
            <a:off x="783770" y="218172"/>
            <a:ext cx="8241475" cy="564040"/>
            <a:chOff x="0" y="6299"/>
            <a:chExt cx="5580934" cy="564040"/>
          </a:xfrm>
          <a:noFill/>
        </p:grpSpPr>
        <p:sp>
          <p:nvSpPr>
            <p:cNvPr id="109" name="Google Shape;109;p2">
              <a:extLst>
                <a:ext uri="{FF2B5EF4-FFF2-40B4-BE49-F238E27FC236}">
                  <a16:creationId xmlns:a16="http://schemas.microsoft.com/office/drawing/2014/main" id="{25826B79-33D3-443A-614A-6F6AA9F0633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91F2A5D-F5A3-D823-AC38-7E68C89292D0}"/>
                </a:ext>
              </a:extLst>
            </p:cNvPr>
            <p:cNvSpPr txBox="1"/>
            <p:nvPr/>
          </p:nvSpPr>
          <p:spPr>
            <a:xfrm>
              <a:off x="0" y="169147"/>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How to avoid Prop-drilling Problem ?</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E83A1FA8-10FE-2D4E-39EB-872A7BDF539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F4C3EC31-8B8F-E5E5-4108-1157654D8404}"/>
              </a:ext>
            </a:extLst>
          </p:cNvPr>
          <p:cNvSpPr txBox="1"/>
          <p:nvPr/>
        </p:nvSpPr>
        <p:spPr>
          <a:xfrm>
            <a:off x="150807" y="1113549"/>
            <a:ext cx="8977746" cy="3785611"/>
          </a:xfrm>
          <a:prstGeom prst="rect">
            <a:avLst/>
          </a:prstGeom>
          <a:noFill/>
          <a:ln>
            <a:noFill/>
          </a:ln>
        </p:spPr>
        <p:txBody>
          <a:bodyPr spcFirstLastPara="1" wrap="square" lIns="91425" tIns="45700" rIns="91425" bIns="45700" anchor="t" anchorCtr="0">
            <a:spAutoFit/>
          </a:bodyPr>
          <a:lstStyle/>
          <a:p>
            <a:pPr marL="342900" indent="-342900" fontAlgn="base">
              <a:buFont typeface="+mj-lt"/>
              <a:buAutoNum type="arabicPeriod"/>
            </a:pPr>
            <a:r>
              <a:rPr lang="en-GB" sz="1600" b="1" dirty="0"/>
              <a:t>Using Context API </a:t>
            </a:r>
            <a:r>
              <a:rPr lang="en-GB" sz="1600" dirty="0"/>
              <a:t>: The React Context API provides a way to share values (like state, functions, or constants) between components without explicitly passing props.</a:t>
            </a:r>
          </a:p>
          <a:p>
            <a:pPr marL="342900" indent="-342900" fontAlgn="base">
              <a:buFont typeface="+mj-lt"/>
              <a:buAutoNum type="arabicPeriod"/>
            </a:pPr>
            <a:endParaRPr lang="en-GB" sz="1600" dirty="0"/>
          </a:p>
          <a:p>
            <a:pPr marL="342900" indent="-342900" fontAlgn="base">
              <a:buFont typeface="+mj-lt"/>
              <a:buAutoNum type="arabicPeriod"/>
            </a:pPr>
            <a:r>
              <a:rPr lang="en-GB" sz="1600" b="1" dirty="0"/>
              <a:t>Using Custom Hooks </a:t>
            </a:r>
            <a:r>
              <a:rPr lang="en-GB" sz="1600" dirty="0"/>
              <a:t>: Custom hooks are reusable functions in React that encapsulate stateful logic, starting with use (e.g., </a:t>
            </a:r>
            <a:r>
              <a:rPr lang="en-GB" sz="1600" dirty="0" err="1"/>
              <a:t>useFetch</a:t>
            </a:r>
            <a:r>
              <a:rPr lang="en-GB" sz="1600" dirty="0"/>
              <a:t>). They improve code reusability, keep components clean, and allow sharing logic across components.</a:t>
            </a:r>
          </a:p>
          <a:p>
            <a:pPr marL="342900" indent="-342900" fontAlgn="base">
              <a:buFont typeface="+mj-lt"/>
              <a:buAutoNum type="arabicPeriod"/>
            </a:pPr>
            <a:endParaRPr lang="en-GB" sz="1600" dirty="0"/>
          </a:p>
          <a:p>
            <a:pPr marL="342900" indent="-342900" fontAlgn="base">
              <a:buFont typeface="+mj-lt"/>
              <a:buAutoNum type="arabicPeriod"/>
            </a:pPr>
            <a:r>
              <a:rPr lang="en-GB" sz="1600" b="1" dirty="0"/>
              <a:t>Global State Management (Redux, </a:t>
            </a:r>
            <a:r>
              <a:rPr lang="en-GB" sz="1600" b="1" dirty="0" err="1"/>
              <a:t>Zustand</a:t>
            </a:r>
            <a:r>
              <a:rPr lang="en-GB" sz="1600" b="1" dirty="0"/>
              <a:t>, </a:t>
            </a:r>
            <a:r>
              <a:rPr lang="en-GB" sz="1600" b="1" dirty="0" err="1"/>
              <a:t>MobX</a:t>
            </a:r>
            <a:r>
              <a:rPr lang="en-GB" sz="1600" b="1" dirty="0"/>
              <a:t>) </a:t>
            </a:r>
            <a:r>
              <a:rPr lang="en-GB" sz="1600" dirty="0"/>
              <a:t>: In this approach we use libraries such as Redux, </a:t>
            </a:r>
            <a:r>
              <a:rPr lang="en-GB" sz="1600" dirty="0" err="1"/>
              <a:t>Zustand</a:t>
            </a:r>
            <a:r>
              <a:rPr lang="en-GB" sz="1600" dirty="0"/>
              <a:t>, or </a:t>
            </a:r>
            <a:r>
              <a:rPr lang="en-GB" sz="1600" dirty="0" err="1"/>
              <a:t>MobX</a:t>
            </a:r>
            <a:r>
              <a:rPr lang="en-GB" sz="1600" dirty="0"/>
              <a:t> manage application state globally, eliminating the need for prop drilling entirely.</a:t>
            </a:r>
          </a:p>
          <a:p>
            <a:pPr marL="342900" indent="-342900" fontAlgn="base">
              <a:buFont typeface="+mj-lt"/>
              <a:buAutoNum type="arabicPeriod"/>
            </a:pPr>
            <a:endParaRPr lang="en-GB" sz="1600" dirty="0"/>
          </a:p>
          <a:p>
            <a:pPr fontAlgn="base"/>
            <a:r>
              <a:rPr lang="en-GB" sz="1600" dirty="0"/>
              <a:t>Prop drilling can complicate your React applications, making them harder to maintain and scale. By using modern approaches like </a:t>
            </a:r>
            <a:r>
              <a:rPr lang="en-GB" sz="1600" dirty="0" err="1"/>
              <a:t>React’s</a:t>
            </a:r>
            <a:r>
              <a:rPr lang="en-GB" sz="1600" dirty="0"/>
              <a:t> Context API, state management libraries, or custom hooks, you can simplify data sharing across components. Adopting these strategies helps you build cleaner, more efficient, and maintainable React apps.</a:t>
            </a:r>
            <a:endParaRPr lang="en-IN" sz="1600" dirty="0"/>
          </a:p>
        </p:txBody>
      </p:sp>
      <p:sp>
        <p:nvSpPr>
          <p:cNvPr id="10" name="TextBox 9">
            <a:extLst>
              <a:ext uri="{FF2B5EF4-FFF2-40B4-BE49-F238E27FC236}">
                <a16:creationId xmlns:a16="http://schemas.microsoft.com/office/drawing/2014/main" id="{AD41F94B-4381-9960-700F-E0E3150A567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grpSp>
        <p:nvGrpSpPr>
          <p:cNvPr id="17" name="Google Shape;108;p2">
            <a:extLst>
              <a:ext uri="{FF2B5EF4-FFF2-40B4-BE49-F238E27FC236}">
                <a16:creationId xmlns:a16="http://schemas.microsoft.com/office/drawing/2014/main" id="{C4CD5BA6-C07A-1DF8-879C-A5E9C3432C02}"/>
              </a:ext>
            </a:extLst>
          </p:cNvPr>
          <p:cNvGrpSpPr/>
          <p:nvPr/>
        </p:nvGrpSpPr>
        <p:grpSpPr>
          <a:xfrm>
            <a:off x="815820" y="348934"/>
            <a:ext cx="8245053" cy="824088"/>
            <a:chOff x="-2423" y="6299"/>
            <a:chExt cx="5583357" cy="824088"/>
          </a:xfrm>
          <a:noFill/>
        </p:grpSpPr>
        <p:sp>
          <p:nvSpPr>
            <p:cNvPr id="18" name="Google Shape;109;p2">
              <a:extLst>
                <a:ext uri="{FF2B5EF4-FFF2-40B4-BE49-F238E27FC236}">
                  <a16:creationId xmlns:a16="http://schemas.microsoft.com/office/drawing/2014/main" id="{88EBE040-CA66-B9AA-D219-417CCA8CD72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9" name="Google Shape;110;p2">
              <a:extLst>
                <a:ext uri="{FF2B5EF4-FFF2-40B4-BE49-F238E27FC236}">
                  <a16:creationId xmlns:a16="http://schemas.microsoft.com/office/drawing/2014/main" id="{002F189B-2F78-0FBE-9BE2-5FCCD02BA85A}"/>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24513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4881312-8C34-11D8-A0D1-FDC73B358CD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FB77EF3-ED72-3523-B555-000DAE4F3E3C}"/>
              </a:ext>
            </a:extLst>
          </p:cNvPr>
          <p:cNvGrpSpPr/>
          <p:nvPr/>
        </p:nvGrpSpPr>
        <p:grpSpPr>
          <a:xfrm>
            <a:off x="783768" y="465789"/>
            <a:ext cx="8241475" cy="444600"/>
            <a:chOff x="0" y="6299"/>
            <a:chExt cx="5580934" cy="444600"/>
          </a:xfrm>
          <a:noFill/>
        </p:grpSpPr>
        <p:sp>
          <p:nvSpPr>
            <p:cNvPr id="109" name="Google Shape;109;p2">
              <a:extLst>
                <a:ext uri="{FF2B5EF4-FFF2-40B4-BE49-F238E27FC236}">
                  <a16:creationId xmlns:a16="http://schemas.microsoft.com/office/drawing/2014/main" id="{2413BF18-54E0-F7D8-FB94-DBB30127E4F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4A1805F4-1C2C-6914-B520-7BBFCEDC25F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IN" sz="3600" b="1" dirty="0"/>
                <a:t>Maintainability &amp; Performance Concerns of Prop-Drilling</a:t>
              </a:r>
              <a:endParaRPr lang="en-US" sz="36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371CDE13-0AA7-94B4-A34B-5D2A3CC3002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7DBA305-99A9-2627-CC23-48241F7BDC93}"/>
              </a:ext>
            </a:extLst>
          </p:cNvPr>
          <p:cNvSpPr txBox="1"/>
          <p:nvPr/>
        </p:nvSpPr>
        <p:spPr>
          <a:xfrm>
            <a:off x="249380" y="1378287"/>
            <a:ext cx="8645240" cy="3416279"/>
          </a:xfrm>
          <a:prstGeom prst="rect">
            <a:avLst/>
          </a:prstGeom>
          <a:noFill/>
          <a:ln>
            <a:noFill/>
          </a:ln>
        </p:spPr>
        <p:txBody>
          <a:bodyPr spcFirstLastPara="1" wrap="square" lIns="91425" tIns="45700" rIns="91425" bIns="45700" anchor="t" anchorCtr="0">
            <a:spAutoFit/>
          </a:bodyPr>
          <a:lstStyle/>
          <a:p>
            <a:pPr marL="285750" indent="-285750" fontAlgn="base">
              <a:lnSpc>
                <a:spcPct val="150000"/>
              </a:lnSpc>
              <a:buFont typeface="Wingdings" panose="05000000000000000000" pitchFamily="2" charset="2"/>
              <a:buChar char="Ø"/>
            </a:pPr>
            <a:r>
              <a:rPr lang="en-GB" sz="1600" dirty="0"/>
              <a:t>When application requirements change, developers must update props at multiple levels of the component tree.</a:t>
            </a:r>
          </a:p>
          <a:p>
            <a:pPr marL="285750" indent="-285750" fontAlgn="base">
              <a:lnSpc>
                <a:spcPct val="150000"/>
              </a:lnSpc>
              <a:buFont typeface="Wingdings" panose="05000000000000000000" pitchFamily="2" charset="2"/>
              <a:buChar char="Ø"/>
            </a:pPr>
            <a:r>
              <a:rPr lang="en-GB" sz="1600" dirty="0"/>
              <a:t>This increases the risk of bugs and makes refactoring difficult.</a:t>
            </a:r>
          </a:p>
          <a:p>
            <a:pPr marL="285750" indent="-285750" fontAlgn="base">
              <a:lnSpc>
                <a:spcPct val="150000"/>
              </a:lnSpc>
              <a:buFont typeface="Wingdings" panose="05000000000000000000" pitchFamily="2" charset="2"/>
              <a:buChar char="Ø"/>
            </a:pPr>
            <a:r>
              <a:rPr lang="en-GB" sz="1600" dirty="0"/>
              <a:t>Prop-drilling also results in long prop chains, which reduce clarity and make the code harder to understand for new developers.</a:t>
            </a:r>
          </a:p>
          <a:p>
            <a:pPr marL="285750" indent="-285750" fontAlgn="base">
              <a:lnSpc>
                <a:spcPct val="150000"/>
              </a:lnSpc>
              <a:buFont typeface="Wingdings" panose="05000000000000000000" pitchFamily="2" charset="2"/>
              <a:buChar char="Ø"/>
            </a:pPr>
            <a:r>
              <a:rPr lang="en-GB" sz="1600" dirty="0"/>
              <a:t>Although React is optimized, excessive prop passing can still cause unnecessary re-renders of intermediate components.</a:t>
            </a:r>
          </a:p>
          <a:p>
            <a:pPr marL="285750" indent="-285750" fontAlgn="base">
              <a:lnSpc>
                <a:spcPct val="150000"/>
              </a:lnSpc>
              <a:buFont typeface="Wingdings" panose="05000000000000000000" pitchFamily="2" charset="2"/>
              <a:buChar char="Ø"/>
            </a:pPr>
            <a:r>
              <a:rPr lang="en-GB" sz="1600" dirty="0"/>
              <a:t>These components re-render even when they do not use the data, leading to inefficient UI updates in large applications.</a:t>
            </a:r>
            <a:endParaRPr lang="en-IN" sz="1600" dirty="0"/>
          </a:p>
        </p:txBody>
      </p:sp>
      <p:sp>
        <p:nvSpPr>
          <p:cNvPr id="10" name="TextBox 9">
            <a:extLst>
              <a:ext uri="{FF2B5EF4-FFF2-40B4-BE49-F238E27FC236}">
                <a16:creationId xmlns:a16="http://schemas.microsoft.com/office/drawing/2014/main" id="{021459E1-7AF1-A55C-BDB6-D6202C2488A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grpSp>
        <p:nvGrpSpPr>
          <p:cNvPr id="17" name="Google Shape;108;p2">
            <a:extLst>
              <a:ext uri="{FF2B5EF4-FFF2-40B4-BE49-F238E27FC236}">
                <a16:creationId xmlns:a16="http://schemas.microsoft.com/office/drawing/2014/main" id="{7B990DCC-ED35-C11B-FB01-016307CF15E5}"/>
              </a:ext>
            </a:extLst>
          </p:cNvPr>
          <p:cNvGrpSpPr/>
          <p:nvPr/>
        </p:nvGrpSpPr>
        <p:grpSpPr>
          <a:xfrm>
            <a:off x="815820" y="348934"/>
            <a:ext cx="8245053" cy="824088"/>
            <a:chOff x="-2423" y="6299"/>
            <a:chExt cx="5583357" cy="824088"/>
          </a:xfrm>
          <a:noFill/>
        </p:grpSpPr>
        <p:sp>
          <p:nvSpPr>
            <p:cNvPr id="18" name="Google Shape;109;p2">
              <a:extLst>
                <a:ext uri="{FF2B5EF4-FFF2-40B4-BE49-F238E27FC236}">
                  <a16:creationId xmlns:a16="http://schemas.microsoft.com/office/drawing/2014/main" id="{3F960A93-B946-DCAB-25E9-3CE87675CE2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9" name="Google Shape;110;p2">
              <a:extLst>
                <a:ext uri="{FF2B5EF4-FFF2-40B4-BE49-F238E27FC236}">
                  <a16:creationId xmlns:a16="http://schemas.microsoft.com/office/drawing/2014/main" id="{E8EA1C90-A413-9C71-2F44-E4AE3A90F17F}"/>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73382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856B544-7EFD-A3F9-0AEF-9FE15700C08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0D73656-3772-F07D-A15C-6FE2A1BEC944}"/>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798F6BBE-B159-465A-934B-92B51DD6224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5B2F6733-41B6-49C3-6C58-81445EE09CB3}"/>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D749E346-8CF2-76ED-2B63-A83F534FF9B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24AFBD17-599D-A9C5-B47B-6BB71EB243A7}"/>
              </a:ext>
            </a:extLst>
          </p:cNvPr>
          <p:cNvSpPr txBox="1"/>
          <p:nvPr/>
        </p:nvSpPr>
        <p:spPr>
          <a:xfrm>
            <a:off x="318104" y="1123340"/>
            <a:ext cx="8707141" cy="3046948"/>
          </a:xfrm>
          <a:prstGeom prst="rect">
            <a:avLst/>
          </a:prstGeom>
          <a:noFill/>
          <a:ln>
            <a:noFill/>
          </a:ln>
        </p:spPr>
        <p:txBody>
          <a:bodyPr spcFirstLastPara="1" wrap="square" lIns="91425" tIns="45700" rIns="91425" bIns="45700" anchor="t" anchorCtr="0">
            <a:spAutoFit/>
          </a:bodyPr>
          <a:lstStyle/>
          <a:p>
            <a:pPr marL="285750" indent="-285750" fontAlgn="base">
              <a:lnSpc>
                <a:spcPct val="150000"/>
              </a:lnSpc>
              <a:buFont typeface="Wingdings" panose="05000000000000000000" pitchFamily="2" charset="2"/>
              <a:buChar char="Ø"/>
            </a:pPr>
            <a:r>
              <a:rPr lang="en-GB" sz="1600" dirty="0"/>
              <a:t>Context API in React is used to share data across the components without passing the props manually through every level. It allows to create global state of data providing global access to all the components.</a:t>
            </a:r>
          </a:p>
          <a:p>
            <a:pPr marL="285750" indent="-285750" fontAlgn="base">
              <a:lnSpc>
                <a:spcPct val="150000"/>
              </a:lnSpc>
              <a:buFont typeface="Wingdings" panose="05000000000000000000" pitchFamily="2" charset="2"/>
              <a:buChar char="Ø"/>
            </a:pPr>
            <a:r>
              <a:rPr lang="en-GB" sz="1600" dirty="0"/>
              <a:t>Context API is used to pass global variables anywhere in the code without the prop drilling. It helps when there is a need for sharing state between a lot of nested components. It is light in weight and easier to use, to create a context just need to call </a:t>
            </a:r>
            <a:r>
              <a:rPr lang="en-GB" sz="1600" dirty="0" err="1"/>
              <a:t>React.createContext</a:t>
            </a:r>
            <a:r>
              <a:rPr lang="en-GB" sz="1600" dirty="0"/>
              <a:t>(). No need to install other dependencies or third-party libraries like redux for state management.</a:t>
            </a:r>
            <a:endParaRPr lang="en-IN" sz="1600" dirty="0"/>
          </a:p>
        </p:txBody>
      </p:sp>
      <p:sp>
        <p:nvSpPr>
          <p:cNvPr id="10" name="TextBox 9">
            <a:extLst>
              <a:ext uri="{FF2B5EF4-FFF2-40B4-BE49-F238E27FC236}">
                <a16:creationId xmlns:a16="http://schemas.microsoft.com/office/drawing/2014/main" id="{B2AF76D3-1C67-D56C-1204-3AAFD499F3E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grpSp>
        <p:nvGrpSpPr>
          <p:cNvPr id="17" name="Google Shape;108;p2">
            <a:extLst>
              <a:ext uri="{FF2B5EF4-FFF2-40B4-BE49-F238E27FC236}">
                <a16:creationId xmlns:a16="http://schemas.microsoft.com/office/drawing/2014/main" id="{EE54ACBA-E913-5D9B-23F8-C2BDA02F49F6}"/>
              </a:ext>
            </a:extLst>
          </p:cNvPr>
          <p:cNvGrpSpPr/>
          <p:nvPr/>
        </p:nvGrpSpPr>
        <p:grpSpPr>
          <a:xfrm>
            <a:off x="648523" y="448456"/>
            <a:ext cx="8245053" cy="823292"/>
            <a:chOff x="-2423" y="7095"/>
            <a:chExt cx="5583357" cy="823292"/>
          </a:xfrm>
          <a:noFill/>
        </p:grpSpPr>
        <p:sp>
          <p:nvSpPr>
            <p:cNvPr id="18" name="Google Shape;109;p2">
              <a:extLst>
                <a:ext uri="{FF2B5EF4-FFF2-40B4-BE49-F238E27FC236}">
                  <a16:creationId xmlns:a16="http://schemas.microsoft.com/office/drawing/2014/main" id="{6140E404-9819-8236-CC47-1FF8D42D4E94}"/>
                </a:ext>
              </a:extLst>
            </p:cNvPr>
            <p:cNvSpPr/>
            <p:nvPr/>
          </p:nvSpPr>
          <p:spPr>
            <a:xfrm>
              <a:off x="0" y="7095"/>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Context API</a:t>
              </a:r>
            </a:p>
          </p:txBody>
        </p:sp>
        <p:sp>
          <p:nvSpPr>
            <p:cNvPr id="19" name="Google Shape;110;p2">
              <a:extLst>
                <a:ext uri="{FF2B5EF4-FFF2-40B4-BE49-F238E27FC236}">
                  <a16:creationId xmlns:a16="http://schemas.microsoft.com/office/drawing/2014/main" id="{19993986-5375-3520-905D-539005CE73B2}"/>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984998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50F2A49-37A2-9F01-6291-3CF4CE82C1DC}"/>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465334DD-2F4B-836D-8ED3-30E20C7FFE41}"/>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8E595FF9-F3C2-6259-72B9-C22968966B6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ED7F4CC-A3C4-BE90-EBF7-4277616E5632}"/>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C837A941-BF70-701B-BB38-BDE37022FD6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8BD907E-B35A-3BD5-4224-C5933A182BCA}"/>
              </a:ext>
            </a:extLst>
          </p:cNvPr>
          <p:cNvSpPr txBox="1"/>
          <p:nvPr/>
        </p:nvSpPr>
        <p:spPr>
          <a:xfrm>
            <a:off x="436859" y="1026315"/>
            <a:ext cx="8707141" cy="4031833"/>
          </a:xfrm>
          <a:prstGeom prst="rect">
            <a:avLst/>
          </a:prstGeom>
          <a:noFill/>
          <a:ln>
            <a:noFill/>
          </a:ln>
        </p:spPr>
        <p:txBody>
          <a:bodyPr spcFirstLastPara="1" wrap="square" lIns="91425" tIns="45700" rIns="91425" bIns="45700" anchor="t" anchorCtr="0">
            <a:spAutoFit/>
          </a:bodyPr>
          <a:lstStyle/>
          <a:p>
            <a:pPr marL="285750" indent="-285750" fontAlgn="base">
              <a:buFont typeface="Wingdings" panose="05000000000000000000" pitchFamily="2" charset="2"/>
              <a:buChar char="Ø"/>
            </a:pPr>
            <a:r>
              <a:rPr lang="en-GB" sz="1600" dirty="0"/>
              <a:t>The Context API is a built-in React feature that enables centralized data management.</a:t>
            </a:r>
          </a:p>
          <a:p>
            <a:pPr fontAlgn="base"/>
            <a:endParaRPr lang="en-GB" sz="1600" dirty="0"/>
          </a:p>
          <a:p>
            <a:pPr marL="285750" indent="-285750" fontAlgn="base">
              <a:buFont typeface="Wingdings" panose="05000000000000000000" pitchFamily="2" charset="2"/>
              <a:buChar char="Ø"/>
            </a:pPr>
            <a:r>
              <a:rPr lang="en-GB" sz="1600" dirty="0"/>
              <a:t>It allows a component to make data available to all its descendants, regardless of how deeply they are nested.</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Context provides a way to broadcast data to multiple components efficiently.</a:t>
            </a:r>
          </a:p>
          <a:p>
            <a:pPr marL="285750" indent="-285750" fontAlgn="base">
              <a:buFont typeface="Wingdings" panose="05000000000000000000" pitchFamily="2" charset="2"/>
              <a:buChar char="Ø"/>
            </a:pPr>
            <a:endParaRPr lang="en-GB" sz="1600" dirty="0"/>
          </a:p>
          <a:p>
            <a:pPr fontAlgn="base"/>
            <a:r>
              <a:rPr lang="en-GB" sz="1600" dirty="0"/>
              <a:t>The Context API consists of three main parts:</a:t>
            </a:r>
          </a:p>
          <a:p>
            <a:pPr marL="285750" indent="-285750" fontAlgn="base">
              <a:buFont typeface="Wingdings" panose="05000000000000000000" pitchFamily="2" charset="2"/>
              <a:buChar char="Ø"/>
            </a:pPr>
            <a:endParaRPr lang="en-GB" sz="1600" dirty="0"/>
          </a:p>
          <a:p>
            <a:pPr marL="285750" indent="-285750" fontAlgn="base">
              <a:buFont typeface="Arial" panose="020B0604020202020204" pitchFamily="34" charset="0"/>
              <a:buChar char="•"/>
            </a:pPr>
            <a:r>
              <a:rPr lang="en-GB" sz="1600" b="1" dirty="0" err="1"/>
              <a:t>createContext</a:t>
            </a:r>
            <a:r>
              <a:rPr lang="en-GB" sz="1600" b="1" dirty="0"/>
              <a:t>() </a:t>
            </a:r>
            <a:r>
              <a:rPr lang="en-GB" sz="1600" dirty="0"/>
              <a:t>– Creates a context object</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b="1" dirty="0"/>
              <a:t>Provider</a:t>
            </a:r>
            <a:r>
              <a:rPr lang="en-GB" sz="1600" dirty="0"/>
              <a:t> – Supplies data to the component tree</a:t>
            </a:r>
          </a:p>
          <a:p>
            <a:pPr marL="285750" indent="-285750" fontAlgn="base">
              <a:buFont typeface="Arial" panose="020B0604020202020204" pitchFamily="34" charset="0"/>
              <a:buChar char="•"/>
            </a:pPr>
            <a:endParaRPr lang="en-GB" sz="1600" dirty="0"/>
          </a:p>
          <a:p>
            <a:pPr marL="285750" indent="-285750" fontAlgn="base">
              <a:buFont typeface="Arial" panose="020B0604020202020204" pitchFamily="34" charset="0"/>
              <a:buChar char="•"/>
            </a:pPr>
            <a:r>
              <a:rPr lang="en-GB" sz="1600" b="1" dirty="0"/>
              <a:t>Consumer</a:t>
            </a:r>
            <a:r>
              <a:rPr lang="en-GB" sz="1600" dirty="0"/>
              <a:t> – Accesses data from the context</a:t>
            </a:r>
          </a:p>
          <a:p>
            <a:pPr marL="285750" indent="-285750" fontAlgn="base">
              <a:buFont typeface="Arial" panose="020B0604020202020204" pitchFamily="34" charset="0"/>
              <a:buChar char="•"/>
            </a:pPr>
            <a:endParaRPr lang="en-GB" sz="1600" dirty="0"/>
          </a:p>
          <a:p>
            <a:pPr fontAlgn="base"/>
            <a:r>
              <a:rPr lang="en-GB" sz="1600" dirty="0"/>
              <a:t>These components work together to manage shared state.</a:t>
            </a:r>
            <a:endParaRPr lang="en-IN" sz="1600" dirty="0"/>
          </a:p>
        </p:txBody>
      </p:sp>
      <p:sp>
        <p:nvSpPr>
          <p:cNvPr id="10" name="TextBox 9">
            <a:extLst>
              <a:ext uri="{FF2B5EF4-FFF2-40B4-BE49-F238E27FC236}">
                <a16:creationId xmlns:a16="http://schemas.microsoft.com/office/drawing/2014/main" id="{CF1F6495-9F0D-5B06-20E7-3A5864C96D4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grpSp>
        <p:nvGrpSpPr>
          <p:cNvPr id="17" name="Google Shape;108;p2">
            <a:extLst>
              <a:ext uri="{FF2B5EF4-FFF2-40B4-BE49-F238E27FC236}">
                <a16:creationId xmlns:a16="http://schemas.microsoft.com/office/drawing/2014/main" id="{DBBABAA2-5BB3-C883-2379-6680D514AC1E}"/>
              </a:ext>
            </a:extLst>
          </p:cNvPr>
          <p:cNvGrpSpPr/>
          <p:nvPr/>
        </p:nvGrpSpPr>
        <p:grpSpPr>
          <a:xfrm>
            <a:off x="648523" y="448456"/>
            <a:ext cx="8245053" cy="823292"/>
            <a:chOff x="-2423" y="7095"/>
            <a:chExt cx="5583357" cy="823292"/>
          </a:xfrm>
          <a:noFill/>
        </p:grpSpPr>
        <p:sp>
          <p:nvSpPr>
            <p:cNvPr id="18" name="Google Shape;109;p2">
              <a:extLst>
                <a:ext uri="{FF2B5EF4-FFF2-40B4-BE49-F238E27FC236}">
                  <a16:creationId xmlns:a16="http://schemas.microsoft.com/office/drawing/2014/main" id="{8D07CE03-BCEB-7D01-A9EC-A3B649A4F8C1}"/>
                </a:ext>
              </a:extLst>
            </p:cNvPr>
            <p:cNvSpPr/>
            <p:nvPr/>
          </p:nvSpPr>
          <p:spPr>
            <a:xfrm>
              <a:off x="0" y="7095"/>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Context API &amp; Components</a:t>
              </a:r>
            </a:p>
          </p:txBody>
        </p:sp>
        <p:sp>
          <p:nvSpPr>
            <p:cNvPr id="19" name="Google Shape;110;p2">
              <a:extLst>
                <a:ext uri="{FF2B5EF4-FFF2-40B4-BE49-F238E27FC236}">
                  <a16:creationId xmlns:a16="http://schemas.microsoft.com/office/drawing/2014/main" id="{5345B4E0-0302-DBA9-C004-D6F0402B50E5}"/>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1486200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6584FAA-BAF6-8F29-AFD6-50DD8F2AAC0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6849020-6509-2DA9-B773-DD3B6797BD6E}"/>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4876C8BF-022C-4A96-E1A3-7B1E8EB1CF32}"/>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87901DD-778F-0E61-3B95-C0EDCFA28E21}"/>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6B1F5ADD-AE7B-9B0A-38AE-24D0E6DD7AB7}"/>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32D50DAE-A033-EEEB-CC26-56D47972ECAA}"/>
              </a:ext>
            </a:extLst>
          </p:cNvPr>
          <p:cNvSpPr txBox="1"/>
          <p:nvPr/>
        </p:nvSpPr>
        <p:spPr>
          <a:xfrm>
            <a:off x="436859" y="1271748"/>
            <a:ext cx="8707141" cy="2800726"/>
          </a:xfrm>
          <a:prstGeom prst="rect">
            <a:avLst/>
          </a:prstGeom>
          <a:noFill/>
          <a:ln>
            <a:noFill/>
          </a:ln>
        </p:spPr>
        <p:txBody>
          <a:bodyPr spcFirstLastPara="1" wrap="square" lIns="91425" tIns="45700" rIns="91425" bIns="45700" anchor="t" anchorCtr="0">
            <a:spAutoFit/>
          </a:bodyPr>
          <a:lstStyle/>
          <a:p>
            <a:pPr marL="285750" indent="-285750" fontAlgn="base">
              <a:buFont typeface="Wingdings" panose="05000000000000000000" pitchFamily="2" charset="2"/>
              <a:buChar char="Ø"/>
            </a:pPr>
            <a:r>
              <a:rPr lang="en-GB" sz="1600" dirty="0"/>
              <a:t>Eliminates prop-drilling</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Improves code readability</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Enhances component reusability</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Simplifies state management</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Centralizes shared data</a:t>
            </a:r>
          </a:p>
          <a:p>
            <a:pPr marL="285750" indent="-285750" fontAlgn="base">
              <a:buFont typeface="Wingdings" panose="05000000000000000000" pitchFamily="2" charset="2"/>
              <a:buChar char="Ø"/>
            </a:pPr>
            <a:endParaRPr lang="en-GB" sz="1600" dirty="0"/>
          </a:p>
          <a:p>
            <a:pPr marL="285750" indent="-285750" fontAlgn="base">
              <a:buFont typeface="Wingdings" panose="05000000000000000000" pitchFamily="2" charset="2"/>
              <a:buChar char="Ø"/>
            </a:pPr>
            <a:r>
              <a:rPr lang="en-GB" sz="1600" dirty="0"/>
              <a:t>Context API provides a cleaner and more scalable approach to managing shared state.</a:t>
            </a:r>
            <a:endParaRPr lang="en-IN" sz="1600" dirty="0"/>
          </a:p>
        </p:txBody>
      </p:sp>
      <p:sp>
        <p:nvSpPr>
          <p:cNvPr id="10" name="TextBox 9">
            <a:extLst>
              <a:ext uri="{FF2B5EF4-FFF2-40B4-BE49-F238E27FC236}">
                <a16:creationId xmlns:a16="http://schemas.microsoft.com/office/drawing/2014/main" id="{E8FEEF44-8005-FE0E-3365-1D2FD48B730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grpSp>
        <p:nvGrpSpPr>
          <p:cNvPr id="17" name="Google Shape;108;p2">
            <a:extLst>
              <a:ext uri="{FF2B5EF4-FFF2-40B4-BE49-F238E27FC236}">
                <a16:creationId xmlns:a16="http://schemas.microsoft.com/office/drawing/2014/main" id="{F4B41F38-73EE-69E0-F2D3-A1DB7CD8CE7A}"/>
              </a:ext>
            </a:extLst>
          </p:cNvPr>
          <p:cNvGrpSpPr/>
          <p:nvPr/>
        </p:nvGrpSpPr>
        <p:grpSpPr>
          <a:xfrm>
            <a:off x="648523" y="448456"/>
            <a:ext cx="8245053" cy="823292"/>
            <a:chOff x="-2423" y="7095"/>
            <a:chExt cx="5583357" cy="823292"/>
          </a:xfrm>
          <a:noFill/>
        </p:grpSpPr>
        <p:sp>
          <p:nvSpPr>
            <p:cNvPr id="18" name="Google Shape;109;p2">
              <a:extLst>
                <a:ext uri="{FF2B5EF4-FFF2-40B4-BE49-F238E27FC236}">
                  <a16:creationId xmlns:a16="http://schemas.microsoft.com/office/drawing/2014/main" id="{6C1599E8-9FB4-BCEA-878F-5C045753ED05}"/>
                </a:ext>
              </a:extLst>
            </p:cNvPr>
            <p:cNvSpPr/>
            <p:nvPr/>
          </p:nvSpPr>
          <p:spPr>
            <a:xfrm>
              <a:off x="0" y="7095"/>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Advantages of Context API</a:t>
              </a:r>
            </a:p>
          </p:txBody>
        </p:sp>
        <p:sp>
          <p:nvSpPr>
            <p:cNvPr id="19" name="Google Shape;110;p2">
              <a:extLst>
                <a:ext uri="{FF2B5EF4-FFF2-40B4-BE49-F238E27FC236}">
                  <a16:creationId xmlns:a16="http://schemas.microsoft.com/office/drawing/2014/main" id="{28916182-09CD-A1F7-8EE0-F4DD23F13AE0}"/>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846636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F550E18-C2B5-1B6E-B5FF-43D01639794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19C11AA-3341-E692-30C6-302CE09FBB9E}"/>
              </a:ext>
            </a:extLst>
          </p:cNvPr>
          <p:cNvGrpSpPr/>
          <p:nvPr/>
        </p:nvGrpSpPr>
        <p:grpSpPr>
          <a:xfrm>
            <a:off x="783770" y="218172"/>
            <a:ext cx="8241475" cy="444600"/>
            <a:chOff x="0" y="6299"/>
            <a:chExt cx="5580934" cy="444600"/>
          </a:xfrm>
          <a:noFill/>
        </p:grpSpPr>
        <p:sp>
          <p:nvSpPr>
            <p:cNvPr id="109" name="Google Shape;109;p2">
              <a:extLst>
                <a:ext uri="{FF2B5EF4-FFF2-40B4-BE49-F238E27FC236}">
                  <a16:creationId xmlns:a16="http://schemas.microsoft.com/office/drawing/2014/main" id="{E0F81368-7B47-ED3C-38BB-237953032D5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4C79A58-1ED5-87B5-9480-C9389007963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7849CF2D-43CC-7590-AB72-4919DD9D17E6}"/>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BB1AD8FA-D98D-D78E-5AA4-DAC15D305757}"/>
              </a:ext>
            </a:extLst>
          </p:cNvPr>
          <p:cNvSpPr txBox="1"/>
          <p:nvPr/>
        </p:nvSpPr>
        <p:spPr>
          <a:xfrm>
            <a:off x="385500" y="1292806"/>
            <a:ext cx="8810449" cy="3785611"/>
          </a:xfrm>
          <a:prstGeom prst="rect">
            <a:avLst/>
          </a:prstGeom>
          <a:noFill/>
          <a:ln>
            <a:noFill/>
          </a:ln>
        </p:spPr>
        <p:txBody>
          <a:bodyPr spcFirstLastPara="1" wrap="square" lIns="91425" tIns="45700" rIns="91425" bIns="45700" anchor="t" anchorCtr="0">
            <a:spAutoFit/>
          </a:bodyPr>
          <a:lstStyle/>
          <a:p>
            <a:pPr fontAlgn="base">
              <a:lnSpc>
                <a:spcPct val="150000"/>
              </a:lnSpc>
            </a:pPr>
            <a:r>
              <a:rPr lang="en-GB" sz="1600" b="1" dirty="0"/>
              <a:t>Context Provider :</a:t>
            </a:r>
          </a:p>
          <a:p>
            <a:pPr marL="285750" indent="-285750" fontAlgn="base">
              <a:lnSpc>
                <a:spcPct val="150000"/>
              </a:lnSpc>
              <a:buFont typeface="Wingdings" panose="05000000000000000000" pitchFamily="2" charset="2"/>
              <a:buChar char="Ø"/>
            </a:pPr>
            <a:r>
              <a:rPr lang="en-GB" sz="1600" dirty="0"/>
              <a:t>The Provider component is responsible for supplying data to all child components.</a:t>
            </a:r>
          </a:p>
          <a:p>
            <a:pPr marL="285750" indent="-285750" fontAlgn="base">
              <a:lnSpc>
                <a:spcPct val="150000"/>
              </a:lnSpc>
              <a:buFont typeface="Wingdings" panose="05000000000000000000" pitchFamily="2" charset="2"/>
              <a:buChar char="Ø"/>
            </a:pPr>
            <a:r>
              <a:rPr lang="en-GB" sz="1600" dirty="0"/>
              <a:t>It wraps around the component tree and provides a value using the value prop.</a:t>
            </a:r>
          </a:p>
          <a:p>
            <a:pPr marL="285750" indent="-285750" fontAlgn="base">
              <a:lnSpc>
                <a:spcPct val="150000"/>
              </a:lnSpc>
              <a:buFont typeface="Wingdings" panose="05000000000000000000" pitchFamily="2" charset="2"/>
              <a:buChar char="Ø"/>
            </a:pPr>
            <a:r>
              <a:rPr lang="en-GB" sz="1600" dirty="0"/>
              <a:t>Any component inside the Provider can access the shared data without receiving it as a prop.</a:t>
            </a:r>
          </a:p>
          <a:p>
            <a:pPr fontAlgn="base">
              <a:lnSpc>
                <a:spcPct val="150000"/>
              </a:lnSpc>
            </a:pPr>
            <a:r>
              <a:rPr lang="en-GB" sz="1600" b="1" dirty="0"/>
              <a:t>Context Consumer :</a:t>
            </a:r>
          </a:p>
          <a:p>
            <a:pPr marL="285750" indent="-285750" fontAlgn="base">
              <a:lnSpc>
                <a:spcPct val="150000"/>
              </a:lnSpc>
              <a:buFont typeface="Wingdings" panose="05000000000000000000" pitchFamily="2" charset="2"/>
              <a:buChar char="Ø"/>
            </a:pPr>
            <a:r>
              <a:rPr lang="en-GB" sz="1600" dirty="0"/>
              <a:t>The Consumer component is used to access data from the context.</a:t>
            </a:r>
          </a:p>
          <a:p>
            <a:pPr marL="285750" indent="-285750" fontAlgn="base">
              <a:lnSpc>
                <a:spcPct val="150000"/>
              </a:lnSpc>
              <a:buFont typeface="Wingdings" panose="05000000000000000000" pitchFamily="2" charset="2"/>
              <a:buChar char="Ø"/>
            </a:pPr>
            <a:r>
              <a:rPr lang="en-GB" sz="1600" dirty="0"/>
              <a:t>It subscribes to the context and automatically updates when the context value changes.</a:t>
            </a:r>
          </a:p>
          <a:p>
            <a:pPr marL="285750" indent="-285750" fontAlgn="base">
              <a:lnSpc>
                <a:spcPct val="150000"/>
              </a:lnSpc>
              <a:buFont typeface="Wingdings" panose="05000000000000000000" pitchFamily="2" charset="2"/>
              <a:buChar char="Ø"/>
            </a:pPr>
            <a:r>
              <a:rPr lang="en-GB" sz="1600" dirty="0"/>
              <a:t>Consumers help components remain independent of their position in the component hierarchy.</a:t>
            </a:r>
          </a:p>
        </p:txBody>
      </p:sp>
      <p:sp>
        <p:nvSpPr>
          <p:cNvPr id="10" name="TextBox 9">
            <a:extLst>
              <a:ext uri="{FF2B5EF4-FFF2-40B4-BE49-F238E27FC236}">
                <a16:creationId xmlns:a16="http://schemas.microsoft.com/office/drawing/2014/main" id="{CA032BB5-7146-575C-1F84-82756010D3F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grpSp>
        <p:nvGrpSpPr>
          <p:cNvPr id="17" name="Google Shape;108;p2">
            <a:extLst>
              <a:ext uri="{FF2B5EF4-FFF2-40B4-BE49-F238E27FC236}">
                <a16:creationId xmlns:a16="http://schemas.microsoft.com/office/drawing/2014/main" id="{61E8144F-6089-1B4D-49BD-1B06084EDB6B}"/>
              </a:ext>
            </a:extLst>
          </p:cNvPr>
          <p:cNvGrpSpPr/>
          <p:nvPr/>
        </p:nvGrpSpPr>
        <p:grpSpPr>
          <a:xfrm>
            <a:off x="648523" y="526102"/>
            <a:ext cx="8241475" cy="665888"/>
            <a:chOff x="-2423" y="164499"/>
            <a:chExt cx="5580934" cy="665888"/>
          </a:xfrm>
          <a:noFill/>
        </p:grpSpPr>
        <p:sp>
          <p:nvSpPr>
            <p:cNvPr id="18" name="Google Shape;109;p2">
              <a:extLst>
                <a:ext uri="{FF2B5EF4-FFF2-40B4-BE49-F238E27FC236}">
                  <a16:creationId xmlns:a16="http://schemas.microsoft.com/office/drawing/2014/main" id="{6C26B34B-A09A-09DB-138D-ACF131B2D12A}"/>
                </a:ext>
              </a:extLst>
            </p:cNvPr>
            <p:cNvSpPr/>
            <p:nvPr/>
          </p:nvSpPr>
          <p:spPr>
            <a:xfrm>
              <a:off x="-2423" y="1644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gn="ctr" fontAlgn="base"/>
              <a:r>
                <a:rPr lang="en-GB" sz="3200" b="1" dirty="0"/>
                <a:t>Context Provider &amp; Context Consumer</a:t>
              </a:r>
            </a:p>
          </p:txBody>
        </p:sp>
        <p:sp>
          <p:nvSpPr>
            <p:cNvPr id="19" name="Google Shape;110;p2">
              <a:extLst>
                <a:ext uri="{FF2B5EF4-FFF2-40B4-BE49-F238E27FC236}">
                  <a16:creationId xmlns:a16="http://schemas.microsoft.com/office/drawing/2014/main" id="{2B404ACF-A893-11DC-7307-81D33DABD874}"/>
                </a:ext>
              </a:extLst>
            </p:cNvPr>
            <p:cNvSpPr txBox="1"/>
            <p:nvPr/>
          </p:nvSpPr>
          <p:spPr>
            <a:xfrm>
              <a:off x="-2423" y="429195"/>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Tree>
    <p:extLst>
      <p:ext uri="{BB962C8B-B14F-4D97-AF65-F5344CB8AC3E}">
        <p14:creationId xmlns:p14="http://schemas.microsoft.com/office/powerpoint/2010/main" val="488907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712518" y="862360"/>
            <a:ext cx="8280399" cy="3850889"/>
          </a:xfrm>
          <a:prstGeom prst="rect">
            <a:avLst/>
          </a:prstGeom>
          <a:noFill/>
          <a:ln>
            <a:noFill/>
          </a:ln>
        </p:spPr>
        <p:txBody>
          <a:bodyPr spcFirstLastPara="1" wrap="square" lIns="91425" tIns="45700" rIns="91425" bIns="45700" anchor="t" anchorCtr="0">
            <a:normAutofit lnSpcReduction="10000"/>
          </a:bodyPr>
          <a:lstStyle/>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1. Prop-drilling refers to:</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A. Using props in components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B. Passing data through many components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C. Updating state</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D. Using hooks</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Answer: B</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2. Context API is mainly used to:</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A. Handle routing</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B. Manage global data</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C. Style components</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D. Fetch APIs</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Answer: B</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3. Which component provides data in Context API?</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A. Consumer</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B. Provider</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C. Route</a:t>
            </a:r>
          </a:p>
          <a:p>
            <a:pPr marL="342900" lvl="0" indent="-342900" algn="just">
              <a:lnSpc>
                <a:spcPct val="100000"/>
              </a:lnSpc>
              <a:spcBef>
                <a:spcPts val="0"/>
              </a:spcBef>
              <a:buNone/>
            </a:pPr>
            <a:r>
              <a:rPr lang="en-GB" sz="1100" dirty="0">
                <a:solidFill>
                  <a:schemeClr val="bg2"/>
                </a:solidFill>
                <a:latin typeface="+mj-lt"/>
                <a:ea typeface="Times New Roman"/>
                <a:cs typeface="Times New Roman"/>
                <a:sym typeface="Times New Roman"/>
              </a:rPr>
              <a:t>D. Hook</a:t>
            </a:r>
          </a:p>
          <a:p>
            <a:pPr marL="342900" lvl="0" indent="-342900" algn="just">
              <a:lnSpc>
                <a:spcPct val="100000"/>
              </a:lnSpc>
              <a:spcBef>
                <a:spcPts val="0"/>
              </a:spcBef>
              <a:buNone/>
            </a:pPr>
            <a:endParaRPr lang="en-GB" sz="1100" b="1" dirty="0">
              <a:solidFill>
                <a:schemeClr val="bg2"/>
              </a:solidFill>
              <a:latin typeface="+mj-lt"/>
              <a:ea typeface="Times New Roman"/>
              <a:cs typeface="Times New Roman"/>
              <a:sym typeface="Times New Roman"/>
            </a:endParaRPr>
          </a:p>
          <a:p>
            <a:pPr marL="342900" lvl="0" indent="-342900" algn="just">
              <a:lnSpc>
                <a:spcPct val="100000"/>
              </a:lnSpc>
              <a:spcBef>
                <a:spcPts val="0"/>
              </a:spcBef>
              <a:buNone/>
            </a:pPr>
            <a:r>
              <a:rPr lang="en-GB" sz="1100" b="1" dirty="0">
                <a:solidFill>
                  <a:schemeClr val="bg2"/>
                </a:solidFill>
                <a:latin typeface="+mj-lt"/>
                <a:ea typeface="Times New Roman"/>
                <a:cs typeface="Times New Roman"/>
                <a:sym typeface="Times New Roman"/>
              </a:rPr>
              <a:t>Answer: B</a:t>
            </a:r>
            <a:endParaRPr sz="1100" b="1" i="0" u="none" dirty="0">
              <a:solidFill>
                <a:schemeClr val="bg2"/>
              </a:solidFill>
              <a:latin typeface="+mj-lt"/>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Tree>
    <p:extLst>
      <p:ext uri="{BB962C8B-B14F-4D97-AF65-F5344CB8AC3E}">
        <p14:creationId xmlns:p14="http://schemas.microsoft.com/office/powerpoint/2010/main" val="3027036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eferences/ Articles/ Videos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385500" y="1422025"/>
            <a:ext cx="8942119" cy="1815841"/>
          </a:xfrm>
          <a:prstGeom prst="rect">
            <a:avLst/>
          </a:prstGeom>
          <a:noFill/>
          <a:ln>
            <a:noFill/>
          </a:ln>
        </p:spPr>
        <p:txBody>
          <a:bodyPr spcFirstLastPara="1" wrap="square" lIns="91425" tIns="45700" rIns="91425" bIns="45700" anchor="t" anchorCtr="0">
            <a:spAutoFit/>
          </a:bodyPr>
          <a:lstStyle/>
          <a:p>
            <a:r>
              <a:rPr lang="en-GB" dirty="0"/>
              <a:t>• React Official Documentation – Context</a:t>
            </a:r>
            <a:br>
              <a:rPr lang="en-GB" dirty="0"/>
            </a:br>
            <a:r>
              <a:rPr lang="en-GB" dirty="0">
                <a:hlinkClick r:id="rId3"/>
              </a:rPr>
              <a:t>https://react.dev/reference/react/createContext</a:t>
            </a:r>
            <a:endParaRPr lang="en-GB" dirty="0"/>
          </a:p>
          <a:p>
            <a:endParaRPr lang="en-GB" dirty="0"/>
          </a:p>
          <a:p>
            <a:r>
              <a:rPr lang="en-GB" dirty="0"/>
              <a:t>• React Context API Guide</a:t>
            </a:r>
            <a:br>
              <a:rPr lang="en-GB" dirty="0"/>
            </a:br>
            <a:r>
              <a:rPr lang="en-GB" dirty="0">
                <a:hlinkClick r:id="rId4"/>
              </a:rPr>
              <a:t>https://react.dev/learn/passing-data-deeply-with-context</a:t>
            </a:r>
            <a:endParaRPr lang="en-GB" dirty="0"/>
          </a:p>
          <a:p>
            <a:endParaRPr lang="en-GB" dirty="0"/>
          </a:p>
          <a:p>
            <a:r>
              <a:rPr lang="en-GB" dirty="0"/>
              <a:t>• MDN – Component-Based Architecture</a:t>
            </a:r>
            <a:br>
              <a:rPr lang="en-GB" dirty="0"/>
            </a:br>
            <a:r>
              <a:rPr lang="en-GB" dirty="0">
                <a:hlinkClick r:id="rId5"/>
              </a:rPr>
              <a:t>https://developer.mozilla.org</a:t>
            </a:r>
            <a:endParaRPr lang="en-GB" dirty="0"/>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Tree>
    <p:extLst>
      <p:ext uri="{BB962C8B-B14F-4D97-AF65-F5344CB8AC3E}">
        <p14:creationId xmlns:p14="http://schemas.microsoft.com/office/powerpoint/2010/main" val="2294786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tushar.e18319@cumail.in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3045</TotalTime>
  <Words>1154</Words>
  <Application>Microsoft Office PowerPoint</Application>
  <PresentationFormat>On-screen Show (16:9)</PresentationFormat>
  <Paragraphs>160</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 Black</vt:lpstr>
      <vt:lpstr>Calibri</vt:lpstr>
      <vt:lpstr>Arial</vt:lpstr>
      <vt:lpstr>Wingdings</vt:lpstr>
      <vt:lpstr>Vladimir Script</vt:lpstr>
      <vt:lpstr>Lato</vt:lpstr>
      <vt:lpstr>Times New Roman</vt:lpstr>
      <vt:lpstr>Cambria</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Tushar Sood</dc:creator>
  <cp:lastModifiedBy>Pankaj</cp:lastModifiedBy>
  <cp:revision>84</cp:revision>
  <dcterms:modified xsi:type="dcterms:W3CDTF">2025-12-14T11:06:50Z</dcterms:modified>
</cp:coreProperties>
</file>