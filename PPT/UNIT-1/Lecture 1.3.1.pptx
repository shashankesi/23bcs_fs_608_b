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352" r:id="rId15"/>
    <p:sldId id="353" r:id="rId16"/>
    <p:sldId id="354" r:id="rId17"/>
    <p:sldId id="355" r:id="rId18"/>
    <p:sldId id="356" r:id="rId19"/>
    <p:sldId id="288" r:id="rId20"/>
    <p:sldId id="300" r:id="rId21"/>
    <p:sldId id="305" r:id="rId2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Vladimir Script" panose="03050402040407070305" pitchFamily="66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5771426-9A0A-16D5-28AF-B302A9B2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DCD7DC-C733-E58A-088C-A68BBBD4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0AA03E8-1D84-2E7D-4681-31104643E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62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B9FF56E-82BB-BC46-8B26-42967B4D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59EEBC6-F03A-8F75-0D9B-A28C3D97E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ACFBF48-8318-6181-3905-9ABAAEB76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612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CB931E2-39F6-0588-7352-292DA6487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CC401AE-9AE4-B692-762C-02BE1D03B1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2A5DEA2-8818-B4E0-8574-0E683C9F2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404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90C38AE-9E04-E286-09AA-AEB607D0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D2919ED-00B7-F481-DDB0-1807BEF7F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2C0B71C-3082-7EF3-85C8-F461FA758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5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8FE6D2A-8E1B-1C24-2F6F-DE968867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461B362-7409-2383-F573-255B832B80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51E26E6-4122-64D1-024E-BC91D2D8D9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87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ui.com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react" TargetMode="External"/><Relationship Id="rId5" Type="http://schemas.openxmlformats.org/officeDocument/2006/relationships/hyperlink" Target="https://react.dev/" TargetMode="External"/><Relationship Id="rId4" Type="http://schemas.openxmlformats.org/officeDocument/2006/relationships/hyperlink" Target="https://ant.design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40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Chapter No. 3                    Lecture No.1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Material UI (Grid, Typography, Theming), Ant Design (Complex Tables, Forms)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8"/>
            <a:ext cx="903992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importance of UI component libraries in React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the working of Material UI Grid system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Describe the role of Typography in UI consistency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Theming and global styling in Material UI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how Ant Design tables and forms handle complex data and user input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UI Libraries in React: Material UI &amp; Ant Design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333551" y="1266343"/>
            <a:ext cx="862731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Modern React applications make extensive use of UI component libraries to create visually consistent, responsive, and user-friendly interfaces.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Material UI (MUI) and Ant Design are two widely adopted React UI libraries that provide pre-built, reusable components designed according to established design systems.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These libraries reduce the need for writing custom CSS and ensure that applications follow professional UI/UX standards, making development faster and more maintainable.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Why Use UI Component Libraries?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UI component libraries are used to standardize the look and feel of applications.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They help developers avoid repetitive styling tasks and reduce inconsistencies across screens.</a:t>
            </a:r>
          </a:p>
          <a:p>
            <a:pPr>
              <a:buClr>
                <a:schemeClr val="bg2"/>
              </a:buClr>
              <a:buFont typeface="Wingdings" panose="05000000000000000000" pitchFamily="2" charset="2"/>
              <a:buChar char="Ø"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Key reasons for using UI libraries: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Faster development with ready-made components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Consistent design across the application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Built-in responsiveness and accessibility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Reduced maintenance effort</a:t>
            </a:r>
          </a:p>
          <a:p>
            <a:pPr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Better user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Introduction to Material UI (MUI)</a:t>
              </a:r>
              <a:endParaRPr lang="en-IN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51519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Material UI is a React-based UI framework that implements Google’s Material Design principles.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It focuses on clarity, depth, motion, and meaningful visual hierarchy.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Material UI provides components such as buttons, grids, typography, dialogs, and forms, all of which are highly customizable and responsive by default.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Material UI Grid System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BAF62-B5BB-6B76-CF56-7E001DCB8775}"/>
              </a:ext>
            </a:extLst>
          </p:cNvPr>
          <p:cNvSpPr txBox="1"/>
          <p:nvPr/>
        </p:nvSpPr>
        <p:spPr>
          <a:xfrm>
            <a:off x="494207" y="1171600"/>
            <a:ext cx="8001000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Material UI Grid system is used to build responsive layouts using a 12-column structure.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is based on CSS Flexbox, allowing elements to align, wrap, and resize dynamically across screen sizes.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Grid system enables developers to define layout </a:t>
            </a:r>
            <a:r>
              <a:rPr lang="en-GB" sz="1600" dirty="0" err="1"/>
              <a:t>behavior</a:t>
            </a:r>
            <a:r>
              <a:rPr lang="en-GB" sz="1600" dirty="0"/>
              <a:t> for mobile, tablet, and desktop screens using breakpoints.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4000" b="1" dirty="0"/>
                <a:t>Importance of Grid in UI Design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415633" y="1173022"/>
            <a:ext cx="897774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Grid system helps structure content logically and visually.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ensures proper alignment, spacing, and responsiveness across different devices.</a:t>
            </a:r>
          </a:p>
          <a:p>
            <a:pPr fontAlgn="base">
              <a:lnSpc>
                <a:spcPct val="200000"/>
              </a:lnSpc>
            </a:pPr>
            <a:r>
              <a:rPr lang="en-GB" sz="1600" b="1" dirty="0"/>
              <a:t>Using Grid improves: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Layout consistency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Responsiveness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Content readability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Maintainability of UI structure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Material UI Typography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304894" y="1070700"/>
            <a:ext cx="875597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Typography in Material UI manages how text appears throughout the application.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provides predefined variants such as headings, subtitles, body text, and captions that follow Material Design standards.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Typography ensures that text styling remains consistent, readable, and accessible across all screens.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Benefits of Using Typography Component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383584" y="988092"/>
            <a:ext cx="8977746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 Typography component removes the need for manual font styling.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helps maintain visual hierarchy and improves accessibility.</a:t>
            </a:r>
          </a:p>
          <a:p>
            <a:pPr fontAlgn="base">
              <a:lnSpc>
                <a:spcPct val="200000"/>
              </a:lnSpc>
            </a:pPr>
            <a:r>
              <a:rPr lang="en-GB" sz="1600" b="1" dirty="0"/>
              <a:t>Benefits include: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Consistent font sizes and weights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Improved readability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Responsive text scaling</a:t>
            </a:r>
          </a:p>
          <a:p>
            <a:pPr marL="285750" indent="-285750" fontAlgn="base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Cleaner and more maintainable code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Material UI Theming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438832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57FA0CB-C0E2-2561-594C-E584D83C7DB8}"/>
              </a:ext>
            </a:extLst>
          </p:cNvPr>
          <p:cNvSpPr txBox="1"/>
          <p:nvPr/>
        </p:nvSpPr>
        <p:spPr>
          <a:xfrm>
            <a:off x="451262" y="1173022"/>
            <a:ext cx="8692738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Theming in Material UI allows developers to define a global design configuration for the application.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 theme controls </a:t>
            </a:r>
            <a:r>
              <a:rPr lang="en-GB" sz="1600" dirty="0" err="1"/>
              <a:t>colors</a:t>
            </a:r>
            <a:r>
              <a:rPr lang="en-GB" sz="1600" dirty="0"/>
              <a:t>, typography, spacing, and component styles across all screens.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Themes help maintain brand identity and ensure uniform UI </a:t>
            </a:r>
            <a:r>
              <a:rPr lang="en-GB" sz="1600" dirty="0" err="1"/>
              <a:t>behavior</a:t>
            </a:r>
            <a:r>
              <a:rPr lang="en-GB" sz="1600" dirty="0"/>
              <a:t>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Introduction of Ant Design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386283" y="1302585"/>
            <a:ext cx="8977746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Ant Design is a React UI framework designed mainly for enterprise-level and data-driven applications.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focuses on efficiency, clarity, and usability, especially in complex interfaces such as dashboards and admin panels.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Ant Design offers rich components optimized for handling large datasets and structured workflows.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Ant Design Complex Tables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7DBA305-99A9-2627-CC23-48241F7BDC93}"/>
              </a:ext>
            </a:extLst>
          </p:cNvPr>
          <p:cNvSpPr txBox="1"/>
          <p:nvPr/>
        </p:nvSpPr>
        <p:spPr>
          <a:xfrm>
            <a:off x="415633" y="1194726"/>
            <a:ext cx="864524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Ant Design tables are powerful components used to display and manage large and complex datasets.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support advanced features like sorting, filtering, pagination, row selection, and expandable rows.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These features make Ant Design tables suitable for real-world enterprise applications.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Features of Ant Design Tables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7B435D8-92FD-4600-B059-EEC9E5B6731D}"/>
              </a:ext>
            </a:extLst>
          </p:cNvPr>
          <p:cNvSpPr txBox="1"/>
          <p:nvPr/>
        </p:nvSpPr>
        <p:spPr>
          <a:xfrm>
            <a:off x="498760" y="1305170"/>
            <a:ext cx="864524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GB" sz="1600" b="1" dirty="0"/>
              <a:t>Ant Design tables provide built-in support for: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Column-based sorting and filtering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Pagination for large datasets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Server-side data integration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Custom cell rendering</a:t>
            </a:r>
          </a:p>
          <a:p>
            <a:pPr marL="285750" indent="-28575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Row selection and expansion</a:t>
            </a:r>
          </a:p>
          <a:p>
            <a:pPr fontAlgn="base">
              <a:lnSpc>
                <a:spcPct val="150000"/>
              </a:lnSpc>
            </a:pPr>
            <a:endParaRPr lang="en-GB" sz="1600" dirty="0"/>
          </a:p>
          <a:p>
            <a:pPr fontAlgn="base">
              <a:lnSpc>
                <a:spcPct val="150000"/>
              </a:lnSpc>
            </a:pPr>
            <a:r>
              <a:rPr lang="en-GB" sz="1600" dirty="0"/>
              <a:t>This reduces the need for custom table logic.</a:t>
            </a: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3F45145-E73B-FD94-CA99-14803F7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3DBCE09-EDB8-6011-2DC0-70F42438823D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F71F62-3E21-D55A-3312-FF9FBF67618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7FD72D-8F4B-FD20-94D3-FCC5DBE49AD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Ant Design Forms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48CF0B4-3F1A-EC03-4387-21E2E743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95BFD0F1-824E-E273-0D5E-E20530DD5BDB}"/>
              </a:ext>
            </a:extLst>
          </p:cNvPr>
          <p:cNvSpPr txBox="1"/>
          <p:nvPr/>
        </p:nvSpPr>
        <p:spPr>
          <a:xfrm>
            <a:off x="498760" y="1305170"/>
            <a:ext cx="864524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Ant Design forms are used to collect, validate, and manage user input efficiently.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They provide built-in form state management and validation mechanisms.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Forms play a critical role in login systems, data entry, and configuration workflows.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F2803-4CDF-C481-6798-88D4B004C08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42C23A8A-99EB-10B8-F7A7-4E8F856A7B00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261A4A-47C5-DE5E-127C-8240ECEF80D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4D7E7EB-8E9E-7840-22A6-3FF10898E1F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80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CC63EC8-2A20-2736-94CA-94B96A9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F116E624-87B7-224B-3F7F-2F85763702F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CE43CA2-2E2C-A348-93F6-60EE37EE33B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30604D3-95AB-B630-9585-95731A637BB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Advantages of Ant Design Forms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4AAB07B-0DC9-E30A-CCB4-114C1748A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01DD256-8483-341B-CFBB-2266D6AD7EBF}"/>
              </a:ext>
            </a:extLst>
          </p:cNvPr>
          <p:cNvSpPr txBox="1"/>
          <p:nvPr/>
        </p:nvSpPr>
        <p:spPr>
          <a:xfrm>
            <a:off x="498760" y="1305170"/>
            <a:ext cx="864524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Ant Design forms improve reliability and user experience by: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Providing built-in validation rules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Displaying clear error messages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Managing form state internally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Maintaining consistent layout and styling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They significantly reduce form-related bugs.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19543-3D29-0DBA-47C4-481D105D689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BD0D734D-CFA3-8862-AC3E-F6CFC4E45BC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9224B37-4524-39E9-389F-C928819B112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3D534A5-F51D-A656-4777-10EB9058EEE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8864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55D13ED-5001-5DBE-BDBA-6992A543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7333C2F-594E-D860-0DB2-A1B90326FFF2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707A2C5-1433-628C-6508-3805D22ED89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C676D8C-29A9-73A6-526E-998D128D71BA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Material UI vs Ant Design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3820A8F-8DD5-8F9E-D34E-9643579A8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208B7-D0AB-4514-2AE4-85424AC37C6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06CFBDE-2B81-1A79-2BA8-FF44E054139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5CB25CFF-0631-459D-459D-CD9131DEC45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76E0DB6-6580-D6B5-C69F-4026C5D51EC9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0D3E76-AEEB-E281-533C-3BFF11CEF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728169"/>
              </p:ext>
            </p:extLst>
          </p:nvPr>
        </p:nvGraphicFramePr>
        <p:xfrm>
          <a:off x="385500" y="1684658"/>
          <a:ext cx="8521700" cy="15240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628326485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775761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Material UI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Ant Design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423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Based on Material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Enterprise-focused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8193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Highly customizable themes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Rich data 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28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Best for modern UI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Best for admin dashboards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49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Clean and minimal 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Feature-rich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881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771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C76FD42-0004-6A8E-6DFC-9E174174B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07EF80F-DC6F-7578-2543-C16688659B57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40A7A3F8-B9D6-E522-0AB9-FB40B8F3065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1AA4311-DE58-E282-B8EA-BAE3B519FB81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600" b="1" dirty="0"/>
                <a:t>Real World Use Cases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CDDAFFF-086D-CD50-49EC-45DEB21C9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10A99-22B4-6287-B544-2AE3FA0A33E9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F751278-FDA5-134E-F9CF-922393D6C5AE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DF46F7B6-6D17-0763-7484-CB1D9822B92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62D1478-841A-675C-D035-E0CFDB60E55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5DEEF24-0153-F1E7-34D8-8D9B29FAB28C}"/>
              </a:ext>
            </a:extLst>
          </p:cNvPr>
          <p:cNvSpPr txBox="1"/>
          <p:nvPr/>
        </p:nvSpPr>
        <p:spPr>
          <a:xfrm>
            <a:off x="672066" y="1148548"/>
            <a:ext cx="808643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Material UI is commonly used in: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Consumer-facing 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Mobile-first web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Modern dashboards</a:t>
            </a:r>
          </a:p>
          <a:p>
            <a:endParaRPr lang="en-GB" dirty="0"/>
          </a:p>
          <a:p>
            <a:r>
              <a:rPr lang="en-GB" b="1" dirty="0"/>
              <a:t>Ant Design is widely used in: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Admin panels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Business management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Enterprise dashboards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64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38A7008-8FC4-FDF4-553A-DB507F25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983568E-512C-A855-0D4B-C535FF15223B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5D3D8B1-9B7F-CD7D-B8BC-24A580CD762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6754E62-3DC4-948D-C521-FA9DBB9E525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600" b="1" dirty="0"/>
                <a:t>Advantages of Using Both Libraries</a:t>
              </a:r>
              <a:endPara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5114222-C4DB-3F14-0458-8AD35FA58E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AC1A5-8075-3830-90EC-FCE0CFA8EB4C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91E89CB-B4B6-8B10-D394-C51AAAC4768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42102ED4-5AC7-E6B0-2605-EE51445881A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C94F9637-F4F4-00BB-12FE-7BB520AC7A7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F2A1C2-5ECA-F449-D86E-3FE20139F141}"/>
              </a:ext>
            </a:extLst>
          </p:cNvPr>
          <p:cNvSpPr txBox="1"/>
          <p:nvPr/>
        </p:nvSpPr>
        <p:spPr>
          <a:xfrm>
            <a:off x="672066" y="1148548"/>
            <a:ext cx="808643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Faster UI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Professional and consistent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Reduced CSS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Built-in responsiveness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Better accessibility support</a:t>
            </a:r>
          </a:p>
          <a:p>
            <a:endParaRPr lang="en-GB" dirty="0"/>
          </a:p>
          <a:p>
            <a:r>
              <a:rPr lang="en-GB" dirty="0"/>
              <a:t>UI libraries improve both development efficiency and application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362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1. Material UI follows which design principle?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Bootstrap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Ant Design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Material Design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Flat Design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2. Ant Design tables are mainly used for: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A. Simple layouts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B. Styling text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C. Handling complex data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D. Routing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endParaRPr lang="en-IN" sz="1100" b="1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1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Answer: C</a:t>
            </a:r>
            <a:endParaRPr sz="1100" b="1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Material UI Documentation</a:t>
            </a:r>
            <a:br>
              <a:rPr lang="en-GB" dirty="0"/>
            </a:br>
            <a:r>
              <a:rPr lang="en-GB" dirty="0">
                <a:hlinkClick r:id="rId3"/>
              </a:rPr>
              <a:t>https://mui.com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Ant Design Documentation</a:t>
            </a:r>
            <a:br>
              <a:rPr lang="en-GB" dirty="0"/>
            </a:br>
            <a:r>
              <a:rPr lang="en-GB" dirty="0">
                <a:hlinkClick r:id="rId4"/>
              </a:rPr>
              <a:t>https://ant.design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React Official Documentation</a:t>
            </a:r>
            <a:br>
              <a:rPr lang="en-GB" dirty="0"/>
            </a:br>
            <a:r>
              <a:rPr lang="en-GB" dirty="0">
                <a:hlinkClick r:id="rId5"/>
              </a:rPr>
              <a:t>https://react.dev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W3Schools – React UI Libraries</a:t>
            </a:r>
            <a:br>
              <a:rPr lang="en-GB" dirty="0"/>
            </a:br>
            <a:r>
              <a:rPr lang="en-GB" dirty="0">
                <a:hlinkClick r:id="rId6"/>
              </a:rPr>
              <a:t>https://www.w3schools.com/react</a:t>
            </a:r>
            <a:endParaRPr lang="en-GB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3111</TotalTime>
  <Words>1073</Words>
  <Application>Microsoft Office PowerPoint</Application>
  <PresentationFormat>On-screen Show (16:9)</PresentationFormat>
  <Paragraphs>211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 Black</vt:lpstr>
      <vt:lpstr>Calibri</vt:lpstr>
      <vt:lpstr>Arial</vt:lpstr>
      <vt:lpstr>Wingdings</vt:lpstr>
      <vt:lpstr>Vladimir Script</vt:lpstr>
      <vt:lpstr>Lato</vt:lpstr>
      <vt:lpstr>Times New Roman</vt:lpstr>
      <vt:lpstr>Cambria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88</cp:revision>
  <dcterms:modified xsi:type="dcterms:W3CDTF">2025-12-14T13:17:03Z</dcterms:modified>
</cp:coreProperties>
</file>