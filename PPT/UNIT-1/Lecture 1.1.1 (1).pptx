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18"/>
  </p:notesMasterIdLst>
  <p:sldIdLst>
    <p:sldId id="256" r:id="rId2"/>
    <p:sldId id="283" r:id="rId3"/>
    <p:sldId id="306" r:id="rId4"/>
    <p:sldId id="285" r:id="rId5"/>
    <p:sldId id="309" r:id="rId6"/>
    <p:sldId id="312" r:id="rId7"/>
    <p:sldId id="313" r:id="rId8"/>
    <p:sldId id="331" r:id="rId9"/>
    <p:sldId id="332" r:id="rId10"/>
    <p:sldId id="333" r:id="rId11"/>
    <p:sldId id="334" r:id="rId12"/>
    <p:sldId id="335" r:id="rId13"/>
    <p:sldId id="336" r:id="rId14"/>
    <p:sldId id="288" r:id="rId15"/>
    <p:sldId id="300" r:id="rId16"/>
    <p:sldId id="305" r:id="rId17"/>
  </p:sldIdLst>
  <p:sldSz cx="9144000" cy="5143500" type="screen16x9"/>
  <p:notesSz cx="6858000" cy="9144000"/>
  <p:embeddedFontLst>
    <p:embeddedFont>
      <p:font typeface="Arial Black" panose="020B0A04020102020204" pitchFamily="34" charset="0"/>
      <p:bold r:id="rId19"/>
    </p:embeddedFont>
    <p:embeddedFont>
      <p:font typeface="Cambria" panose="02040503050406030204" pitchFamily="18" charset="0"/>
      <p:regular r:id="rId20"/>
      <p:bold r:id="rId21"/>
      <p:italic r:id="rId22"/>
      <p:boldItalic r:id="rId23"/>
    </p:embeddedFont>
    <p:embeddedFont>
      <p:font typeface="Lato" panose="020F0502020204030203" pitchFamily="34" charset="0"/>
      <p:regular r:id="rId24"/>
      <p:bold r:id="rId25"/>
      <p:italic r:id="rId26"/>
      <p:boldItalic r:id="rId27"/>
    </p:embeddedFont>
    <p:embeddedFont>
      <p:font typeface="Vladimir Script" panose="03050402040407070305" pitchFamily="66" charset="0"/>
      <p:regular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8" roundtripDataSignature="AMtx7mgIfgr8mz0h5oJT84AK2itezMzV3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7377635-EB9D-4884-B79A-0D259F93817B}">
  <a:tblStyle styleId="{97377635-EB9D-4884-B79A-0D259F93817B}"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9E9"/>
          </a:solidFill>
        </a:fill>
      </a:tcStyle>
    </a:wholeTbl>
    <a:band1H>
      <a:tcTxStyle/>
      <a:tcStyle>
        <a:tcBdr/>
        <a:fill>
          <a:solidFill>
            <a:srgbClr val="D0D0D0"/>
          </a:solidFill>
        </a:fill>
      </a:tcStyle>
    </a:band1H>
    <a:band2H>
      <a:tcTxStyle/>
      <a:tcStyle>
        <a:tcBdr/>
      </a:tcStyle>
    </a:band2H>
    <a:band1V>
      <a:tcTxStyle/>
      <a:tcStyle>
        <a:tcBdr/>
        <a:fill>
          <a:solidFill>
            <a:srgbClr val="D0D0D0"/>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97"/>
    <p:restoredTop sz="94666"/>
  </p:normalViewPr>
  <p:slideViewPr>
    <p:cSldViewPr snapToGrid="0">
      <p:cViewPr varScale="1">
        <p:scale>
          <a:sx n="103" d="100"/>
          <a:sy n="103" d="100"/>
        </p:scale>
        <p:origin x="811" y="91"/>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1.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48" Type="http://customschemas.google.com/relationships/presentationmetadata" Target="metadata"/><Relationship Id="rId8" Type="http://schemas.openxmlformats.org/officeDocument/2006/relationships/slide" Target="slides/slide7.xml"/><Relationship Id="rId5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99308111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1" name="Google Shape;9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42452151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800AA9E-45AA-4AC2-8AA2-7DA856E9A7A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86550A3-8119-6875-5A21-C5D3DA1F866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C1F8D45D-F0E2-4C9E-7AD4-3CC086F6FF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2518280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6BF395B1-0DDA-EC2D-8CD4-6D4FF14A3308}"/>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424A4F30-E86A-115B-0CE7-D952412617F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6889E4CB-D564-C918-3A24-F3AEE033CEF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8459637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8AE2F180-9A0B-4C89-E2A4-C820E350D8C7}"/>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FCB0DF4C-0C0C-F327-13CB-D147B885411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CD3BD526-06AE-0DCC-FB9B-29E2E50FDB4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642971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F4E6E191-7A3F-DDE5-9BE0-7C2318399A08}"/>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F214E21D-CF7D-5069-DDED-FD92C190882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2916B821-9BB8-4C7C-D798-8C8AC1714AE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42667594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DE93D42F-A578-35C8-4DE2-AFBF6F7B5497}"/>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D5B0AE6F-9BF3-05DC-A9E3-C4AEA6BC745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3C5276FB-61A1-1D7F-1C2B-F453FE2772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26102146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EA40620E-3089-5F8D-090A-DB7E941B522F}"/>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33026ADA-F4BD-437C-FBCE-91ADC105600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B74D4E52-C230-743D-BB4C-629D38BE180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40534268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EF2EAF43-0C35-C400-0344-3B8A96A4B527}"/>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56AF32E5-F98E-803F-46B8-3280593DB78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0E15BFB9-CC2F-AB67-25B2-F78994C09E6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7829656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2FB2EF6-F1D7-957A-6C71-777D7B3675D8}"/>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591C234-8E88-3C19-C560-1B987DDF1A7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9EC9A32-A619-030A-C7F5-6D4C0418973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8994648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972A8C1-4C75-F39C-F400-A20161F2FF4F}"/>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CEED3C96-130B-244C-5E9B-499ACAE4943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0C90747C-F4D4-6666-14F3-D743AC7DED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2401411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06DAA5FC-9AC5-A424-7F7A-3F2ECBB4B70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67629C53-2DD9-79F0-A806-110197D39F1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B47C0093-047F-CC0C-D63A-899E53E9BC8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17778259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54963ED3-C8E0-20E9-8258-D4135EBEFE7F}"/>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0A95CA72-7B27-3900-CA5D-36A6F8A1019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6A45E7E-0D78-6E70-A79A-F39E8140C09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27907708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A9126146-F09D-C682-3355-0453B2CBDE50}"/>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DBD6B046-8A7B-4B66-6B23-ECC1632E27B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319B0E2E-495C-ABB8-8B4C-65D0795E51E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15985708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E744BD3-2273-63E8-B289-EF3B2B107EB5}"/>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F32C7BD-C65E-21E0-A5D7-96E9D601935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256D67B-D43A-765B-55B7-6128E93806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939931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09D8B882-0A42-A997-B7C2-B7E4A790F75B}"/>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C0D5EBF7-7AF6-6579-8561-57B613E9489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4533F13B-1510-E87D-A49C-D1857BE0DD8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2262007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8CC7291-0158-2CF9-E3E7-C104BA876324}"/>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8B9D57E8-6C07-996D-1CC3-BF44C62ABF1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B91E2C0C-79EA-9DB7-B0A8-4CEF2F72D7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10456188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userDrawn="1">
  <p:cSld name="OBJECT">
    <p:spTree>
      <p:nvGrpSpPr>
        <p:cNvPr id="1" name="Shape 9"/>
        <p:cNvGrpSpPr/>
        <p:nvPr/>
      </p:nvGrpSpPr>
      <p:grpSpPr>
        <a:xfrm>
          <a:off x="0" y="0"/>
          <a:ext cx="0" cy="0"/>
          <a:chOff x="0" y="0"/>
          <a:chExt cx="0" cy="0"/>
        </a:xfrm>
      </p:grpSpPr>
      <p:sp>
        <p:nvSpPr>
          <p:cNvPr id="11" name="Google Shape;11;p29"/>
          <p:cNvSpPr txBox="1">
            <a:spLocks noGrp="1"/>
          </p:cNvSpPr>
          <p:nvPr>
            <p:ph type="body" idx="1"/>
          </p:nvPr>
        </p:nvSpPr>
        <p:spPr>
          <a:xfrm>
            <a:off x="914400" y="1314450"/>
            <a:ext cx="8001000" cy="3372000"/>
          </a:xfrm>
          <a:prstGeom prst="rect">
            <a:avLst/>
          </a:prstGeom>
          <a:noFill/>
          <a:ln>
            <a:noFill/>
          </a:ln>
        </p:spPr>
        <p:txBody>
          <a:bodyPr spcFirstLastPara="1" wrap="square" lIns="91425" tIns="45700" rIns="91425" bIns="45700" anchor="t" anchorCtr="0">
            <a:normAutofit/>
          </a:bodyPr>
          <a:lstStyle>
            <a:lvl1pPr marL="457200" marR="0" lvl="0" indent="-381000" algn="l">
              <a:lnSpc>
                <a:spcPct val="115000"/>
              </a:lnSpc>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a:lnSpc>
                <a:spcPct val="115000"/>
              </a:lnSpc>
              <a:spcBef>
                <a:spcPts val="1200"/>
              </a:spcBef>
              <a:spcAft>
                <a:spcPts val="120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pic>
        <p:nvPicPr>
          <p:cNvPr id="3" name="Picture 2" descr="A red rectangular sign with a logo and a globe&#10;&#10;AI-generated content may be incorrect.">
            <a:extLst>
              <a:ext uri="{FF2B5EF4-FFF2-40B4-BE49-F238E27FC236}">
                <a16:creationId xmlns:a16="http://schemas.microsoft.com/office/drawing/2014/main" id="{E3B45E01-6076-AFEE-F2AB-CE7DAC5DAF07}"/>
              </a:ext>
            </a:extLst>
          </p:cNvPr>
          <p:cNvPicPr>
            <a:picLocks noChangeAspect="1"/>
          </p:cNvPicPr>
          <p:nvPr userDrawn="1"/>
        </p:nvPicPr>
        <p:blipFill>
          <a:blip r:embed="rId2"/>
          <a:stretch>
            <a:fillRect/>
          </a:stretch>
        </p:blipFill>
        <p:spPr>
          <a:xfrm>
            <a:off x="30906" y="22034"/>
            <a:ext cx="652311" cy="1048954"/>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16"/>
        <p:cNvGrpSpPr/>
        <p:nvPr/>
      </p:nvGrpSpPr>
      <p:grpSpPr>
        <a:xfrm>
          <a:off x="0" y="0"/>
          <a:ext cx="0" cy="0"/>
          <a:chOff x="0" y="0"/>
          <a:chExt cx="0" cy="0"/>
        </a:xfrm>
      </p:grpSpPr>
      <p:sp>
        <p:nvSpPr>
          <p:cNvPr id="17" name="Google Shape;17;p31"/>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8" name="Google Shape;18;p31"/>
          <p:cNvGrpSpPr/>
          <p:nvPr/>
        </p:nvGrpSpPr>
        <p:grpSpPr>
          <a:xfrm>
            <a:off x="830392" y="1191256"/>
            <a:ext cx="745763" cy="45826"/>
            <a:chOff x="4580561" y="2589004"/>
            <a:chExt cx="1064464" cy="25200"/>
          </a:xfrm>
        </p:grpSpPr>
        <p:sp>
          <p:nvSpPr>
            <p:cNvPr id="19" name="Google Shape;19;p31"/>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31"/>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1" name="Google Shape;21;p31"/>
          <p:cNvSpPr txBox="1">
            <a:spLocks noGrp="1"/>
          </p:cNvSpPr>
          <p:nvPr>
            <p:ph type="ctrTitle"/>
          </p:nvPr>
        </p:nvSpPr>
        <p:spPr>
          <a:xfrm>
            <a:off x="729450" y="1322450"/>
            <a:ext cx="7688100" cy="1664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a:endParaRPr/>
          </a:p>
        </p:txBody>
      </p:sp>
      <p:sp>
        <p:nvSpPr>
          <p:cNvPr id="22" name="Google Shape;22;p31"/>
          <p:cNvSpPr txBox="1">
            <a:spLocks noGrp="1"/>
          </p:cNvSpPr>
          <p:nvPr>
            <p:ph type="subTitle" idx="1"/>
          </p:nvPr>
        </p:nvSpPr>
        <p:spPr>
          <a:xfrm>
            <a:off x="729627" y="3172900"/>
            <a:ext cx="7688100" cy="541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a:endParaRPr/>
          </a:p>
        </p:txBody>
      </p:sp>
      <p:sp>
        <p:nvSpPr>
          <p:cNvPr id="23" name="Google Shape;23;p3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5F213-031A-95AD-897E-DD31668ADECA}"/>
              </a:ext>
            </a:extLst>
          </p:cNvPr>
          <p:cNvSpPr>
            <a:spLocks noGrp="1"/>
          </p:cNvSpPr>
          <p:nvPr>
            <p:ph type="title"/>
          </p:nvPr>
        </p:nvSpPr>
        <p:spPr>
          <a:xfrm>
            <a:off x="311700" y="445025"/>
            <a:ext cx="8520600" cy="572700"/>
          </a:xfrm>
          <a:prstGeom prst="rect">
            <a:avLst/>
          </a:prstGeom>
        </p:spPr>
        <p:txBody>
          <a:bodyPr/>
          <a:lstStyle/>
          <a:p>
            <a:r>
              <a:rPr lang="en-US"/>
              <a:t>Click to edit Master title style</a:t>
            </a:r>
            <a:endParaRPr lang="en-IN"/>
          </a:p>
        </p:txBody>
      </p:sp>
      <p:sp>
        <p:nvSpPr>
          <p:cNvPr id="3" name="Slide Number Placeholder 2">
            <a:extLst>
              <a:ext uri="{FF2B5EF4-FFF2-40B4-BE49-F238E27FC236}">
                <a16:creationId xmlns:a16="http://schemas.microsoft.com/office/drawing/2014/main" id="{1CEDF7FE-8238-E952-EC20-938FFD7042D7}"/>
              </a:ext>
            </a:extLst>
          </p:cNvPr>
          <p:cNvSpPr>
            <a:spLocks noGrp="1"/>
          </p:cNvSpPr>
          <p:nvPr>
            <p:ph type="sldNum" idx="10"/>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51272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24"/>
        <p:cNvGrpSpPr/>
        <p:nvPr/>
      </p:nvGrpSpPr>
      <p:grpSpPr>
        <a:xfrm>
          <a:off x="0" y="0"/>
          <a:ext cx="0" cy="0"/>
          <a:chOff x="0" y="0"/>
          <a:chExt cx="0" cy="0"/>
        </a:xfrm>
      </p:grpSpPr>
      <p:grpSp>
        <p:nvGrpSpPr>
          <p:cNvPr id="25" name="Google Shape;25;p32"/>
          <p:cNvGrpSpPr/>
          <p:nvPr/>
        </p:nvGrpSpPr>
        <p:grpSpPr>
          <a:xfrm>
            <a:off x="830392" y="1191256"/>
            <a:ext cx="745763" cy="45826"/>
            <a:chOff x="4580561" y="2589004"/>
            <a:chExt cx="1064464" cy="25200"/>
          </a:xfrm>
        </p:grpSpPr>
        <p:sp>
          <p:nvSpPr>
            <p:cNvPr id="26" name="Google Shape;26;p32"/>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32"/>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8" name="Google Shape;28;p32"/>
          <p:cNvSpPr txBox="1">
            <a:spLocks noGrp="1"/>
          </p:cNvSpPr>
          <p:nvPr>
            <p:ph type="title"/>
          </p:nvPr>
        </p:nvSpPr>
        <p:spPr>
          <a:xfrm>
            <a:off x="729450" y="1322450"/>
            <a:ext cx="7688400" cy="1518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29" name="Google Shape;29;p32"/>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33"/>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2" name="Google Shape;32;p33"/>
          <p:cNvGrpSpPr/>
          <p:nvPr/>
        </p:nvGrpSpPr>
        <p:grpSpPr>
          <a:xfrm>
            <a:off x="830392" y="1191256"/>
            <a:ext cx="745763" cy="45826"/>
            <a:chOff x="4580561" y="2589004"/>
            <a:chExt cx="1064464" cy="25200"/>
          </a:xfrm>
        </p:grpSpPr>
        <p:sp>
          <p:nvSpPr>
            <p:cNvPr id="33" name="Google Shape;33;p33"/>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33"/>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5" name="Google Shape;35;p33"/>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36" name="Google Shape;36;p33"/>
          <p:cNvSpPr txBox="1">
            <a:spLocks noGrp="1"/>
          </p:cNvSpPr>
          <p:nvPr>
            <p:ph type="body" idx="1"/>
          </p:nvPr>
        </p:nvSpPr>
        <p:spPr>
          <a:xfrm>
            <a:off x="729450" y="2078875"/>
            <a:ext cx="76887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37" name="Google Shape;37;p33"/>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8"/>
        <p:cNvGrpSpPr/>
        <p:nvPr/>
      </p:nvGrpSpPr>
      <p:grpSpPr>
        <a:xfrm>
          <a:off x="0" y="0"/>
          <a:ext cx="0" cy="0"/>
          <a:chOff x="0" y="0"/>
          <a:chExt cx="0" cy="0"/>
        </a:xfrm>
      </p:grpSpPr>
      <p:sp>
        <p:nvSpPr>
          <p:cNvPr id="39" name="Google Shape;39;p3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0" name="Google Shape;40;p34"/>
          <p:cNvGrpSpPr/>
          <p:nvPr/>
        </p:nvGrpSpPr>
        <p:grpSpPr>
          <a:xfrm>
            <a:off x="830392" y="1191256"/>
            <a:ext cx="745763" cy="45826"/>
            <a:chOff x="4580561" y="2589004"/>
            <a:chExt cx="1064464" cy="25200"/>
          </a:xfrm>
        </p:grpSpPr>
        <p:sp>
          <p:nvSpPr>
            <p:cNvPr id="41" name="Google Shape;41;p3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3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3" name="Google Shape;43;p34"/>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44" name="Google Shape;44;p34"/>
          <p:cNvSpPr txBox="1">
            <a:spLocks noGrp="1"/>
          </p:cNvSpPr>
          <p:nvPr>
            <p:ph type="body" idx="1"/>
          </p:nvPr>
        </p:nvSpPr>
        <p:spPr>
          <a:xfrm>
            <a:off x="729325" y="2078875"/>
            <a:ext cx="37743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45" name="Google Shape;45;p34"/>
          <p:cNvSpPr txBox="1">
            <a:spLocks noGrp="1"/>
          </p:cNvSpPr>
          <p:nvPr>
            <p:ph type="body" idx="2"/>
          </p:nvPr>
        </p:nvSpPr>
        <p:spPr>
          <a:xfrm>
            <a:off x="4643604" y="2078875"/>
            <a:ext cx="37743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46" name="Google Shape;46;p34"/>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3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9" name="Google Shape;49;p35"/>
          <p:cNvGrpSpPr/>
          <p:nvPr/>
        </p:nvGrpSpPr>
        <p:grpSpPr>
          <a:xfrm>
            <a:off x="830392" y="1191256"/>
            <a:ext cx="745763" cy="45826"/>
            <a:chOff x="4580561" y="2589004"/>
            <a:chExt cx="1064464" cy="25200"/>
          </a:xfrm>
        </p:grpSpPr>
        <p:sp>
          <p:nvSpPr>
            <p:cNvPr id="50" name="Google Shape;50;p3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3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2" name="Google Shape;52;p35"/>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53" name="Google Shape;53;p35"/>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4"/>
        <p:cNvGrpSpPr/>
        <p:nvPr/>
      </p:nvGrpSpPr>
      <p:grpSpPr>
        <a:xfrm>
          <a:off x="0" y="0"/>
          <a:ext cx="0" cy="0"/>
          <a:chOff x="0" y="0"/>
          <a:chExt cx="0" cy="0"/>
        </a:xfrm>
      </p:grpSpPr>
      <p:sp>
        <p:nvSpPr>
          <p:cNvPr id="55" name="Google Shape;55;p3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6" name="Google Shape;56;p36"/>
          <p:cNvGrpSpPr/>
          <p:nvPr/>
        </p:nvGrpSpPr>
        <p:grpSpPr>
          <a:xfrm>
            <a:off x="830392" y="1191256"/>
            <a:ext cx="745763" cy="45826"/>
            <a:chOff x="4580561" y="2589004"/>
            <a:chExt cx="1064464" cy="25200"/>
          </a:xfrm>
        </p:grpSpPr>
        <p:sp>
          <p:nvSpPr>
            <p:cNvPr id="57" name="Google Shape;57;p3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3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9" name="Google Shape;59;p36"/>
          <p:cNvSpPr txBox="1">
            <a:spLocks noGrp="1"/>
          </p:cNvSpPr>
          <p:nvPr>
            <p:ph type="title"/>
          </p:nvPr>
        </p:nvSpPr>
        <p:spPr>
          <a:xfrm>
            <a:off x="730000" y="1318650"/>
            <a:ext cx="3300900" cy="13815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60" name="Google Shape;60;p36"/>
          <p:cNvSpPr txBox="1">
            <a:spLocks noGrp="1"/>
          </p:cNvSpPr>
          <p:nvPr>
            <p:ph type="body" idx="1"/>
          </p:nvPr>
        </p:nvSpPr>
        <p:spPr>
          <a:xfrm>
            <a:off x="721225" y="2781725"/>
            <a:ext cx="3300900" cy="1597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61" name="Google Shape;61;p36"/>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62"/>
        <p:cNvGrpSpPr/>
        <p:nvPr/>
      </p:nvGrpSpPr>
      <p:grpSpPr>
        <a:xfrm>
          <a:off x="0" y="0"/>
          <a:ext cx="0" cy="0"/>
          <a:chOff x="0" y="0"/>
          <a:chExt cx="0" cy="0"/>
        </a:xfrm>
      </p:grpSpPr>
      <p:grpSp>
        <p:nvGrpSpPr>
          <p:cNvPr id="63" name="Google Shape;63;p37"/>
          <p:cNvGrpSpPr/>
          <p:nvPr/>
        </p:nvGrpSpPr>
        <p:grpSpPr>
          <a:xfrm>
            <a:off x="830392" y="4169130"/>
            <a:ext cx="745763" cy="45826"/>
            <a:chOff x="4580561" y="2589004"/>
            <a:chExt cx="1064464" cy="25200"/>
          </a:xfrm>
        </p:grpSpPr>
        <p:sp>
          <p:nvSpPr>
            <p:cNvPr id="64" name="Google Shape;64;p37"/>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37"/>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6" name="Google Shape;66;p37"/>
          <p:cNvSpPr txBox="1">
            <a:spLocks noGrp="1"/>
          </p:cNvSpPr>
          <p:nvPr>
            <p:ph type="title"/>
          </p:nvPr>
        </p:nvSpPr>
        <p:spPr>
          <a:xfrm>
            <a:off x="729450" y="864300"/>
            <a:ext cx="7021200" cy="29850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67" name="Google Shape;67;p37"/>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8"/>
        <p:cNvGrpSpPr/>
        <p:nvPr/>
      </p:nvGrpSpPr>
      <p:grpSpPr>
        <a:xfrm>
          <a:off x="0" y="0"/>
          <a:ext cx="0" cy="0"/>
          <a:chOff x="0" y="0"/>
          <a:chExt cx="0" cy="0"/>
        </a:xfrm>
      </p:grpSpPr>
      <p:sp>
        <p:nvSpPr>
          <p:cNvPr id="69" name="Google Shape;69;p38"/>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0" name="Google Shape;70;p38"/>
          <p:cNvGrpSpPr/>
          <p:nvPr/>
        </p:nvGrpSpPr>
        <p:grpSpPr>
          <a:xfrm>
            <a:off x="830392" y="1191256"/>
            <a:ext cx="745763" cy="45826"/>
            <a:chOff x="4580561" y="2589004"/>
            <a:chExt cx="1064464" cy="25200"/>
          </a:xfrm>
        </p:grpSpPr>
        <p:sp>
          <p:nvSpPr>
            <p:cNvPr id="71" name="Google Shape;71;p38"/>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72;p38"/>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3" name="Google Shape;73;p38"/>
          <p:cNvSpPr txBox="1">
            <a:spLocks noGrp="1"/>
          </p:cNvSpPr>
          <p:nvPr>
            <p:ph type="title"/>
          </p:nvPr>
        </p:nvSpPr>
        <p:spPr>
          <a:xfrm>
            <a:off x="730000" y="1318650"/>
            <a:ext cx="3300900" cy="1687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74" name="Google Shape;74;p38"/>
          <p:cNvSpPr txBox="1">
            <a:spLocks noGrp="1"/>
          </p:cNvSpPr>
          <p:nvPr>
            <p:ph type="subTitle" idx="1"/>
          </p:nvPr>
        </p:nvSpPr>
        <p:spPr>
          <a:xfrm>
            <a:off x="724950" y="3161525"/>
            <a:ext cx="3300900" cy="7590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a:endParaRPr/>
          </a:p>
        </p:txBody>
      </p:sp>
      <p:sp>
        <p:nvSpPr>
          <p:cNvPr id="75" name="Google Shape;75;p38"/>
          <p:cNvSpPr txBox="1">
            <a:spLocks noGrp="1"/>
          </p:cNvSpPr>
          <p:nvPr>
            <p:ph type="body" idx="2"/>
          </p:nvPr>
        </p:nvSpPr>
        <p:spPr>
          <a:xfrm>
            <a:off x="5174225" y="1352625"/>
            <a:ext cx="3374400" cy="3025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76" name="Google Shape;76;p38"/>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7"/>
        <p:cNvGrpSpPr/>
        <p:nvPr/>
      </p:nvGrpSpPr>
      <p:grpSpPr>
        <a:xfrm>
          <a:off x="0" y="0"/>
          <a:ext cx="0" cy="0"/>
          <a:chOff x="0" y="0"/>
          <a:chExt cx="0" cy="0"/>
        </a:xfrm>
      </p:grpSpPr>
      <p:sp>
        <p:nvSpPr>
          <p:cNvPr id="78" name="Google Shape;78;p39"/>
          <p:cNvSpPr txBox="1">
            <a:spLocks noGrp="1"/>
          </p:cNvSpPr>
          <p:nvPr>
            <p:ph type="body" idx="1"/>
          </p:nvPr>
        </p:nvSpPr>
        <p:spPr>
          <a:xfrm>
            <a:off x="724950" y="4372551"/>
            <a:ext cx="7697400" cy="4605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300"/>
              <a:buNone/>
              <a:defRPr/>
            </a:lvl1pPr>
          </a:lstStyle>
          <a:p>
            <a:endParaRPr/>
          </a:p>
        </p:txBody>
      </p:sp>
      <p:sp>
        <p:nvSpPr>
          <p:cNvPr id="79" name="Google Shape;79;p39"/>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80"/>
        <p:cNvGrpSpPr/>
        <p:nvPr/>
      </p:nvGrpSpPr>
      <p:grpSpPr>
        <a:xfrm>
          <a:off x="0" y="0"/>
          <a:ext cx="0" cy="0"/>
          <a:chOff x="0" y="0"/>
          <a:chExt cx="0" cy="0"/>
        </a:xfrm>
      </p:grpSpPr>
      <p:grpSp>
        <p:nvGrpSpPr>
          <p:cNvPr id="81" name="Google Shape;81;p40"/>
          <p:cNvGrpSpPr/>
          <p:nvPr/>
        </p:nvGrpSpPr>
        <p:grpSpPr>
          <a:xfrm>
            <a:off x="830392" y="4169130"/>
            <a:ext cx="745763" cy="45826"/>
            <a:chOff x="4580561" y="2589004"/>
            <a:chExt cx="1064464" cy="25200"/>
          </a:xfrm>
        </p:grpSpPr>
        <p:sp>
          <p:nvSpPr>
            <p:cNvPr id="82" name="Google Shape;82;p40"/>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40"/>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84" name="Google Shape;84;p40"/>
          <p:cNvSpPr txBox="1">
            <a:spLocks noGrp="1"/>
          </p:cNvSpPr>
          <p:nvPr>
            <p:ph type="title" hasCustomPrompt="1"/>
          </p:nvPr>
        </p:nvSpPr>
        <p:spPr>
          <a:xfrm>
            <a:off x="729450" y="733950"/>
            <a:ext cx="7688400" cy="1244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85" name="Google Shape;85;p40"/>
          <p:cNvSpPr txBox="1">
            <a:spLocks noGrp="1"/>
          </p:cNvSpPr>
          <p:nvPr>
            <p:ph type="body" idx="1"/>
          </p:nvPr>
        </p:nvSpPr>
        <p:spPr>
          <a:xfrm>
            <a:off x="729450" y="2272888"/>
            <a:ext cx="7688400" cy="15804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Clr>
                <a:schemeClr val="lt1"/>
              </a:buClr>
              <a:buSzPts val="1300"/>
              <a:buChar char="●"/>
              <a:defRPr>
                <a:solidFill>
                  <a:schemeClr val="lt1"/>
                </a:solidFill>
              </a:defRPr>
            </a:lvl1pPr>
            <a:lvl2pPr marL="914400" lvl="1" indent="-298450" algn="l">
              <a:lnSpc>
                <a:spcPct val="115000"/>
              </a:lnSpc>
              <a:spcBef>
                <a:spcPts val="0"/>
              </a:spcBef>
              <a:spcAft>
                <a:spcPts val="0"/>
              </a:spcAft>
              <a:buClr>
                <a:schemeClr val="lt1"/>
              </a:buClr>
              <a:buSzPts val="1100"/>
              <a:buChar char="○"/>
              <a:defRPr>
                <a:solidFill>
                  <a:schemeClr val="lt1"/>
                </a:solidFill>
              </a:defRPr>
            </a:lvl2pPr>
            <a:lvl3pPr marL="1371600" lvl="2" indent="-298450" algn="l">
              <a:lnSpc>
                <a:spcPct val="115000"/>
              </a:lnSpc>
              <a:spcBef>
                <a:spcPts val="0"/>
              </a:spcBef>
              <a:spcAft>
                <a:spcPts val="0"/>
              </a:spcAft>
              <a:buClr>
                <a:schemeClr val="lt1"/>
              </a:buClr>
              <a:buSzPts val="1100"/>
              <a:buChar char="■"/>
              <a:defRPr>
                <a:solidFill>
                  <a:schemeClr val="lt1"/>
                </a:solidFill>
              </a:defRPr>
            </a:lvl3pPr>
            <a:lvl4pPr marL="1828800" lvl="3" indent="-298450" algn="l">
              <a:lnSpc>
                <a:spcPct val="115000"/>
              </a:lnSpc>
              <a:spcBef>
                <a:spcPts val="0"/>
              </a:spcBef>
              <a:spcAft>
                <a:spcPts val="0"/>
              </a:spcAft>
              <a:buClr>
                <a:schemeClr val="lt1"/>
              </a:buClr>
              <a:buSzPts val="1100"/>
              <a:buChar char="●"/>
              <a:defRPr>
                <a:solidFill>
                  <a:schemeClr val="lt1"/>
                </a:solidFill>
              </a:defRPr>
            </a:lvl4pPr>
            <a:lvl5pPr marL="2286000" lvl="4" indent="-298450" algn="l">
              <a:lnSpc>
                <a:spcPct val="115000"/>
              </a:lnSpc>
              <a:spcBef>
                <a:spcPts val="0"/>
              </a:spcBef>
              <a:spcAft>
                <a:spcPts val="0"/>
              </a:spcAft>
              <a:buClr>
                <a:schemeClr val="lt1"/>
              </a:buClr>
              <a:buSzPts val="1100"/>
              <a:buChar char="○"/>
              <a:defRPr>
                <a:solidFill>
                  <a:schemeClr val="lt1"/>
                </a:solidFill>
              </a:defRPr>
            </a:lvl5pPr>
            <a:lvl6pPr marL="2743200" lvl="5" indent="-298450" algn="l">
              <a:lnSpc>
                <a:spcPct val="115000"/>
              </a:lnSpc>
              <a:spcBef>
                <a:spcPts val="0"/>
              </a:spcBef>
              <a:spcAft>
                <a:spcPts val="0"/>
              </a:spcAft>
              <a:buClr>
                <a:schemeClr val="lt1"/>
              </a:buClr>
              <a:buSzPts val="1100"/>
              <a:buChar char="■"/>
              <a:defRPr>
                <a:solidFill>
                  <a:schemeClr val="lt1"/>
                </a:solidFill>
              </a:defRPr>
            </a:lvl6pPr>
            <a:lvl7pPr marL="3200400" lvl="6" indent="-298450" algn="l">
              <a:lnSpc>
                <a:spcPct val="115000"/>
              </a:lnSpc>
              <a:spcBef>
                <a:spcPts val="0"/>
              </a:spcBef>
              <a:spcAft>
                <a:spcPts val="0"/>
              </a:spcAft>
              <a:buClr>
                <a:schemeClr val="lt1"/>
              </a:buClr>
              <a:buSzPts val="1100"/>
              <a:buChar char="●"/>
              <a:defRPr>
                <a:solidFill>
                  <a:schemeClr val="lt1"/>
                </a:solidFill>
              </a:defRPr>
            </a:lvl7pPr>
            <a:lvl8pPr marL="3657600" lvl="7" indent="-298450" algn="l">
              <a:lnSpc>
                <a:spcPct val="115000"/>
              </a:lnSpc>
              <a:spcBef>
                <a:spcPts val="0"/>
              </a:spcBef>
              <a:spcAft>
                <a:spcPts val="0"/>
              </a:spcAft>
              <a:buClr>
                <a:schemeClr val="lt1"/>
              </a:buClr>
              <a:buSzPts val="1100"/>
              <a:buChar char="○"/>
              <a:defRPr>
                <a:solidFill>
                  <a:schemeClr val="lt1"/>
                </a:solidFill>
              </a:defRPr>
            </a:lvl8pPr>
            <a:lvl9pPr marL="4114800" lvl="8" indent="-298450" algn="l">
              <a:lnSpc>
                <a:spcPct val="115000"/>
              </a:lnSpc>
              <a:spcBef>
                <a:spcPts val="0"/>
              </a:spcBef>
              <a:spcAft>
                <a:spcPts val="0"/>
              </a:spcAft>
              <a:buClr>
                <a:schemeClr val="lt1"/>
              </a:buClr>
              <a:buSzPts val="1100"/>
              <a:buChar char="■"/>
              <a:defRPr>
                <a:solidFill>
                  <a:schemeClr val="lt1"/>
                </a:solidFill>
              </a:defRPr>
            </a:lvl9pPr>
          </a:lstStyle>
          <a:p>
            <a:endParaRPr/>
          </a:p>
        </p:txBody>
      </p:sp>
      <p:sp>
        <p:nvSpPr>
          <p:cNvPr id="86" name="Google Shape;86;p40"/>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7"/>
        <p:cNvGrpSpPr/>
        <p:nvPr/>
      </p:nvGrpSpPr>
      <p:grpSpPr>
        <a:xfrm>
          <a:off x="0" y="0"/>
          <a:ext cx="0" cy="0"/>
          <a:chOff x="0" y="0"/>
          <a:chExt cx="0" cy="0"/>
        </a:xfrm>
      </p:grpSpPr>
      <p:sp>
        <p:nvSpPr>
          <p:cNvPr id="88" name="Google Shape;88;p4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0E067-05BA-3068-8F0D-B3C073B8031E}"/>
              </a:ext>
            </a:extLst>
          </p:cNvPr>
          <p:cNvSpPr>
            <a:spLocks noGrp="1"/>
          </p:cNvSpPr>
          <p:nvPr>
            <p:ph type="title"/>
          </p:nvPr>
        </p:nvSpPr>
        <p:spPr>
          <a:xfrm>
            <a:off x="311700" y="445025"/>
            <a:ext cx="8520600" cy="572700"/>
          </a:xfrm>
          <a:prstGeom prst="rect">
            <a:avLst/>
          </a:prstGeom>
        </p:spPr>
        <p:txBody>
          <a:bodyPr/>
          <a:lstStyle/>
          <a:p>
            <a:r>
              <a:rPr lang="en-US" dirty="0"/>
              <a:t>Click to edit Master title style</a:t>
            </a:r>
            <a:endParaRPr lang="en-IN" dirty="0"/>
          </a:p>
        </p:txBody>
      </p:sp>
      <p:sp>
        <p:nvSpPr>
          <p:cNvPr id="3" name="Slide Number Placeholder 2">
            <a:extLst>
              <a:ext uri="{FF2B5EF4-FFF2-40B4-BE49-F238E27FC236}">
                <a16:creationId xmlns:a16="http://schemas.microsoft.com/office/drawing/2014/main" id="{4399BB7D-4B8D-4670-0220-D1EB44F3B350}"/>
              </a:ext>
            </a:extLst>
          </p:cNvPr>
          <p:cNvSpPr>
            <a:spLocks noGrp="1"/>
          </p:cNvSpPr>
          <p:nvPr>
            <p:ph type="sldNum" idx="10"/>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987500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7" name="Google Shape;7;p2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endParaRPr/>
          </a:p>
        </p:txBody>
      </p:sp>
      <p:sp>
        <p:nvSpPr>
          <p:cNvPr id="8" name="Google Shape;8;p28"/>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62"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3"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developer.mozilla.org/en-US/docs/Web/JavaScript/Reference/Operators/Spread_syntax"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hyperlink" Target="https://262.ecma-international.org/6.0/" TargetMode="External"/><Relationship Id="rId5" Type="http://schemas.openxmlformats.org/officeDocument/2006/relationships/hyperlink" Target="https://www.w3schools.com/js/js_es6.asp" TargetMode="External"/><Relationship Id="rId4" Type="http://schemas.openxmlformats.org/officeDocument/2006/relationships/hyperlink" Target="https://javascript.info/rest-parameters-spread"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pic>
        <p:nvPicPr>
          <p:cNvPr id="1026" name="Picture 2" descr="Chandigarh University Archives - Worldwide Transcript"/>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66537" y="1217517"/>
            <a:ext cx="2782983" cy="2782983"/>
          </a:xfrm>
          <a:prstGeom prst="rect">
            <a:avLst/>
          </a:prstGeom>
          <a:noFill/>
          <a:extLst>
            <a:ext uri="{909E8E84-426E-40DD-AFC4-6F175D3DCCD1}">
              <a14:hiddenFill xmlns:a14="http://schemas.microsoft.com/office/drawing/2010/main">
                <a:solidFill>
                  <a:srgbClr val="FFFFFF"/>
                </a:solidFill>
              </a14:hiddenFill>
            </a:ext>
          </a:extLst>
        </p:spPr>
      </p:pic>
      <p:sp>
        <p:nvSpPr>
          <p:cNvPr id="93" name="Google Shape;93;p1"/>
          <p:cNvSpPr txBox="1"/>
          <p:nvPr/>
        </p:nvSpPr>
        <p:spPr>
          <a:xfrm>
            <a:off x="6572250" y="4881563"/>
            <a:ext cx="2057400" cy="273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4" name="Google Shape;94;p1"/>
          <p:cNvSpPr/>
          <p:nvPr/>
        </p:nvSpPr>
        <p:spPr>
          <a:xfrm rot="10800000" flipH="1">
            <a:off x="7796638" y="4287563"/>
            <a:ext cx="968400" cy="867900"/>
          </a:xfrm>
          <a:prstGeom prst="rtTriangle">
            <a:avLst/>
          </a:prstGeom>
          <a:solidFill>
            <a:srgbClr val="F2F2F2">
              <a:alpha val="16078"/>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6" name="Google Shape;96;p1"/>
          <p:cNvSpPr/>
          <p:nvPr/>
        </p:nvSpPr>
        <p:spPr>
          <a:xfrm flipH="1">
            <a:off x="5284799" y="-48815"/>
            <a:ext cx="3859200" cy="4389900"/>
          </a:xfrm>
          <a:prstGeom prst="rtTriangle">
            <a:avLst/>
          </a:prstGeom>
          <a:solidFill>
            <a:srgbClr val="F2F2F2">
              <a:alpha val="16078"/>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7" name="Google Shape;97;p1"/>
          <p:cNvSpPr/>
          <p:nvPr/>
        </p:nvSpPr>
        <p:spPr>
          <a:xfrm>
            <a:off x="1593056" y="1519145"/>
            <a:ext cx="5122200" cy="1185600"/>
          </a:xfrm>
          <a:prstGeom prst="rect">
            <a:avLst/>
          </a:prstGeom>
          <a:gradFill>
            <a:gsLst>
              <a:gs pos="0">
                <a:srgbClr val="FFFFFF">
                  <a:alpha val="0"/>
                </a:srgbClr>
              </a:gs>
              <a:gs pos="2659">
                <a:srgbClr val="FFFFFF">
                  <a:alpha val="0"/>
                </a:srgbClr>
              </a:gs>
              <a:gs pos="15000">
                <a:srgbClr val="FFFFFF">
                  <a:alpha val="33333"/>
                </a:srgbClr>
              </a:gs>
              <a:gs pos="51000">
                <a:schemeClr val="lt1"/>
              </a:gs>
              <a:gs pos="94000">
                <a:srgbClr val="FFFFFF">
                  <a:alpha val="33333"/>
                </a:srgbClr>
              </a:gs>
              <a:gs pos="100000">
                <a:srgbClr val="FFFFFF">
                  <a:alpha val="0"/>
                </a:srgbClr>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8" name="Google Shape;98;p1"/>
          <p:cNvSpPr/>
          <p:nvPr/>
        </p:nvSpPr>
        <p:spPr>
          <a:xfrm flipH="1">
            <a:off x="7360500" y="3929250"/>
            <a:ext cx="1774800" cy="1200300"/>
          </a:xfrm>
          <a:prstGeom prst="rtTriangle">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2" name="Google Shape;102;p1"/>
          <p:cNvSpPr txBox="1"/>
          <p:nvPr/>
        </p:nvSpPr>
        <p:spPr>
          <a:xfrm>
            <a:off x="514350" y="751231"/>
            <a:ext cx="8213400" cy="4322681"/>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Clr>
                <a:schemeClr val="dk1"/>
              </a:buClr>
              <a:buSzPts val="3200"/>
              <a:buFont typeface="Arial Black"/>
              <a:buNone/>
            </a:pPr>
            <a:r>
              <a:rPr lang="en-US" sz="32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UNIVERSITY INSTITUTE OF ENGINEERING</a:t>
            </a:r>
            <a:endParaRPr sz="105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a:p>
            <a:pPr marL="0" marR="0" lvl="0" indent="0" algn="ctr" rtl="0">
              <a:lnSpc>
                <a:spcPct val="90000"/>
              </a:lnSpc>
              <a:spcBef>
                <a:spcPts val="1120"/>
              </a:spcBef>
              <a:spcAft>
                <a:spcPts val="0"/>
              </a:spcAft>
              <a:buClr>
                <a:schemeClr val="dk1"/>
              </a:buClr>
              <a:buSzPts val="3200"/>
              <a:buFont typeface="Arial Black"/>
              <a:buNone/>
            </a:pPr>
            <a:r>
              <a:rPr lang="en-US" sz="36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Department </a:t>
            </a:r>
            <a:r>
              <a:rPr lang="en-US" sz="3600" b="1"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Of Computer Science &amp; Engineering</a:t>
            </a:r>
            <a:endParaRPr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0" marR="0" lvl="0" indent="0" algn="ctr" rtl="0">
              <a:lnSpc>
                <a:spcPct val="90000"/>
              </a:lnSpc>
              <a:spcBef>
                <a:spcPts val="1120"/>
              </a:spcBef>
              <a:spcAft>
                <a:spcPts val="0"/>
              </a:spcAft>
              <a:buClr>
                <a:schemeClr val="dk1"/>
              </a:buClr>
              <a:buSzPts val="2800"/>
              <a:buFont typeface="Times New Roman"/>
              <a:buNone/>
            </a:pPr>
            <a:r>
              <a:rPr lang="en-US" sz="20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Bachelor of Computer Science </a:t>
            </a:r>
            <a:r>
              <a:rPr lang="en-US" sz="2000" b="0" i="0" u="none" strike="noStrike" cap="none" baseline="30000"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6th </a:t>
            </a:r>
            <a:r>
              <a:rPr lang="en-US" sz="20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Semester</a:t>
            </a:r>
            <a:endParaRPr lang="en-US" baseline="300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lvl="0" algn="ctr">
              <a:lnSpc>
                <a:spcPct val="90000"/>
              </a:lnSpc>
              <a:spcBef>
                <a:spcPts val="980"/>
              </a:spcBef>
              <a:buClr>
                <a:schemeClr val="dk1"/>
              </a:buClr>
              <a:buSzPts val="2800"/>
            </a:pPr>
            <a:r>
              <a:rPr lang="en-US" sz="2400" b="1" dirty="0"/>
              <a:t>Full Stack Development – II</a:t>
            </a:r>
          </a:p>
          <a:p>
            <a:pPr lvl="0" algn="ctr">
              <a:lnSpc>
                <a:spcPct val="90000"/>
              </a:lnSpc>
              <a:spcBef>
                <a:spcPts val="980"/>
              </a:spcBef>
              <a:buClr>
                <a:schemeClr val="dk1"/>
              </a:buClr>
              <a:buSzPts val="2800"/>
            </a:pPr>
            <a:r>
              <a:rPr lang="en-US" sz="24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a:t>
            </a:r>
            <a:r>
              <a:rPr lang="en-GB" sz="2400" dirty="0">
                <a:solidFill>
                  <a:schemeClr val="bg2"/>
                </a:solidFill>
                <a:latin typeface="Calibri" panose="020F0502020204030204" pitchFamily="34" charset="0"/>
                <a:ea typeface="Calibri" panose="020F0502020204030204" pitchFamily="34" charset="0"/>
                <a:cs typeface="Calibri" panose="020F0502020204030204" pitchFamily="34" charset="0"/>
              </a:rPr>
              <a:t>23CSH-309/23ITH-309</a:t>
            </a:r>
            <a:r>
              <a:rPr lang="en-GB" sz="24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a:t>
            </a:r>
            <a:endParaRPr lang="en-GB" sz="16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algn="ctr">
              <a:spcBef>
                <a:spcPts val="1120"/>
              </a:spcBef>
              <a:buSzPts val="3200"/>
            </a:pPr>
            <a:r>
              <a:rPr lang="en-GB" sz="1800" b="1" dirty="0">
                <a:latin typeface="Calibri" panose="020F0502020204030204" pitchFamily="34" charset="0"/>
                <a:ea typeface="Calibri" panose="020F0502020204030204" pitchFamily="34" charset="0"/>
                <a:cs typeface="Calibri" panose="020F0502020204030204" pitchFamily="34" charset="0"/>
              </a:rPr>
              <a:t>Unit No. 1                     Chapter No. 1                    Lecture No.1</a:t>
            </a:r>
          </a:p>
          <a:p>
            <a:pPr>
              <a:spcBef>
                <a:spcPts val="1120"/>
              </a:spcBef>
              <a:buSzPts val="3200"/>
            </a:pPr>
            <a:r>
              <a:rPr lang="en-US" sz="1800" b="1" dirty="0">
                <a:latin typeface="Calibri" panose="020F0502020204030204" pitchFamily="34" charset="0"/>
                <a:ea typeface="Calibri" panose="020F0502020204030204" pitchFamily="34" charset="0"/>
                <a:cs typeface="Calibri" panose="020F0502020204030204" pitchFamily="34" charset="0"/>
              </a:rPr>
              <a:t>Topic : </a:t>
            </a:r>
            <a:r>
              <a:rPr lang="en-GB" sz="1800" b="1" dirty="0">
                <a:latin typeface="Calibri" panose="020F0502020204030204" pitchFamily="34" charset="0"/>
                <a:ea typeface="Calibri" panose="020F0502020204030204" pitchFamily="34" charset="0"/>
                <a:cs typeface="Calibri" panose="020F0502020204030204" pitchFamily="34" charset="0"/>
              </a:rPr>
              <a:t>ES6+ syntax (Arrow functions, Spread/Rest)</a:t>
            </a:r>
            <a:endParaRPr lang="en-US" sz="1800" b="1" dirty="0">
              <a:latin typeface="Calibri" panose="020F0502020204030204" pitchFamily="34" charset="0"/>
              <a:ea typeface="Calibri" panose="020F0502020204030204" pitchFamily="34" charset="0"/>
              <a:cs typeface="Calibri" panose="020F0502020204030204" pitchFamily="34" charset="0"/>
            </a:endParaRPr>
          </a:p>
          <a:p>
            <a:pPr>
              <a:spcBef>
                <a:spcPts val="1120"/>
              </a:spcBef>
              <a:buSzPts val="3200"/>
            </a:pPr>
            <a:r>
              <a:rPr lang="en-US" sz="1800" b="1" dirty="0">
                <a:latin typeface="Calibri" panose="020F0502020204030204" pitchFamily="34" charset="0"/>
                <a:ea typeface="Calibri" panose="020F0502020204030204" pitchFamily="34" charset="0"/>
                <a:cs typeface="Calibri" panose="020F0502020204030204" pitchFamily="34" charset="0"/>
              </a:rPr>
              <a:t>Er. Tushar Sood (E18319)                                                       Technical Trainer(CSE)</a:t>
            </a:r>
            <a:endParaRPr lang="en-US" sz="3200" b="1" i="0" u="none" strike="noStrike" cap="none" dirty="0">
              <a:solidFill>
                <a:schemeClr val="bg2"/>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685E2170-6E52-163D-4579-180ED8258362}"/>
              </a:ext>
            </a:extLst>
          </p:cNvPr>
          <p:cNvSpPr txBox="1"/>
          <p:nvPr/>
        </p:nvSpPr>
        <p:spPr>
          <a:xfrm>
            <a:off x="5284800" y="0"/>
            <a:ext cx="3859199" cy="615553"/>
          </a:xfrm>
          <a:prstGeom prst="rect">
            <a:avLst/>
          </a:prstGeom>
          <a:noFill/>
        </p:spPr>
        <p:txBody>
          <a:bodyPr wrap="square" rtlCol="0">
            <a:spAutoFit/>
          </a:bodyPr>
          <a:lstStyle/>
          <a:p>
            <a:pPr algn="r"/>
            <a:r>
              <a:rPr lang="en-IN" sz="1800" b="1"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Academic Session 2026-27 </a:t>
            </a:r>
          </a:p>
          <a:p>
            <a:pPr algn="r"/>
            <a:r>
              <a:rPr lang="en-IN" sz="1600" b="1" dirty="0">
                <a:latin typeface="Calibri" panose="020F0502020204030204" pitchFamily="34" charset="0"/>
                <a:ea typeface="Calibri" panose="020F0502020204030204" pitchFamily="34" charset="0"/>
                <a:cs typeface="Calibri" panose="020F0502020204030204" pitchFamily="34" charset="0"/>
              </a:rPr>
              <a:t>EVEN Semester Jan-Jun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EF27945-C1E1-DDBF-6B5A-32A668D1B0E0}"/>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B82306DF-DC71-A9BC-8B35-D6290EE31CD4}"/>
              </a:ext>
            </a:extLst>
          </p:cNvPr>
          <p:cNvGrpSpPr/>
          <p:nvPr/>
        </p:nvGrpSpPr>
        <p:grpSpPr>
          <a:xfrm>
            <a:off x="724394" y="218172"/>
            <a:ext cx="8300849" cy="444600"/>
            <a:chOff x="0" y="6299"/>
            <a:chExt cx="5580934" cy="444600"/>
          </a:xfrm>
          <a:noFill/>
        </p:grpSpPr>
        <p:sp>
          <p:nvSpPr>
            <p:cNvPr id="109" name="Google Shape;109;p2">
              <a:extLst>
                <a:ext uri="{FF2B5EF4-FFF2-40B4-BE49-F238E27FC236}">
                  <a16:creationId xmlns:a16="http://schemas.microsoft.com/office/drawing/2014/main" id="{CFDB14A8-16BA-BF7C-C8D7-1E6DAD65FFC9}"/>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B1FC2D67-AE60-4AB2-F4BD-027A2C4342A0}"/>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Learning Objectives</a:t>
              </a:r>
            </a:p>
          </p:txBody>
        </p:sp>
      </p:grpSp>
      <p:sp>
        <p:nvSpPr>
          <p:cNvPr id="7" name="TextBox 6"/>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a:t>
            </a:r>
          </a:p>
        </p:txBody>
      </p:sp>
      <p:sp>
        <p:nvSpPr>
          <p:cNvPr id="13" name="Rectangle 10">
            <a:extLst>
              <a:ext uri="{FF2B5EF4-FFF2-40B4-BE49-F238E27FC236}">
                <a16:creationId xmlns:a16="http://schemas.microsoft.com/office/drawing/2014/main" id="{FDFB5912-E799-63B5-2CF1-182A365BA276}"/>
              </a:ext>
            </a:extLst>
          </p:cNvPr>
          <p:cNvSpPr>
            <a:spLocks noGrp="1" noChangeArrowheads="1"/>
          </p:cNvSpPr>
          <p:nvPr>
            <p:ph type="body" idx="1"/>
          </p:nvPr>
        </p:nvSpPr>
        <p:spPr bwMode="auto">
          <a:xfrm>
            <a:off x="104078" y="1225326"/>
            <a:ext cx="9039921" cy="3000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eaLnBrk="0" fontAlgn="base" hangingPunct="0">
              <a:lnSpc>
                <a:spcPct val="150000"/>
              </a:lnSpc>
              <a:spcBef>
                <a:spcPct val="0"/>
              </a:spcBef>
              <a:spcAft>
                <a:spcPct val="0"/>
              </a:spcAft>
              <a:buClrTx/>
              <a:buSzTx/>
              <a:buFont typeface="+mj-lt"/>
              <a:buAutoNum type="arabicPeriod"/>
            </a:pPr>
            <a:r>
              <a:rPr kumimoji="0" lang="en-US" altLang="en-US" sz="1800" i="0" u="none" strike="noStrike" cap="none" normalizeH="0" baseline="0" dirty="0">
                <a:ln>
                  <a:noFill/>
                </a:ln>
                <a:solidFill>
                  <a:schemeClr val="bg2"/>
                </a:solidFill>
                <a:effectLst/>
                <a:latin typeface="+mj-lt"/>
              </a:rPr>
              <a:t>Understanding the syntax and advantages of arrow functions compared to traditional functions.</a:t>
            </a:r>
          </a:p>
          <a:p>
            <a:pPr marL="342900" indent="-342900" eaLnBrk="0" fontAlgn="base" hangingPunct="0">
              <a:lnSpc>
                <a:spcPct val="150000"/>
              </a:lnSpc>
              <a:spcBef>
                <a:spcPct val="0"/>
              </a:spcBef>
              <a:spcAft>
                <a:spcPct val="0"/>
              </a:spcAft>
              <a:buClrTx/>
              <a:buSzTx/>
              <a:buFont typeface="+mj-lt"/>
              <a:buAutoNum type="arabicPeriod"/>
            </a:pPr>
            <a:r>
              <a:rPr kumimoji="0" lang="en-US" altLang="en-US" sz="1800" i="0" u="none" strike="noStrike" cap="none" normalizeH="0" baseline="0" dirty="0">
                <a:ln>
                  <a:noFill/>
                </a:ln>
                <a:solidFill>
                  <a:schemeClr val="bg2"/>
                </a:solidFill>
                <a:effectLst/>
                <a:latin typeface="+mj-lt"/>
              </a:rPr>
              <a:t>Explaining how this binding works differently in arrow functions.</a:t>
            </a:r>
          </a:p>
          <a:p>
            <a:pPr marL="342900" indent="-342900" eaLnBrk="0" fontAlgn="base" hangingPunct="0">
              <a:lnSpc>
                <a:spcPct val="150000"/>
              </a:lnSpc>
              <a:spcBef>
                <a:spcPct val="0"/>
              </a:spcBef>
              <a:spcAft>
                <a:spcPct val="0"/>
              </a:spcAft>
              <a:buClrTx/>
              <a:buSzTx/>
              <a:buFont typeface="+mj-lt"/>
              <a:buAutoNum type="arabicPeriod"/>
            </a:pPr>
            <a:r>
              <a:rPr kumimoji="0" lang="en-US" altLang="en-US" sz="1800" i="0" u="none" strike="noStrike" cap="none" normalizeH="0" baseline="0" dirty="0">
                <a:ln>
                  <a:noFill/>
                </a:ln>
                <a:solidFill>
                  <a:schemeClr val="bg2"/>
                </a:solidFill>
                <a:effectLst/>
                <a:latin typeface="+mj-lt"/>
              </a:rPr>
              <a:t>Use the spread operator (...) to expand arrays, objects, and function arguments efficiently.</a:t>
            </a:r>
          </a:p>
          <a:p>
            <a:pPr marL="342900" indent="-342900" eaLnBrk="0" fontAlgn="base" hangingPunct="0">
              <a:lnSpc>
                <a:spcPct val="150000"/>
              </a:lnSpc>
              <a:spcBef>
                <a:spcPct val="0"/>
              </a:spcBef>
              <a:spcAft>
                <a:spcPct val="0"/>
              </a:spcAft>
              <a:buClrTx/>
              <a:buSzTx/>
              <a:buFont typeface="+mj-lt"/>
              <a:buAutoNum type="arabicPeriod"/>
            </a:pPr>
            <a:r>
              <a:rPr kumimoji="0" lang="en-US" altLang="en-US" sz="1800" i="0" u="none" strike="noStrike" cap="none" normalizeH="0" baseline="0" dirty="0">
                <a:ln>
                  <a:noFill/>
                </a:ln>
                <a:solidFill>
                  <a:schemeClr val="bg2"/>
                </a:solidFill>
                <a:effectLst/>
                <a:latin typeface="+mj-lt"/>
              </a:rPr>
              <a:t>Applying the rest operator (...) to handle variable numbers of function parameters.</a:t>
            </a:r>
          </a:p>
          <a:p>
            <a:pPr marL="342900" indent="-342900" eaLnBrk="0" fontAlgn="base" hangingPunct="0">
              <a:lnSpc>
                <a:spcPct val="150000"/>
              </a:lnSpc>
              <a:spcBef>
                <a:spcPct val="0"/>
              </a:spcBef>
              <a:spcAft>
                <a:spcPct val="0"/>
              </a:spcAft>
              <a:buClrTx/>
              <a:buSzTx/>
              <a:buFont typeface="+mj-lt"/>
              <a:buAutoNum type="arabicPeriod"/>
            </a:pPr>
            <a:r>
              <a:rPr kumimoji="0" lang="en-US" altLang="en-US" sz="1800" i="0" u="none" strike="noStrike" cap="none" normalizeH="0" baseline="0" dirty="0">
                <a:ln>
                  <a:noFill/>
                </a:ln>
                <a:solidFill>
                  <a:schemeClr val="bg2"/>
                </a:solidFill>
                <a:effectLst/>
                <a:latin typeface="+mj-lt"/>
              </a:rPr>
              <a:t>Differentiating between spread and rest operators based on their use cases.</a:t>
            </a:r>
          </a:p>
        </p:txBody>
      </p:sp>
    </p:spTree>
    <p:extLst>
      <p:ext uri="{BB962C8B-B14F-4D97-AF65-F5344CB8AC3E}">
        <p14:creationId xmlns:p14="http://schemas.microsoft.com/office/powerpoint/2010/main" val="16397580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EB83A878-A8C8-7563-ACC5-60FA0ECC44FD}"/>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99A4CEF4-12CF-768B-A34D-158E7C86A758}"/>
              </a:ext>
            </a:extLst>
          </p:cNvPr>
          <p:cNvGrpSpPr/>
          <p:nvPr/>
        </p:nvGrpSpPr>
        <p:grpSpPr>
          <a:xfrm>
            <a:off x="748144" y="218172"/>
            <a:ext cx="8277101" cy="444600"/>
            <a:chOff x="0" y="6299"/>
            <a:chExt cx="5580934" cy="444600"/>
          </a:xfrm>
          <a:noFill/>
        </p:grpSpPr>
        <p:sp>
          <p:nvSpPr>
            <p:cNvPr id="109" name="Google Shape;109;p2">
              <a:extLst>
                <a:ext uri="{FF2B5EF4-FFF2-40B4-BE49-F238E27FC236}">
                  <a16:creationId xmlns:a16="http://schemas.microsoft.com/office/drawing/2014/main" id="{AF07FB58-ECE4-103C-FAE0-D4F3B657187C}"/>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3622E3EC-0CED-9721-7595-ED925977BC7E}"/>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rPr>
                <a:t>Introduction to ES6+</a:t>
              </a: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113" name="Google Shape;113;p2">
            <a:extLst>
              <a:ext uri="{FF2B5EF4-FFF2-40B4-BE49-F238E27FC236}">
                <a16:creationId xmlns:a16="http://schemas.microsoft.com/office/drawing/2014/main" id="{BC685EF9-A30D-D2E6-4A85-FB96E46BDA9B}"/>
              </a:ext>
            </a:extLst>
          </p:cNvPr>
          <p:cNvSpPr txBox="1"/>
          <p:nvPr/>
        </p:nvSpPr>
        <p:spPr>
          <a:xfrm>
            <a:off x="214796" y="1093953"/>
            <a:ext cx="8810449" cy="3434746"/>
          </a:xfrm>
          <a:prstGeom prst="rect">
            <a:avLst/>
          </a:prstGeom>
          <a:noFill/>
          <a:ln>
            <a:noFill/>
          </a:ln>
        </p:spPr>
        <p:txBody>
          <a:bodyPr spcFirstLastPara="1" wrap="square" lIns="91425" tIns="45700" rIns="91425" bIns="45700" anchor="t" anchorCtr="0">
            <a:spAutoFit/>
          </a:bodyPr>
          <a:lstStyle/>
          <a:p>
            <a:pPr marL="285750" indent="-285750">
              <a:buFont typeface="Arial" panose="020B0604020202020204" pitchFamily="34" charset="0"/>
              <a:buChar char="•"/>
            </a:pPr>
            <a:r>
              <a:rPr lang="en-GB" sz="1600" dirty="0"/>
              <a:t>ES6 (ECMAScript 2015) and later versions add powerful new features to JavaScript that make your code more expressive, concise, and safer.</a:t>
            </a:r>
          </a:p>
          <a:p>
            <a:endParaRPr lang="en-GB" sz="1600" dirty="0"/>
          </a:p>
          <a:p>
            <a:pPr marL="285750" indent="-285750">
              <a:buFont typeface="Arial" panose="020B0604020202020204" pitchFamily="34" charset="0"/>
              <a:buChar char="•"/>
            </a:pPr>
            <a:r>
              <a:rPr lang="en-GB" sz="1600" dirty="0"/>
              <a:t>Node.js has excellent support for modern JavaScript features.</a:t>
            </a:r>
          </a:p>
          <a:p>
            <a:endParaRPr lang="en-GB" sz="1600" dirty="0"/>
          </a:p>
          <a:p>
            <a:pPr marL="285750" indent="-285750">
              <a:buFont typeface="Arial" panose="020B0604020202020204" pitchFamily="34" charset="0"/>
              <a:buChar char="•"/>
            </a:pPr>
            <a:r>
              <a:rPr lang="en-GB" sz="1600" dirty="0"/>
              <a:t>All modern versions of Node.js (10+) have excellent support for ES6+ features.</a:t>
            </a:r>
          </a:p>
          <a:p>
            <a:endParaRPr lang="en-GB" sz="1600" dirty="0"/>
          </a:p>
          <a:p>
            <a:pPr marL="285750" indent="-285750">
              <a:buFont typeface="Arial" panose="020B0604020202020204" pitchFamily="34" charset="0"/>
              <a:buChar char="•"/>
            </a:pPr>
            <a:r>
              <a:rPr lang="en-GB" sz="1600" dirty="0"/>
              <a:t>These modern JavaScript features help you:</a:t>
            </a:r>
          </a:p>
          <a:p>
            <a:pPr marL="285750" lvl="4" indent="-285750">
              <a:buFont typeface="Wingdings" panose="05000000000000000000" pitchFamily="2" charset="2"/>
              <a:buChar char="q"/>
            </a:pPr>
            <a:r>
              <a:rPr lang="en-GB" sz="1600" dirty="0"/>
              <a:t>Write cleaner, more readable code</a:t>
            </a:r>
          </a:p>
          <a:p>
            <a:pPr marL="285750" lvl="2" indent="-285750">
              <a:buFont typeface="Wingdings" panose="05000000000000000000" pitchFamily="2" charset="2"/>
              <a:buChar char="q"/>
            </a:pPr>
            <a:r>
              <a:rPr lang="en-GB" sz="1600" dirty="0"/>
              <a:t>Avoid common JavaScript pitfalls</a:t>
            </a:r>
          </a:p>
          <a:p>
            <a:pPr marL="285750" lvl="2" indent="-285750">
              <a:buFont typeface="Wingdings" panose="05000000000000000000" pitchFamily="2" charset="2"/>
              <a:buChar char="q"/>
            </a:pPr>
            <a:r>
              <a:rPr lang="en-GB" sz="1600" dirty="0"/>
              <a:t>Create more maintainable applications</a:t>
            </a:r>
          </a:p>
          <a:p>
            <a:pPr marL="285750" lvl="2" indent="-285750">
              <a:buFont typeface="Wingdings" panose="05000000000000000000" pitchFamily="2" charset="2"/>
              <a:buChar char="q"/>
            </a:pPr>
            <a:r>
              <a:rPr lang="en-GB" sz="1600" dirty="0"/>
              <a:t>Reduce the need for external libraries</a:t>
            </a:r>
          </a:p>
          <a:p>
            <a:pPr lvl="0">
              <a:lnSpc>
                <a:spcPct val="90000"/>
              </a:lnSpc>
            </a:pPr>
            <a:endParaRPr lang="en-US" sz="280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8" name="TextBox 7"/>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a:t>
            </a:r>
          </a:p>
        </p:txBody>
      </p:sp>
    </p:spTree>
    <p:extLst>
      <p:ext uri="{BB962C8B-B14F-4D97-AF65-F5344CB8AC3E}">
        <p14:creationId xmlns:p14="http://schemas.microsoft.com/office/powerpoint/2010/main" val="26912309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B8FA9E54-824C-3174-92D1-1FD55557D5B7}"/>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EA721AF1-4121-990B-D3BC-3A69461EE53B}"/>
              </a:ext>
            </a:extLst>
          </p:cNvPr>
          <p:cNvGrpSpPr/>
          <p:nvPr/>
        </p:nvGrpSpPr>
        <p:grpSpPr>
          <a:xfrm>
            <a:off x="783770" y="218172"/>
            <a:ext cx="8241475" cy="444600"/>
            <a:chOff x="0" y="6299"/>
            <a:chExt cx="5580934" cy="444600"/>
          </a:xfrm>
          <a:noFill/>
        </p:grpSpPr>
        <p:sp>
          <p:nvSpPr>
            <p:cNvPr id="109" name="Google Shape;109;p2">
              <a:extLst>
                <a:ext uri="{FF2B5EF4-FFF2-40B4-BE49-F238E27FC236}">
                  <a16:creationId xmlns:a16="http://schemas.microsoft.com/office/drawing/2014/main" id="{A2839E68-8CC4-454C-1CA9-8CC8B94AE13A}"/>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AEB27271-7D91-E3E7-B4A8-A483F805DA4C}"/>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Key Features of ES6+</a:t>
              </a:r>
            </a:p>
          </p:txBody>
        </p:sp>
      </p:grpSp>
      <p:sp>
        <p:nvSpPr>
          <p:cNvPr id="111" name="Google Shape;111;p2">
            <a:extLst>
              <a:ext uri="{FF2B5EF4-FFF2-40B4-BE49-F238E27FC236}">
                <a16:creationId xmlns:a16="http://schemas.microsoft.com/office/drawing/2014/main" id="{1A9B100B-BAD8-99A1-3211-6CBBD09F1115}"/>
              </a:ext>
            </a:extLst>
          </p:cNvPr>
          <p:cNvSpPr txBox="1">
            <a:spLocks noGrp="1"/>
          </p:cNvSpPr>
          <p:nvPr>
            <p:ph type="body" idx="1"/>
          </p:nvPr>
        </p:nvSpPr>
        <p:spPr>
          <a:xfrm>
            <a:off x="400368" y="1114350"/>
            <a:ext cx="8001000" cy="2914800"/>
          </a:xfrm>
          <a:prstGeom prst="rect">
            <a:avLst/>
          </a:prstGeom>
          <a:noFill/>
          <a:ln>
            <a:noFill/>
          </a:ln>
        </p:spPr>
        <p:txBody>
          <a:bodyPr spcFirstLastPara="1" wrap="square" lIns="91425" tIns="45700" rIns="91425" bIns="45700" anchor="t" anchorCtr="0">
            <a:normAutofit lnSpcReduction="10000"/>
          </a:bodyPr>
          <a:lstStyle/>
          <a:p>
            <a:pPr marL="342900" indent="-342900" algn="just">
              <a:lnSpc>
                <a:spcPct val="150000"/>
              </a:lnSpc>
              <a:spcBef>
                <a:spcPts val="0"/>
              </a:spcBef>
              <a:buClr>
                <a:schemeClr val="bg2"/>
              </a:buClr>
            </a:pPr>
            <a:r>
              <a:rPr lang="en-GB" sz="1800" b="1" dirty="0">
                <a:solidFill>
                  <a:schemeClr val="bg2"/>
                </a:solidFill>
              </a:rPr>
              <a:t>let &amp; </a:t>
            </a:r>
            <a:r>
              <a:rPr lang="en-GB" sz="1800" b="1" dirty="0" err="1">
                <a:solidFill>
                  <a:schemeClr val="bg2"/>
                </a:solidFill>
              </a:rPr>
              <a:t>const</a:t>
            </a:r>
            <a:r>
              <a:rPr lang="en-GB" sz="1800" dirty="0">
                <a:solidFill>
                  <a:schemeClr val="bg2"/>
                </a:solidFill>
              </a:rPr>
              <a:t> – Block-scoped variable declaration</a:t>
            </a:r>
          </a:p>
          <a:p>
            <a:pPr marL="342900" indent="-342900" algn="just">
              <a:lnSpc>
                <a:spcPct val="150000"/>
              </a:lnSpc>
              <a:spcBef>
                <a:spcPts val="0"/>
              </a:spcBef>
              <a:buClr>
                <a:schemeClr val="bg2"/>
              </a:buClr>
            </a:pPr>
            <a:r>
              <a:rPr lang="en-GB" sz="1800" b="1" dirty="0">
                <a:solidFill>
                  <a:schemeClr val="bg2"/>
                </a:solidFill>
              </a:rPr>
              <a:t>Arrow Functions (=&gt;)</a:t>
            </a:r>
            <a:r>
              <a:rPr lang="en-GB" sz="1800" dirty="0">
                <a:solidFill>
                  <a:schemeClr val="bg2"/>
                </a:solidFill>
              </a:rPr>
              <a:t> – Short syntax, lexical this</a:t>
            </a:r>
          </a:p>
          <a:p>
            <a:pPr marL="342900" indent="-342900" algn="just">
              <a:lnSpc>
                <a:spcPct val="150000"/>
              </a:lnSpc>
              <a:spcBef>
                <a:spcPts val="0"/>
              </a:spcBef>
              <a:buClr>
                <a:schemeClr val="bg2"/>
              </a:buClr>
            </a:pPr>
            <a:r>
              <a:rPr lang="en-IN" sz="1800" b="1" dirty="0">
                <a:solidFill>
                  <a:schemeClr val="bg2"/>
                </a:solidFill>
              </a:rPr>
              <a:t>Template Literals</a:t>
            </a:r>
            <a:r>
              <a:rPr lang="en-IN" sz="1800" dirty="0">
                <a:solidFill>
                  <a:schemeClr val="bg2"/>
                </a:solidFill>
              </a:rPr>
              <a:t> – String interpolation using backticks</a:t>
            </a:r>
          </a:p>
          <a:p>
            <a:pPr marL="342900" indent="-342900" algn="just">
              <a:lnSpc>
                <a:spcPct val="150000"/>
              </a:lnSpc>
              <a:spcBef>
                <a:spcPts val="0"/>
              </a:spcBef>
              <a:buClr>
                <a:schemeClr val="bg2"/>
              </a:buClr>
            </a:pPr>
            <a:r>
              <a:rPr lang="en-GB" sz="1800" b="1" dirty="0">
                <a:solidFill>
                  <a:schemeClr val="bg2"/>
                </a:solidFill>
              </a:rPr>
              <a:t>Default Parameters</a:t>
            </a:r>
            <a:r>
              <a:rPr lang="en-GB" sz="1800" dirty="0">
                <a:solidFill>
                  <a:schemeClr val="bg2"/>
                </a:solidFill>
              </a:rPr>
              <a:t> – Predefined function arguments</a:t>
            </a:r>
          </a:p>
          <a:p>
            <a:pPr marL="342900" indent="-342900" algn="just">
              <a:lnSpc>
                <a:spcPct val="150000"/>
              </a:lnSpc>
              <a:spcBef>
                <a:spcPts val="0"/>
              </a:spcBef>
              <a:buClr>
                <a:schemeClr val="bg2"/>
              </a:buClr>
            </a:pPr>
            <a:r>
              <a:rPr lang="en-GB" sz="1800" b="1" dirty="0">
                <a:solidFill>
                  <a:schemeClr val="bg2"/>
                </a:solidFill>
              </a:rPr>
              <a:t>Destructuring</a:t>
            </a:r>
            <a:r>
              <a:rPr lang="en-GB" sz="1800" dirty="0">
                <a:solidFill>
                  <a:schemeClr val="bg2"/>
                </a:solidFill>
              </a:rPr>
              <a:t> – Easy extraction from arrays &amp; objects</a:t>
            </a:r>
          </a:p>
          <a:p>
            <a:pPr marL="342900" indent="-342900" algn="just">
              <a:lnSpc>
                <a:spcPct val="150000"/>
              </a:lnSpc>
              <a:spcBef>
                <a:spcPts val="0"/>
              </a:spcBef>
              <a:buClr>
                <a:schemeClr val="bg2"/>
              </a:buClr>
            </a:pPr>
            <a:r>
              <a:rPr lang="en-GB" sz="1800" b="1" dirty="0">
                <a:solidFill>
                  <a:schemeClr val="bg2"/>
                </a:solidFill>
              </a:rPr>
              <a:t>Spread &amp; Rest (...)</a:t>
            </a:r>
            <a:r>
              <a:rPr lang="en-GB" sz="1800" dirty="0">
                <a:solidFill>
                  <a:schemeClr val="bg2"/>
                </a:solidFill>
              </a:rPr>
              <a:t> – Expand or collect values</a:t>
            </a:r>
          </a:p>
          <a:p>
            <a:pPr marL="342900" indent="-342900" algn="just">
              <a:lnSpc>
                <a:spcPct val="150000"/>
              </a:lnSpc>
              <a:spcBef>
                <a:spcPts val="0"/>
              </a:spcBef>
              <a:buClr>
                <a:schemeClr val="bg2"/>
              </a:buClr>
            </a:pPr>
            <a:r>
              <a:rPr lang="en-IN" sz="1800" b="1" dirty="0">
                <a:solidFill>
                  <a:schemeClr val="bg2"/>
                </a:solidFill>
              </a:rPr>
              <a:t>Async/Await</a:t>
            </a:r>
            <a:r>
              <a:rPr lang="en-IN" sz="1800" dirty="0">
                <a:solidFill>
                  <a:schemeClr val="bg2"/>
                </a:solidFill>
              </a:rPr>
              <a:t> – Simplified asynchronous code</a:t>
            </a:r>
            <a:endParaRPr sz="1800" i="0" u="none" strike="noStrike" cap="none" dirty="0">
              <a:solidFill>
                <a:schemeClr val="bg2"/>
              </a:solidFill>
              <a:latin typeface="Times New Roman"/>
              <a:ea typeface="Times New Roman"/>
              <a:cs typeface="Times New Roman"/>
              <a:sym typeface="Times New Roman"/>
            </a:endParaRPr>
          </a:p>
        </p:txBody>
      </p:sp>
      <p:sp>
        <p:nvSpPr>
          <p:cNvPr id="10" name="TextBox 9"/>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3</a:t>
            </a:r>
          </a:p>
        </p:txBody>
      </p:sp>
    </p:spTree>
    <p:extLst>
      <p:ext uri="{BB962C8B-B14F-4D97-AF65-F5344CB8AC3E}">
        <p14:creationId xmlns:p14="http://schemas.microsoft.com/office/powerpoint/2010/main" val="12119721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B178EC9D-3AF2-FF46-AE40-8AADB0C035F2}"/>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14FFF226-09D2-BD23-5ADA-FDF121AE7076}"/>
              </a:ext>
            </a:extLst>
          </p:cNvPr>
          <p:cNvGrpSpPr/>
          <p:nvPr/>
        </p:nvGrpSpPr>
        <p:grpSpPr>
          <a:xfrm>
            <a:off x="783770" y="218172"/>
            <a:ext cx="8241475" cy="444600"/>
            <a:chOff x="0" y="6299"/>
            <a:chExt cx="5580934" cy="444600"/>
          </a:xfrm>
          <a:noFill/>
        </p:grpSpPr>
        <p:sp>
          <p:nvSpPr>
            <p:cNvPr id="109" name="Google Shape;109;p2">
              <a:extLst>
                <a:ext uri="{FF2B5EF4-FFF2-40B4-BE49-F238E27FC236}">
                  <a16:creationId xmlns:a16="http://schemas.microsoft.com/office/drawing/2014/main" id="{BDBFAAD7-33FB-3AC6-1B1A-504C8E53D5E1}"/>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4945FE62-323F-F949-9208-8982D26D5CB9}"/>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Let, Const &amp; Var</a:t>
              </a:r>
            </a:p>
          </p:txBody>
        </p:sp>
      </p:grpSp>
      <p:sp>
        <p:nvSpPr>
          <p:cNvPr id="111" name="Google Shape;111;p2">
            <a:extLst>
              <a:ext uri="{FF2B5EF4-FFF2-40B4-BE49-F238E27FC236}">
                <a16:creationId xmlns:a16="http://schemas.microsoft.com/office/drawing/2014/main" id="{AA2D43A7-B4AC-7396-B002-904551AF782D}"/>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220A35BA-0CE1-446C-0138-E2E569F15495}"/>
              </a:ext>
            </a:extLst>
          </p:cNvPr>
          <p:cNvSpPr txBox="1"/>
          <p:nvPr/>
        </p:nvSpPr>
        <p:spPr>
          <a:xfrm>
            <a:off x="182744" y="1117113"/>
            <a:ext cx="8810449" cy="2246729"/>
          </a:xfrm>
          <a:prstGeom prst="rect">
            <a:avLst/>
          </a:prstGeom>
          <a:noFill/>
          <a:ln>
            <a:noFill/>
          </a:ln>
        </p:spPr>
        <p:txBody>
          <a:bodyPr spcFirstLastPara="1" wrap="square" lIns="91425" tIns="45700" rIns="91425" bIns="45700" anchor="t" anchorCtr="0">
            <a:spAutoFit/>
          </a:bodyPr>
          <a:lstStyle/>
          <a:p>
            <a:pPr algn="just" fontAlgn="base"/>
            <a:r>
              <a:rPr lang="en-GB" dirty="0"/>
              <a:t>JavaScript provides three ways to declare variables: var, let, and </a:t>
            </a:r>
            <a:r>
              <a:rPr lang="en-GB" dirty="0" err="1"/>
              <a:t>const</a:t>
            </a:r>
            <a:r>
              <a:rPr lang="en-GB" dirty="0"/>
              <a:t>, but they differ in scope, hoisting behaviour, and re-assignment rules.</a:t>
            </a:r>
          </a:p>
          <a:p>
            <a:pPr algn="just" fontAlgn="base"/>
            <a:endParaRPr lang="en-GB" dirty="0"/>
          </a:p>
          <a:p>
            <a:pPr algn="just" fontAlgn="base"/>
            <a:r>
              <a:rPr lang="en-GB" b="1" dirty="0"/>
              <a:t>var:</a:t>
            </a:r>
            <a:r>
              <a:rPr lang="en-GB" dirty="0"/>
              <a:t> Declares variables with function or global scope and allows re-declaration and updates within the same scope.</a:t>
            </a:r>
          </a:p>
          <a:p>
            <a:pPr algn="just" fontAlgn="base"/>
            <a:r>
              <a:rPr lang="en-GB" b="1" dirty="0"/>
              <a:t>let: </a:t>
            </a:r>
            <a:r>
              <a:rPr lang="en-GB" dirty="0"/>
              <a:t>Declares variables with block scope, allowing updates but not re-declaration within the same block.</a:t>
            </a:r>
          </a:p>
          <a:p>
            <a:pPr algn="just" fontAlgn="base"/>
            <a:r>
              <a:rPr lang="en-GB" b="1" dirty="0" err="1"/>
              <a:t>const</a:t>
            </a:r>
            <a:r>
              <a:rPr lang="en-GB" b="1" dirty="0"/>
              <a:t> :</a:t>
            </a:r>
            <a:r>
              <a:rPr lang="en-GB" dirty="0"/>
              <a:t> Declares block-scoped variables that cannot be reassigned after their initial assignment.</a:t>
            </a:r>
          </a:p>
          <a:p>
            <a:pPr fontAlgn="base"/>
            <a:endParaRPr lang="en-GB" dirty="0"/>
          </a:p>
          <a:p>
            <a:pPr fontAlgn="base"/>
            <a:endParaRPr lang="en-GB" dirty="0"/>
          </a:p>
          <a:p>
            <a:pPr fontAlgn="base"/>
            <a:endParaRPr lang="en-IN" dirty="0"/>
          </a:p>
        </p:txBody>
      </p:sp>
      <p:sp>
        <p:nvSpPr>
          <p:cNvPr id="10" name="TextBox 9">
            <a:extLst>
              <a:ext uri="{FF2B5EF4-FFF2-40B4-BE49-F238E27FC236}">
                <a16:creationId xmlns:a16="http://schemas.microsoft.com/office/drawing/2014/main" id="{DE159C79-7AC0-4E46-EB54-6E995667A62D}"/>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4</a:t>
            </a:r>
          </a:p>
        </p:txBody>
      </p:sp>
      <p:grpSp>
        <p:nvGrpSpPr>
          <p:cNvPr id="17" name="Google Shape;108;p2">
            <a:extLst>
              <a:ext uri="{FF2B5EF4-FFF2-40B4-BE49-F238E27FC236}">
                <a16:creationId xmlns:a16="http://schemas.microsoft.com/office/drawing/2014/main" id="{D964EB89-B350-5658-4193-6D077B5D19AD}"/>
              </a:ext>
            </a:extLst>
          </p:cNvPr>
          <p:cNvGrpSpPr/>
          <p:nvPr/>
        </p:nvGrpSpPr>
        <p:grpSpPr>
          <a:xfrm>
            <a:off x="815820" y="348934"/>
            <a:ext cx="8245053" cy="824088"/>
            <a:chOff x="-2423" y="6299"/>
            <a:chExt cx="5583357" cy="824088"/>
          </a:xfrm>
          <a:noFill/>
        </p:grpSpPr>
        <p:sp>
          <p:nvSpPr>
            <p:cNvPr id="18" name="Google Shape;109;p2">
              <a:extLst>
                <a:ext uri="{FF2B5EF4-FFF2-40B4-BE49-F238E27FC236}">
                  <a16:creationId xmlns:a16="http://schemas.microsoft.com/office/drawing/2014/main" id="{96E4E321-561E-07CE-DCD2-94E9FE5C81A1}"/>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9" name="Google Shape;110;p2">
              <a:extLst>
                <a:ext uri="{FF2B5EF4-FFF2-40B4-BE49-F238E27FC236}">
                  <a16:creationId xmlns:a16="http://schemas.microsoft.com/office/drawing/2014/main" id="{706259B5-2280-84B6-86A6-C84A7685C9DE}"/>
                </a:ext>
              </a:extLst>
            </p:cNvPr>
            <p:cNvSpPr txBox="1"/>
            <p:nvPr/>
          </p:nvSpPr>
          <p:spPr>
            <a:xfrm>
              <a:off x="-2423" y="429195"/>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graphicFrame>
        <p:nvGraphicFramePr>
          <p:cNvPr id="2" name="Table 1">
            <a:extLst>
              <a:ext uri="{FF2B5EF4-FFF2-40B4-BE49-F238E27FC236}">
                <a16:creationId xmlns:a16="http://schemas.microsoft.com/office/drawing/2014/main" id="{F9A71A82-EEA1-350F-5C3C-EA4B859D1D39}"/>
              </a:ext>
            </a:extLst>
          </p:cNvPr>
          <p:cNvGraphicFramePr>
            <a:graphicFrameLocks noGrp="1"/>
          </p:cNvGraphicFramePr>
          <p:nvPr>
            <p:extLst>
              <p:ext uri="{D42A27DB-BD31-4B8C-83A1-F6EECF244321}">
                <p14:modId xmlns:p14="http://schemas.microsoft.com/office/powerpoint/2010/main" val="3974681779"/>
              </p:ext>
            </p:extLst>
          </p:nvPr>
        </p:nvGraphicFramePr>
        <p:xfrm>
          <a:off x="236800" y="2757781"/>
          <a:ext cx="8521700" cy="1859280"/>
        </p:xfrm>
        <a:graphic>
          <a:graphicData uri="http://schemas.openxmlformats.org/drawingml/2006/table">
            <a:tbl>
              <a:tblPr>
                <a:tableStyleId>{3C2FFA5D-87B4-456A-9821-1D502468CF0F}</a:tableStyleId>
              </a:tblPr>
              <a:tblGrid>
                <a:gridCol w="2130425">
                  <a:extLst>
                    <a:ext uri="{9D8B030D-6E8A-4147-A177-3AD203B41FA5}">
                      <a16:colId xmlns:a16="http://schemas.microsoft.com/office/drawing/2014/main" val="3378307443"/>
                    </a:ext>
                  </a:extLst>
                </a:gridCol>
                <a:gridCol w="2130425">
                  <a:extLst>
                    <a:ext uri="{9D8B030D-6E8A-4147-A177-3AD203B41FA5}">
                      <a16:colId xmlns:a16="http://schemas.microsoft.com/office/drawing/2014/main" val="3025083647"/>
                    </a:ext>
                  </a:extLst>
                </a:gridCol>
                <a:gridCol w="2130425">
                  <a:extLst>
                    <a:ext uri="{9D8B030D-6E8A-4147-A177-3AD203B41FA5}">
                      <a16:colId xmlns:a16="http://schemas.microsoft.com/office/drawing/2014/main" val="2152250054"/>
                    </a:ext>
                  </a:extLst>
                </a:gridCol>
                <a:gridCol w="2130425">
                  <a:extLst>
                    <a:ext uri="{9D8B030D-6E8A-4147-A177-3AD203B41FA5}">
                      <a16:colId xmlns:a16="http://schemas.microsoft.com/office/drawing/2014/main" val="355371056"/>
                    </a:ext>
                  </a:extLst>
                </a:gridCol>
              </a:tblGrid>
              <a:tr h="0">
                <a:tc>
                  <a:txBody>
                    <a:bodyPr/>
                    <a:lstStyle/>
                    <a:p>
                      <a:pPr fontAlgn="base">
                        <a:buNone/>
                      </a:pPr>
                      <a:r>
                        <a:rPr lang="en-IN" b="1" dirty="0">
                          <a:solidFill>
                            <a:schemeClr val="bg2"/>
                          </a:solidFill>
                          <a:effectLst/>
                        </a:rPr>
                        <a:t>Keyword</a:t>
                      </a:r>
                      <a:endParaRPr lang="en-IN" b="1" dirty="0">
                        <a:solidFill>
                          <a:schemeClr val="bg2"/>
                        </a:solidFill>
                        <a:effectLst/>
                        <a:latin typeface="inherit"/>
                      </a:endParaRPr>
                    </a:p>
                  </a:txBody>
                  <a:tcPr/>
                </a:tc>
                <a:tc>
                  <a:txBody>
                    <a:bodyPr/>
                    <a:lstStyle/>
                    <a:p>
                      <a:pPr fontAlgn="base">
                        <a:buNone/>
                      </a:pPr>
                      <a:r>
                        <a:rPr lang="en-IN" b="1">
                          <a:solidFill>
                            <a:schemeClr val="bg2"/>
                          </a:solidFill>
                          <a:effectLst/>
                        </a:rPr>
                        <a:t>Scope</a:t>
                      </a:r>
                      <a:endParaRPr lang="en-IN" b="1">
                        <a:solidFill>
                          <a:schemeClr val="bg2"/>
                        </a:solidFill>
                        <a:effectLst/>
                        <a:latin typeface="inherit"/>
                      </a:endParaRPr>
                    </a:p>
                  </a:txBody>
                  <a:tcPr/>
                </a:tc>
                <a:tc>
                  <a:txBody>
                    <a:bodyPr/>
                    <a:lstStyle/>
                    <a:p>
                      <a:pPr fontAlgn="base">
                        <a:buNone/>
                      </a:pPr>
                      <a:r>
                        <a:rPr lang="en-IN" b="1">
                          <a:solidFill>
                            <a:schemeClr val="bg2"/>
                          </a:solidFill>
                          <a:effectLst/>
                        </a:rPr>
                        <a:t>Redeclaration &amp; Reassignment</a:t>
                      </a:r>
                      <a:endParaRPr lang="en-IN" b="1">
                        <a:solidFill>
                          <a:schemeClr val="bg2"/>
                        </a:solidFill>
                        <a:effectLst/>
                        <a:latin typeface="inherit"/>
                      </a:endParaRPr>
                    </a:p>
                  </a:txBody>
                  <a:tcPr/>
                </a:tc>
                <a:tc>
                  <a:txBody>
                    <a:bodyPr/>
                    <a:lstStyle/>
                    <a:p>
                      <a:pPr fontAlgn="base">
                        <a:buNone/>
                      </a:pPr>
                      <a:r>
                        <a:rPr lang="en-IN" b="1" dirty="0">
                          <a:solidFill>
                            <a:schemeClr val="bg2"/>
                          </a:solidFill>
                          <a:effectLst/>
                        </a:rPr>
                        <a:t>Hoisting*</a:t>
                      </a:r>
                      <a:endParaRPr lang="en-IN" b="1" dirty="0">
                        <a:solidFill>
                          <a:schemeClr val="bg2"/>
                        </a:solidFill>
                        <a:effectLst/>
                        <a:latin typeface="inherit"/>
                      </a:endParaRPr>
                    </a:p>
                  </a:txBody>
                  <a:tcPr/>
                </a:tc>
                <a:extLst>
                  <a:ext uri="{0D108BD9-81ED-4DB2-BD59-A6C34878D82A}">
                    <a16:rowId xmlns:a16="http://schemas.microsoft.com/office/drawing/2014/main" val="537532200"/>
                  </a:ext>
                </a:extLst>
              </a:tr>
              <a:tr h="0">
                <a:tc>
                  <a:txBody>
                    <a:bodyPr/>
                    <a:lstStyle/>
                    <a:p>
                      <a:pPr fontAlgn="base">
                        <a:buNone/>
                      </a:pPr>
                      <a:r>
                        <a:rPr lang="en-IN" b="0">
                          <a:solidFill>
                            <a:schemeClr val="bg2"/>
                          </a:solidFill>
                          <a:effectLst/>
                        </a:rPr>
                        <a:t>var</a:t>
                      </a:r>
                      <a:endParaRPr lang="en-IN">
                        <a:solidFill>
                          <a:schemeClr val="bg2"/>
                        </a:solidFill>
                        <a:effectLst/>
                        <a:latin typeface="inherit"/>
                      </a:endParaRPr>
                    </a:p>
                  </a:txBody>
                  <a:tcPr/>
                </a:tc>
                <a:tc>
                  <a:txBody>
                    <a:bodyPr/>
                    <a:lstStyle/>
                    <a:p>
                      <a:pPr fontAlgn="base">
                        <a:buNone/>
                      </a:pPr>
                      <a:r>
                        <a:rPr lang="en-IN">
                          <a:solidFill>
                            <a:schemeClr val="bg2"/>
                          </a:solidFill>
                          <a:effectLst/>
                        </a:rPr>
                        <a:t>Global, Local</a:t>
                      </a:r>
                      <a:endParaRPr lang="en-IN">
                        <a:solidFill>
                          <a:schemeClr val="bg2"/>
                        </a:solidFill>
                        <a:effectLst/>
                        <a:latin typeface="inherit"/>
                      </a:endParaRPr>
                    </a:p>
                  </a:txBody>
                  <a:tcPr/>
                </a:tc>
                <a:tc>
                  <a:txBody>
                    <a:bodyPr/>
                    <a:lstStyle/>
                    <a:p>
                      <a:pPr fontAlgn="base">
                        <a:buNone/>
                      </a:pPr>
                      <a:r>
                        <a:rPr lang="en-IN">
                          <a:solidFill>
                            <a:schemeClr val="bg2"/>
                          </a:solidFill>
                          <a:effectLst/>
                        </a:rPr>
                        <a:t>yes &amp; yes</a:t>
                      </a:r>
                      <a:endParaRPr lang="en-IN">
                        <a:solidFill>
                          <a:schemeClr val="bg2"/>
                        </a:solidFill>
                        <a:effectLst/>
                        <a:latin typeface="inherit"/>
                      </a:endParaRPr>
                    </a:p>
                  </a:txBody>
                  <a:tcPr/>
                </a:tc>
                <a:tc>
                  <a:txBody>
                    <a:bodyPr/>
                    <a:lstStyle/>
                    <a:p>
                      <a:pPr fontAlgn="base">
                        <a:buNone/>
                      </a:pPr>
                      <a:r>
                        <a:rPr lang="en-IN">
                          <a:solidFill>
                            <a:schemeClr val="bg2"/>
                          </a:solidFill>
                          <a:effectLst/>
                        </a:rPr>
                        <a:t>yes, with default value</a:t>
                      </a:r>
                      <a:endParaRPr lang="en-IN">
                        <a:solidFill>
                          <a:schemeClr val="bg2"/>
                        </a:solidFill>
                        <a:effectLst/>
                        <a:latin typeface="inherit"/>
                      </a:endParaRPr>
                    </a:p>
                  </a:txBody>
                  <a:tcPr/>
                </a:tc>
                <a:extLst>
                  <a:ext uri="{0D108BD9-81ED-4DB2-BD59-A6C34878D82A}">
                    <a16:rowId xmlns:a16="http://schemas.microsoft.com/office/drawing/2014/main" val="662724539"/>
                  </a:ext>
                </a:extLst>
              </a:tr>
              <a:tr h="0">
                <a:tc>
                  <a:txBody>
                    <a:bodyPr/>
                    <a:lstStyle/>
                    <a:p>
                      <a:pPr fontAlgn="base">
                        <a:buNone/>
                      </a:pPr>
                      <a:r>
                        <a:rPr lang="en-IN" b="0">
                          <a:solidFill>
                            <a:schemeClr val="bg2"/>
                          </a:solidFill>
                          <a:effectLst/>
                        </a:rPr>
                        <a:t>let</a:t>
                      </a:r>
                      <a:endParaRPr lang="en-IN">
                        <a:solidFill>
                          <a:schemeClr val="bg2"/>
                        </a:solidFill>
                        <a:effectLst/>
                        <a:latin typeface="inherit"/>
                      </a:endParaRPr>
                    </a:p>
                  </a:txBody>
                  <a:tcPr/>
                </a:tc>
                <a:tc>
                  <a:txBody>
                    <a:bodyPr/>
                    <a:lstStyle/>
                    <a:p>
                      <a:pPr fontAlgn="base">
                        <a:buNone/>
                      </a:pPr>
                      <a:r>
                        <a:rPr lang="en-IN">
                          <a:solidFill>
                            <a:schemeClr val="bg2"/>
                          </a:solidFill>
                          <a:effectLst/>
                        </a:rPr>
                        <a:t>Global, Local, Block</a:t>
                      </a:r>
                      <a:endParaRPr lang="en-IN">
                        <a:solidFill>
                          <a:schemeClr val="bg2"/>
                        </a:solidFill>
                        <a:effectLst/>
                        <a:latin typeface="inherit"/>
                      </a:endParaRPr>
                    </a:p>
                  </a:txBody>
                  <a:tcPr/>
                </a:tc>
                <a:tc>
                  <a:txBody>
                    <a:bodyPr/>
                    <a:lstStyle/>
                    <a:p>
                      <a:pPr fontAlgn="base">
                        <a:buNone/>
                      </a:pPr>
                      <a:r>
                        <a:rPr lang="en-IN">
                          <a:solidFill>
                            <a:schemeClr val="bg2"/>
                          </a:solidFill>
                          <a:effectLst/>
                        </a:rPr>
                        <a:t>no &amp; yes</a:t>
                      </a:r>
                      <a:endParaRPr lang="en-IN">
                        <a:solidFill>
                          <a:schemeClr val="bg2"/>
                        </a:solidFill>
                        <a:effectLst/>
                        <a:latin typeface="inherit"/>
                      </a:endParaRPr>
                    </a:p>
                  </a:txBody>
                  <a:tcPr/>
                </a:tc>
                <a:tc>
                  <a:txBody>
                    <a:bodyPr/>
                    <a:lstStyle/>
                    <a:p>
                      <a:pPr fontAlgn="base">
                        <a:buNone/>
                      </a:pPr>
                      <a:r>
                        <a:rPr lang="en-IN">
                          <a:solidFill>
                            <a:schemeClr val="bg2"/>
                          </a:solidFill>
                          <a:effectLst/>
                        </a:rPr>
                        <a:t>yes, without default value</a:t>
                      </a:r>
                      <a:endParaRPr lang="en-IN">
                        <a:solidFill>
                          <a:schemeClr val="bg2"/>
                        </a:solidFill>
                        <a:effectLst/>
                        <a:latin typeface="inherit"/>
                      </a:endParaRPr>
                    </a:p>
                  </a:txBody>
                  <a:tcPr/>
                </a:tc>
                <a:extLst>
                  <a:ext uri="{0D108BD9-81ED-4DB2-BD59-A6C34878D82A}">
                    <a16:rowId xmlns:a16="http://schemas.microsoft.com/office/drawing/2014/main" val="277551736"/>
                  </a:ext>
                </a:extLst>
              </a:tr>
              <a:tr h="0">
                <a:tc>
                  <a:txBody>
                    <a:bodyPr/>
                    <a:lstStyle/>
                    <a:p>
                      <a:pPr fontAlgn="base">
                        <a:buNone/>
                      </a:pPr>
                      <a:r>
                        <a:rPr lang="en-IN" b="0" dirty="0" err="1">
                          <a:solidFill>
                            <a:schemeClr val="bg2"/>
                          </a:solidFill>
                          <a:effectLst/>
                        </a:rPr>
                        <a:t>const</a:t>
                      </a:r>
                      <a:endParaRPr lang="en-IN" dirty="0">
                        <a:solidFill>
                          <a:schemeClr val="bg2"/>
                        </a:solidFill>
                        <a:effectLst/>
                        <a:latin typeface="inherit"/>
                      </a:endParaRPr>
                    </a:p>
                  </a:txBody>
                  <a:tcPr/>
                </a:tc>
                <a:tc>
                  <a:txBody>
                    <a:bodyPr/>
                    <a:lstStyle/>
                    <a:p>
                      <a:pPr fontAlgn="base">
                        <a:buNone/>
                      </a:pPr>
                      <a:r>
                        <a:rPr lang="en-IN">
                          <a:solidFill>
                            <a:schemeClr val="bg2"/>
                          </a:solidFill>
                          <a:effectLst/>
                        </a:rPr>
                        <a:t>Global, Local, Block</a:t>
                      </a:r>
                      <a:endParaRPr lang="en-IN">
                        <a:solidFill>
                          <a:schemeClr val="bg2"/>
                        </a:solidFill>
                        <a:effectLst/>
                        <a:latin typeface="inherit"/>
                      </a:endParaRPr>
                    </a:p>
                  </a:txBody>
                  <a:tcPr/>
                </a:tc>
                <a:tc>
                  <a:txBody>
                    <a:bodyPr/>
                    <a:lstStyle/>
                    <a:p>
                      <a:pPr fontAlgn="base">
                        <a:buNone/>
                      </a:pPr>
                      <a:r>
                        <a:rPr lang="en-IN">
                          <a:solidFill>
                            <a:schemeClr val="bg2"/>
                          </a:solidFill>
                          <a:effectLst/>
                        </a:rPr>
                        <a:t>no &amp; no</a:t>
                      </a:r>
                      <a:endParaRPr lang="en-IN">
                        <a:solidFill>
                          <a:schemeClr val="bg2"/>
                        </a:solidFill>
                        <a:effectLst/>
                        <a:latin typeface="inherit"/>
                      </a:endParaRPr>
                    </a:p>
                  </a:txBody>
                  <a:tcPr/>
                </a:tc>
                <a:tc>
                  <a:txBody>
                    <a:bodyPr/>
                    <a:lstStyle/>
                    <a:p>
                      <a:pPr fontAlgn="base">
                        <a:buNone/>
                      </a:pPr>
                      <a:r>
                        <a:rPr lang="en-IN" dirty="0">
                          <a:solidFill>
                            <a:schemeClr val="bg2"/>
                          </a:solidFill>
                          <a:effectLst/>
                        </a:rPr>
                        <a:t>yes, without default value</a:t>
                      </a:r>
                      <a:endParaRPr lang="en-IN" dirty="0">
                        <a:solidFill>
                          <a:schemeClr val="bg2"/>
                        </a:solidFill>
                        <a:effectLst/>
                        <a:latin typeface="inherit"/>
                      </a:endParaRPr>
                    </a:p>
                  </a:txBody>
                  <a:tcPr/>
                </a:tc>
                <a:extLst>
                  <a:ext uri="{0D108BD9-81ED-4DB2-BD59-A6C34878D82A}">
                    <a16:rowId xmlns:a16="http://schemas.microsoft.com/office/drawing/2014/main" val="3588036348"/>
                  </a:ext>
                </a:extLst>
              </a:tr>
            </a:tbl>
          </a:graphicData>
        </a:graphic>
      </p:graphicFrame>
      <p:sp>
        <p:nvSpPr>
          <p:cNvPr id="4" name="TextBox 3">
            <a:extLst>
              <a:ext uri="{FF2B5EF4-FFF2-40B4-BE49-F238E27FC236}">
                <a16:creationId xmlns:a16="http://schemas.microsoft.com/office/drawing/2014/main" id="{C10533A0-C3BF-4884-5AF2-8EEEBBA6D8A3}"/>
              </a:ext>
            </a:extLst>
          </p:cNvPr>
          <p:cNvSpPr txBox="1"/>
          <p:nvPr/>
        </p:nvSpPr>
        <p:spPr>
          <a:xfrm>
            <a:off x="195000" y="4655449"/>
            <a:ext cx="8949000" cy="461665"/>
          </a:xfrm>
          <a:prstGeom prst="rect">
            <a:avLst/>
          </a:prstGeom>
          <a:noFill/>
        </p:spPr>
        <p:txBody>
          <a:bodyPr wrap="square" rtlCol="0">
            <a:spAutoFit/>
          </a:bodyPr>
          <a:lstStyle/>
          <a:p>
            <a:r>
              <a:rPr lang="en-GB" sz="1200" b="1" dirty="0"/>
              <a:t>* Hoisting</a:t>
            </a:r>
            <a:r>
              <a:rPr lang="en-GB" sz="1200" dirty="0"/>
              <a:t> in JavaScript is a behaviour where variable and function declarations are conceptually moved to the top of their containing scope during the compilation phase, before the code is executed</a:t>
            </a:r>
            <a:endParaRPr lang="en-IN" sz="1200" dirty="0"/>
          </a:p>
        </p:txBody>
      </p:sp>
    </p:spTree>
    <p:extLst>
      <p:ext uri="{BB962C8B-B14F-4D97-AF65-F5344CB8AC3E}">
        <p14:creationId xmlns:p14="http://schemas.microsoft.com/office/powerpoint/2010/main" val="12148195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3DC29400-89C7-6A6F-FDCC-3A14F1359752}"/>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0A1E0372-C71E-C8FF-EA68-B3A001392437}"/>
              </a:ext>
            </a:extLst>
          </p:cNvPr>
          <p:cNvGrpSpPr/>
          <p:nvPr/>
        </p:nvGrpSpPr>
        <p:grpSpPr>
          <a:xfrm>
            <a:off x="783770" y="218172"/>
            <a:ext cx="8241475" cy="444600"/>
            <a:chOff x="0" y="6299"/>
            <a:chExt cx="5580934" cy="444600"/>
          </a:xfrm>
          <a:noFill/>
        </p:grpSpPr>
        <p:sp>
          <p:nvSpPr>
            <p:cNvPr id="109" name="Google Shape;109;p2">
              <a:extLst>
                <a:ext uri="{FF2B5EF4-FFF2-40B4-BE49-F238E27FC236}">
                  <a16:creationId xmlns:a16="http://schemas.microsoft.com/office/drawing/2014/main" id="{25826B79-33D3-443A-614A-6F6AA9F06339}"/>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C91F2A5D-F5A3-D823-AC38-7E68C89292D0}"/>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lvl="0" algn="ctr">
                <a:lnSpc>
                  <a:spcPct val="90000"/>
                </a:lnSpc>
                <a:buSzPts val="1900"/>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Arrow Functions</a:t>
              </a:r>
              <a:r>
                <a:rPr lang="en-GB" sz="4000" b="1" dirty="0">
                  <a:solidFill>
                    <a:schemeClr val="bg2"/>
                  </a:solidFill>
                </a:rPr>
                <a:t> (=&gt;)</a:t>
              </a: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111" name="Google Shape;111;p2">
            <a:extLst>
              <a:ext uri="{FF2B5EF4-FFF2-40B4-BE49-F238E27FC236}">
                <a16:creationId xmlns:a16="http://schemas.microsoft.com/office/drawing/2014/main" id="{E83A1FA8-10FE-2D4E-39EB-872A7BDF539F}"/>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F4C3EC31-8B8F-E5E5-4108-1157654D8404}"/>
              </a:ext>
            </a:extLst>
          </p:cNvPr>
          <p:cNvSpPr txBox="1"/>
          <p:nvPr/>
        </p:nvSpPr>
        <p:spPr>
          <a:xfrm>
            <a:off x="83127" y="1089517"/>
            <a:ext cx="8977746" cy="3539390"/>
          </a:xfrm>
          <a:prstGeom prst="rect">
            <a:avLst/>
          </a:prstGeom>
          <a:noFill/>
          <a:ln>
            <a:noFill/>
          </a:ln>
        </p:spPr>
        <p:txBody>
          <a:bodyPr spcFirstLastPara="1" wrap="square" lIns="91425" tIns="45700" rIns="91425" bIns="45700" anchor="t" anchorCtr="0">
            <a:spAutoFit/>
          </a:bodyPr>
          <a:lstStyle/>
          <a:p>
            <a:pPr marL="285750" indent="-285750">
              <a:buFont typeface="Arial" panose="020B0604020202020204" pitchFamily="34" charset="0"/>
              <a:buChar char="•"/>
            </a:pPr>
            <a:r>
              <a:rPr lang="en-GB" dirty="0"/>
              <a:t>Arrow functions in JavaScript are a concise way to write functions using the =&gt; syntax, automatically binding this from the surrounding context.</a:t>
            </a:r>
          </a:p>
          <a:p>
            <a:endParaRPr lang="en-GB" dirty="0"/>
          </a:p>
          <a:p>
            <a:pPr marL="285750" indent="-285750">
              <a:buFont typeface="Arial" panose="020B0604020202020204" pitchFamily="34" charset="0"/>
              <a:buChar char="•"/>
            </a:pPr>
            <a:r>
              <a:rPr lang="en-GB" dirty="0"/>
              <a:t>Key benefits of arrow functions:</a:t>
            </a:r>
          </a:p>
          <a:p>
            <a:pPr lvl="2"/>
            <a:r>
              <a:rPr lang="en-GB" dirty="0"/>
              <a:t>	- Shorter syntax for simple functions</a:t>
            </a:r>
          </a:p>
          <a:p>
            <a:pPr lvl="2"/>
            <a:r>
              <a:rPr lang="en-GB" dirty="0"/>
              <a:t>	- Implicit return for one-line expressions</a:t>
            </a:r>
          </a:p>
          <a:p>
            <a:pPr lvl="2"/>
            <a:r>
              <a:rPr lang="en-GB" dirty="0"/>
              <a:t>	- Lexical this binding (arrow functions don't create their own this context)</a:t>
            </a:r>
          </a:p>
          <a:p>
            <a:pPr lvl="2"/>
            <a:endParaRPr lang="en-GB" dirty="0"/>
          </a:p>
          <a:p>
            <a:pPr lvl="2"/>
            <a:endParaRPr lang="en-GB" dirty="0"/>
          </a:p>
          <a:p>
            <a:pPr lvl="2"/>
            <a:r>
              <a:rPr lang="en-GB" dirty="0"/>
              <a:t>Ex. : </a:t>
            </a:r>
            <a:r>
              <a:rPr lang="en-GB" dirty="0" err="1"/>
              <a:t>const</a:t>
            </a:r>
            <a:r>
              <a:rPr lang="en-GB" dirty="0"/>
              <a:t> add = (a, b) =&gt; a + b;</a:t>
            </a:r>
          </a:p>
          <a:p>
            <a:pPr lvl="2"/>
            <a:endParaRPr lang="en-GB" dirty="0"/>
          </a:p>
          <a:p>
            <a:pPr lvl="2"/>
            <a:r>
              <a:rPr lang="en-GB" dirty="0"/>
              <a:t>Explanation : This is an </a:t>
            </a:r>
            <a:r>
              <a:rPr lang="en-GB" b="1" dirty="0"/>
              <a:t>arrow function</a:t>
            </a:r>
            <a:r>
              <a:rPr lang="en-GB" dirty="0"/>
              <a:t> that takes two parameters a and b and returns their sum.</a:t>
            </a:r>
            <a:br>
              <a:rPr lang="en-GB" dirty="0"/>
            </a:br>
            <a:r>
              <a:rPr lang="en-GB" dirty="0"/>
              <a:t>The =&gt; symbol replaces the function keyword, making the syntax shorter.</a:t>
            </a:r>
            <a:br>
              <a:rPr lang="en-GB" dirty="0"/>
            </a:br>
            <a:r>
              <a:rPr lang="en-GB" dirty="0"/>
              <a:t>Since it has a single expression, the result is </a:t>
            </a:r>
            <a:r>
              <a:rPr lang="en-GB" b="1" dirty="0"/>
              <a:t>implicitly returned</a:t>
            </a:r>
            <a:r>
              <a:rPr lang="en-GB" dirty="0"/>
              <a:t> without using return</a:t>
            </a:r>
          </a:p>
          <a:p>
            <a:pPr lvl="2"/>
            <a:endParaRPr lang="en-GB" dirty="0"/>
          </a:p>
          <a:p>
            <a:pPr fontAlgn="base"/>
            <a:endParaRPr lang="en-IN" dirty="0"/>
          </a:p>
        </p:txBody>
      </p:sp>
      <p:sp>
        <p:nvSpPr>
          <p:cNvPr id="10" name="TextBox 9">
            <a:extLst>
              <a:ext uri="{FF2B5EF4-FFF2-40B4-BE49-F238E27FC236}">
                <a16:creationId xmlns:a16="http://schemas.microsoft.com/office/drawing/2014/main" id="{AD41F94B-4381-9960-700F-E0E3150A5671}"/>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5</a:t>
            </a:r>
          </a:p>
        </p:txBody>
      </p:sp>
      <p:grpSp>
        <p:nvGrpSpPr>
          <p:cNvPr id="17" name="Google Shape;108;p2">
            <a:extLst>
              <a:ext uri="{FF2B5EF4-FFF2-40B4-BE49-F238E27FC236}">
                <a16:creationId xmlns:a16="http://schemas.microsoft.com/office/drawing/2014/main" id="{C4CD5BA6-C07A-1DF8-879C-A5E9C3432C02}"/>
              </a:ext>
            </a:extLst>
          </p:cNvPr>
          <p:cNvGrpSpPr/>
          <p:nvPr/>
        </p:nvGrpSpPr>
        <p:grpSpPr>
          <a:xfrm>
            <a:off x="815820" y="348934"/>
            <a:ext cx="8245053" cy="824088"/>
            <a:chOff x="-2423" y="6299"/>
            <a:chExt cx="5583357" cy="824088"/>
          </a:xfrm>
          <a:noFill/>
        </p:grpSpPr>
        <p:sp>
          <p:nvSpPr>
            <p:cNvPr id="18" name="Google Shape;109;p2">
              <a:extLst>
                <a:ext uri="{FF2B5EF4-FFF2-40B4-BE49-F238E27FC236}">
                  <a16:creationId xmlns:a16="http://schemas.microsoft.com/office/drawing/2014/main" id="{88EBE040-CA66-B9AA-D219-417CCA8CD728}"/>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9" name="Google Shape;110;p2">
              <a:extLst>
                <a:ext uri="{FF2B5EF4-FFF2-40B4-BE49-F238E27FC236}">
                  <a16:creationId xmlns:a16="http://schemas.microsoft.com/office/drawing/2014/main" id="{002F189B-2F78-0FBE-9BE2-5FCCD02BA85A}"/>
                </a:ext>
              </a:extLst>
            </p:cNvPr>
            <p:cNvSpPr txBox="1"/>
            <p:nvPr/>
          </p:nvSpPr>
          <p:spPr>
            <a:xfrm>
              <a:off x="-2423" y="429195"/>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Tree>
    <p:extLst>
      <p:ext uri="{BB962C8B-B14F-4D97-AF65-F5344CB8AC3E}">
        <p14:creationId xmlns:p14="http://schemas.microsoft.com/office/powerpoint/2010/main" val="42451312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A856B544-7EFD-A3F9-0AEF-9FE15700C08D}"/>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40D73656-3772-F07D-A15C-6FE2A1BEC944}"/>
              </a:ext>
            </a:extLst>
          </p:cNvPr>
          <p:cNvGrpSpPr/>
          <p:nvPr/>
        </p:nvGrpSpPr>
        <p:grpSpPr>
          <a:xfrm>
            <a:off x="783770" y="218172"/>
            <a:ext cx="8241475" cy="444600"/>
            <a:chOff x="0" y="6299"/>
            <a:chExt cx="5580934" cy="444600"/>
          </a:xfrm>
          <a:noFill/>
        </p:grpSpPr>
        <p:sp>
          <p:nvSpPr>
            <p:cNvPr id="109" name="Google Shape;109;p2">
              <a:extLst>
                <a:ext uri="{FF2B5EF4-FFF2-40B4-BE49-F238E27FC236}">
                  <a16:creationId xmlns:a16="http://schemas.microsoft.com/office/drawing/2014/main" id="{798F6BBE-B159-465A-934B-92B51DD62241}"/>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5B2F6733-41B6-49C3-6C58-81445EE09CB3}"/>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111" name="Google Shape;111;p2">
            <a:extLst>
              <a:ext uri="{FF2B5EF4-FFF2-40B4-BE49-F238E27FC236}">
                <a16:creationId xmlns:a16="http://schemas.microsoft.com/office/drawing/2014/main" id="{D749E346-8CF2-76ED-2B63-A83F534FF9B7}"/>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24AFBD17-599D-A9C5-B47B-6BB71EB243A7}"/>
              </a:ext>
            </a:extLst>
          </p:cNvPr>
          <p:cNvSpPr txBox="1"/>
          <p:nvPr/>
        </p:nvSpPr>
        <p:spPr>
          <a:xfrm>
            <a:off x="83127" y="1216757"/>
            <a:ext cx="8810449" cy="3970277"/>
          </a:xfrm>
          <a:prstGeom prst="rect">
            <a:avLst/>
          </a:prstGeom>
          <a:noFill/>
          <a:ln>
            <a:noFill/>
          </a:ln>
        </p:spPr>
        <p:txBody>
          <a:bodyPr spcFirstLastPara="1" wrap="square" lIns="91425" tIns="45700" rIns="91425" bIns="45700" anchor="t" anchorCtr="0">
            <a:spAutoFit/>
          </a:bodyPr>
          <a:lstStyle/>
          <a:p>
            <a:pPr algn="just" fontAlgn="base"/>
            <a:r>
              <a:rPr lang="en-GB" dirty="0"/>
              <a:t>JavaScript introduced the Rest Parameter and Spread Operator in ES6 to make handling functions and arrays more flexible and concise. These operators use the same syntax (...), but they serve different purposes. The rest parameter collects multiple values into an array, while the spread operator spreads elements from an array or object.</a:t>
            </a:r>
          </a:p>
          <a:p>
            <a:pPr algn="just" fontAlgn="base"/>
            <a:endParaRPr lang="en-GB" dirty="0"/>
          </a:p>
          <a:p>
            <a:pPr fontAlgn="base"/>
            <a:r>
              <a:rPr lang="en-GB" b="1" dirty="0"/>
              <a:t>Rest parameter :</a:t>
            </a:r>
            <a:r>
              <a:rPr lang="en-GB" dirty="0"/>
              <a:t>The Rest Parameter allows functions to accept an indefinite number of arguments as an array. It collects multiple arguments into a single array parameter.</a:t>
            </a:r>
            <a:endParaRPr lang="en-IN" dirty="0"/>
          </a:p>
          <a:p>
            <a:pPr fontAlgn="base"/>
            <a:r>
              <a:rPr lang="en-IN" b="1" dirty="0"/>
              <a:t>Example :</a:t>
            </a:r>
          </a:p>
          <a:p>
            <a:pPr lvl="3" fontAlgn="base"/>
            <a:r>
              <a:rPr lang="en-IN" dirty="0"/>
              <a:t> // Rest Parameter</a:t>
            </a:r>
          </a:p>
          <a:p>
            <a:pPr lvl="3" fontAlgn="base"/>
            <a:r>
              <a:rPr lang="en-IN" dirty="0"/>
              <a:t>function </a:t>
            </a:r>
            <a:r>
              <a:rPr lang="en-IN" dirty="0" err="1"/>
              <a:t>myFunc</a:t>
            </a:r>
            <a:r>
              <a:rPr lang="en-IN" dirty="0"/>
              <a:t>(...</a:t>
            </a:r>
            <a:r>
              <a:rPr lang="en-IN" dirty="0" err="1"/>
              <a:t>args</a:t>
            </a:r>
            <a:r>
              <a:rPr lang="en-IN" dirty="0"/>
              <a:t>) {</a:t>
            </a:r>
          </a:p>
          <a:p>
            <a:pPr lvl="3" fontAlgn="base"/>
            <a:r>
              <a:rPr lang="en-IN" dirty="0"/>
              <a:t>    console.log(</a:t>
            </a:r>
            <a:r>
              <a:rPr lang="en-IN" dirty="0" err="1"/>
              <a:t>args</a:t>
            </a:r>
            <a:r>
              <a:rPr lang="en-IN" dirty="0"/>
              <a:t>);</a:t>
            </a:r>
          </a:p>
          <a:p>
            <a:pPr lvl="3" fontAlgn="base"/>
            <a:r>
              <a:rPr lang="en-IN" dirty="0"/>
              <a:t>}</a:t>
            </a:r>
          </a:p>
          <a:p>
            <a:pPr lvl="3" fontAlgn="base"/>
            <a:r>
              <a:rPr lang="en-IN" dirty="0" err="1"/>
              <a:t>myFunc</a:t>
            </a:r>
            <a:r>
              <a:rPr lang="en-IN" dirty="0"/>
              <a:t>(1, 2, 3, 4, 5);</a:t>
            </a:r>
          </a:p>
          <a:p>
            <a:pPr fontAlgn="base"/>
            <a:endParaRPr lang="en-IN" dirty="0"/>
          </a:p>
          <a:p>
            <a:r>
              <a:rPr lang="en-GB" b="1" dirty="0"/>
              <a:t>Output : </a:t>
            </a:r>
            <a:r>
              <a:rPr lang="en-GB" dirty="0"/>
              <a:t>[ 1, 2, 3, 4, 5 ]</a:t>
            </a:r>
          </a:p>
          <a:p>
            <a:pPr fontAlgn="base"/>
            <a:r>
              <a:rPr lang="en-GB" dirty="0"/>
              <a:t> The ...</a:t>
            </a:r>
            <a:r>
              <a:rPr lang="en-GB" dirty="0" err="1"/>
              <a:t>args</a:t>
            </a:r>
            <a:r>
              <a:rPr lang="en-GB" dirty="0"/>
              <a:t> in </a:t>
            </a:r>
            <a:r>
              <a:rPr lang="en-GB" dirty="0" err="1"/>
              <a:t>myFunc</a:t>
            </a:r>
            <a:r>
              <a:rPr lang="en-GB" dirty="0"/>
              <a:t>(...</a:t>
            </a:r>
            <a:r>
              <a:rPr lang="en-GB" dirty="0" err="1"/>
              <a:t>args</a:t>
            </a:r>
            <a:r>
              <a:rPr lang="en-GB" dirty="0"/>
              <a:t>) collects all passed arguments into an array called </a:t>
            </a:r>
            <a:r>
              <a:rPr lang="en-GB" dirty="0" err="1"/>
              <a:t>args</a:t>
            </a:r>
            <a:r>
              <a:rPr lang="en-GB" dirty="0"/>
              <a:t>.</a:t>
            </a:r>
          </a:p>
          <a:p>
            <a:pPr fontAlgn="base"/>
            <a:r>
              <a:rPr lang="en-GB" dirty="0"/>
              <a:t>When calling </a:t>
            </a:r>
            <a:r>
              <a:rPr lang="en-GB" dirty="0" err="1"/>
              <a:t>myFunc</a:t>
            </a:r>
            <a:r>
              <a:rPr lang="en-GB" dirty="0"/>
              <a:t>(1, 2, 3, 4, 5), it prints [1, 2, 3, 4, 5] because all arguments are grouped into </a:t>
            </a:r>
            <a:r>
              <a:rPr lang="en-GB" dirty="0" err="1"/>
              <a:t>args</a:t>
            </a:r>
            <a:r>
              <a:rPr lang="en-GB" dirty="0"/>
              <a:t>.</a:t>
            </a:r>
          </a:p>
          <a:p>
            <a:pPr fontAlgn="base"/>
            <a:endParaRPr lang="en-IN" dirty="0"/>
          </a:p>
        </p:txBody>
      </p:sp>
      <p:sp>
        <p:nvSpPr>
          <p:cNvPr id="10" name="TextBox 9">
            <a:extLst>
              <a:ext uri="{FF2B5EF4-FFF2-40B4-BE49-F238E27FC236}">
                <a16:creationId xmlns:a16="http://schemas.microsoft.com/office/drawing/2014/main" id="{B2AF76D3-1C67-D56C-1204-3AAFD499F3EE}"/>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6</a:t>
            </a:r>
          </a:p>
        </p:txBody>
      </p:sp>
      <p:grpSp>
        <p:nvGrpSpPr>
          <p:cNvPr id="17" name="Google Shape;108;p2">
            <a:extLst>
              <a:ext uri="{FF2B5EF4-FFF2-40B4-BE49-F238E27FC236}">
                <a16:creationId xmlns:a16="http://schemas.microsoft.com/office/drawing/2014/main" id="{EE54ACBA-E913-5D9B-23F8-C2BDA02F49F6}"/>
              </a:ext>
            </a:extLst>
          </p:cNvPr>
          <p:cNvGrpSpPr/>
          <p:nvPr/>
        </p:nvGrpSpPr>
        <p:grpSpPr>
          <a:xfrm>
            <a:off x="648523" y="605860"/>
            <a:ext cx="8241475" cy="665888"/>
            <a:chOff x="-2423" y="164499"/>
            <a:chExt cx="5580934" cy="665888"/>
          </a:xfrm>
          <a:noFill/>
        </p:grpSpPr>
        <p:sp>
          <p:nvSpPr>
            <p:cNvPr id="18" name="Google Shape;109;p2">
              <a:extLst>
                <a:ext uri="{FF2B5EF4-FFF2-40B4-BE49-F238E27FC236}">
                  <a16:creationId xmlns:a16="http://schemas.microsoft.com/office/drawing/2014/main" id="{6140E404-9819-8236-CC47-1FF8D42D4E94}"/>
                </a:ext>
              </a:extLst>
            </p:cNvPr>
            <p:cNvSpPr/>
            <p:nvPr/>
          </p:nvSpPr>
          <p:spPr>
            <a:xfrm>
              <a:off x="-2423" y="1644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algn="ctr" fontAlgn="base"/>
              <a:r>
                <a:rPr lang="en-GB" sz="3200" b="1" dirty="0"/>
                <a:t>Rest Parameter in JavaScript</a:t>
              </a:r>
            </a:p>
            <a:p>
              <a:pPr algn="ctr" fontAlgn="base"/>
              <a:endParaRPr lang="en-GB" sz="3200" b="1" dirty="0"/>
            </a:p>
          </p:txBody>
        </p:sp>
        <p:sp>
          <p:nvSpPr>
            <p:cNvPr id="19" name="Google Shape;110;p2">
              <a:extLst>
                <a:ext uri="{FF2B5EF4-FFF2-40B4-BE49-F238E27FC236}">
                  <a16:creationId xmlns:a16="http://schemas.microsoft.com/office/drawing/2014/main" id="{19993986-5375-3520-905D-539005CE73B2}"/>
                </a:ext>
              </a:extLst>
            </p:cNvPr>
            <p:cNvSpPr txBox="1"/>
            <p:nvPr/>
          </p:nvSpPr>
          <p:spPr>
            <a:xfrm>
              <a:off x="-2423" y="429195"/>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Tree>
    <p:extLst>
      <p:ext uri="{BB962C8B-B14F-4D97-AF65-F5344CB8AC3E}">
        <p14:creationId xmlns:p14="http://schemas.microsoft.com/office/powerpoint/2010/main" val="19849984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4F550E18-C2B5-1B6E-B5FF-43D01639794E}"/>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119C11AA-3341-E692-30C6-302CE09FBB9E}"/>
              </a:ext>
            </a:extLst>
          </p:cNvPr>
          <p:cNvGrpSpPr/>
          <p:nvPr/>
        </p:nvGrpSpPr>
        <p:grpSpPr>
          <a:xfrm>
            <a:off x="783770" y="218172"/>
            <a:ext cx="8241475" cy="444600"/>
            <a:chOff x="0" y="6299"/>
            <a:chExt cx="5580934" cy="444600"/>
          </a:xfrm>
          <a:noFill/>
        </p:grpSpPr>
        <p:sp>
          <p:nvSpPr>
            <p:cNvPr id="109" name="Google Shape;109;p2">
              <a:extLst>
                <a:ext uri="{FF2B5EF4-FFF2-40B4-BE49-F238E27FC236}">
                  <a16:creationId xmlns:a16="http://schemas.microsoft.com/office/drawing/2014/main" id="{E0F81368-7B47-ED3C-38BB-237953032D58}"/>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C4C79A58-1ED5-87B5-9480-C93890079630}"/>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111" name="Google Shape;111;p2">
            <a:extLst>
              <a:ext uri="{FF2B5EF4-FFF2-40B4-BE49-F238E27FC236}">
                <a16:creationId xmlns:a16="http://schemas.microsoft.com/office/drawing/2014/main" id="{7849CF2D-43CC-7590-AB72-4919DD9D17E6}"/>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BB1AD8FA-D98D-D78E-5AA4-DAC15D305757}"/>
              </a:ext>
            </a:extLst>
          </p:cNvPr>
          <p:cNvSpPr txBox="1"/>
          <p:nvPr/>
        </p:nvSpPr>
        <p:spPr>
          <a:xfrm>
            <a:off x="79549" y="1213694"/>
            <a:ext cx="8810449" cy="4401164"/>
          </a:xfrm>
          <a:prstGeom prst="rect">
            <a:avLst/>
          </a:prstGeom>
          <a:noFill/>
          <a:ln>
            <a:noFill/>
          </a:ln>
        </p:spPr>
        <p:txBody>
          <a:bodyPr spcFirstLastPara="1" wrap="square" lIns="91425" tIns="45700" rIns="91425" bIns="45700" anchor="t" anchorCtr="0">
            <a:spAutoFit/>
          </a:bodyPr>
          <a:lstStyle/>
          <a:p>
            <a:pPr fontAlgn="base"/>
            <a:r>
              <a:rPr lang="en-GB" b="1" dirty="0"/>
              <a:t>1. Collecting Function Arguments</a:t>
            </a:r>
          </a:p>
          <a:p>
            <a:pPr fontAlgn="base"/>
            <a:r>
              <a:rPr lang="en-GB" dirty="0"/>
              <a:t>The rest parameter collects names into an array. The function greets all the names.</a:t>
            </a:r>
          </a:p>
          <a:p>
            <a:pPr fontAlgn="base"/>
            <a:endParaRPr lang="en-GB" dirty="0"/>
          </a:p>
          <a:p>
            <a:pPr fontAlgn="base"/>
            <a:r>
              <a:rPr lang="en-GB" b="1" dirty="0"/>
              <a:t>Example:</a:t>
            </a:r>
          </a:p>
          <a:p>
            <a:pPr fontAlgn="base"/>
            <a:r>
              <a:rPr lang="en-GB" dirty="0"/>
              <a:t>function greet(greeting, ...names) {</a:t>
            </a:r>
          </a:p>
          <a:p>
            <a:pPr fontAlgn="base"/>
            <a:r>
              <a:rPr lang="en-GB" dirty="0"/>
              <a:t>    return `${greeting}, ${</a:t>
            </a:r>
            <a:r>
              <a:rPr lang="en-GB" dirty="0" err="1"/>
              <a:t>names.join</a:t>
            </a:r>
            <a:r>
              <a:rPr lang="en-GB" dirty="0"/>
              <a:t>(' and ')}`;</a:t>
            </a:r>
          </a:p>
          <a:p>
            <a:pPr fontAlgn="base"/>
            <a:r>
              <a:rPr lang="en-GB" dirty="0"/>
              <a:t>}</a:t>
            </a:r>
          </a:p>
          <a:p>
            <a:pPr fontAlgn="base"/>
            <a:r>
              <a:rPr lang="en-GB" dirty="0"/>
              <a:t>console.log(greet(“Aman", “Kamna", “Raj"));</a:t>
            </a:r>
          </a:p>
          <a:p>
            <a:pPr fontAlgn="base"/>
            <a:endParaRPr lang="en-GB" dirty="0"/>
          </a:p>
          <a:p>
            <a:r>
              <a:rPr lang="en-GB" b="1" dirty="0"/>
              <a:t>OUTPUT : </a:t>
            </a:r>
            <a:r>
              <a:rPr lang="en-GB" dirty="0"/>
              <a:t>Aman, Kamna and Raj</a:t>
            </a:r>
          </a:p>
          <a:p>
            <a:endParaRPr lang="en-GB" dirty="0"/>
          </a:p>
          <a:p>
            <a:pPr fontAlgn="base"/>
            <a:r>
              <a:rPr lang="en-GB" b="1" dirty="0"/>
              <a:t>2. Filtering Properties in Objects</a:t>
            </a:r>
          </a:p>
          <a:p>
            <a:pPr fontAlgn="base"/>
            <a:r>
              <a:rPr lang="en-GB" dirty="0"/>
              <a:t>Destructuring extracts property a. The rest parameter gathers remaining properties.</a:t>
            </a:r>
          </a:p>
          <a:p>
            <a:pPr fontAlgn="base"/>
            <a:endParaRPr lang="en-GB" dirty="0"/>
          </a:p>
          <a:p>
            <a:pPr fontAlgn="base"/>
            <a:r>
              <a:rPr lang="en-GB" b="1" dirty="0"/>
              <a:t>Example:</a:t>
            </a:r>
            <a:endParaRPr lang="en-GB" dirty="0"/>
          </a:p>
          <a:p>
            <a:pPr fontAlgn="base"/>
            <a:r>
              <a:rPr lang="en-GB" dirty="0" err="1"/>
              <a:t>const</a:t>
            </a:r>
            <a:r>
              <a:rPr lang="en-GB" dirty="0"/>
              <a:t> { a, ...rest } = { a: 1, b: 2, c: 3 };</a:t>
            </a:r>
          </a:p>
          <a:p>
            <a:pPr fontAlgn="base"/>
            <a:r>
              <a:rPr lang="en-GB" dirty="0"/>
              <a:t>console.log(a)</a:t>
            </a:r>
          </a:p>
          <a:p>
            <a:pPr fontAlgn="base"/>
            <a:r>
              <a:rPr lang="en-GB" dirty="0"/>
              <a:t>console.log(rest)</a:t>
            </a:r>
          </a:p>
          <a:p>
            <a:endParaRPr lang="en-GB" dirty="0"/>
          </a:p>
          <a:p>
            <a:pPr fontAlgn="base"/>
            <a:endParaRPr lang="en-GB" b="1" dirty="0"/>
          </a:p>
        </p:txBody>
      </p:sp>
      <p:sp>
        <p:nvSpPr>
          <p:cNvPr id="10" name="TextBox 9">
            <a:extLst>
              <a:ext uri="{FF2B5EF4-FFF2-40B4-BE49-F238E27FC236}">
                <a16:creationId xmlns:a16="http://schemas.microsoft.com/office/drawing/2014/main" id="{CA032BB5-7146-575C-1F84-82756010D3F1}"/>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7</a:t>
            </a:r>
          </a:p>
        </p:txBody>
      </p:sp>
      <p:grpSp>
        <p:nvGrpSpPr>
          <p:cNvPr id="17" name="Google Shape;108;p2">
            <a:extLst>
              <a:ext uri="{FF2B5EF4-FFF2-40B4-BE49-F238E27FC236}">
                <a16:creationId xmlns:a16="http://schemas.microsoft.com/office/drawing/2014/main" id="{61E8144F-6089-1B4D-49BD-1B06084EDB6B}"/>
              </a:ext>
            </a:extLst>
          </p:cNvPr>
          <p:cNvGrpSpPr/>
          <p:nvPr/>
        </p:nvGrpSpPr>
        <p:grpSpPr>
          <a:xfrm>
            <a:off x="648523" y="605860"/>
            <a:ext cx="8241475" cy="665888"/>
            <a:chOff x="-2423" y="164499"/>
            <a:chExt cx="5580934" cy="665888"/>
          </a:xfrm>
          <a:noFill/>
        </p:grpSpPr>
        <p:sp>
          <p:nvSpPr>
            <p:cNvPr id="18" name="Google Shape;109;p2">
              <a:extLst>
                <a:ext uri="{FF2B5EF4-FFF2-40B4-BE49-F238E27FC236}">
                  <a16:creationId xmlns:a16="http://schemas.microsoft.com/office/drawing/2014/main" id="{6C26B34B-A09A-09DB-138D-ACF131B2D12A}"/>
                </a:ext>
              </a:extLst>
            </p:cNvPr>
            <p:cNvSpPr/>
            <p:nvPr/>
          </p:nvSpPr>
          <p:spPr>
            <a:xfrm>
              <a:off x="-2423" y="1644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algn="ctr" fontAlgn="base"/>
              <a:r>
                <a:rPr lang="en-GB" sz="3200" b="1" dirty="0"/>
                <a:t>Use Cases of Rest Parameter</a:t>
              </a:r>
            </a:p>
            <a:p>
              <a:pPr algn="ctr" fontAlgn="base"/>
              <a:endParaRPr lang="en-GB" sz="3200" b="1" dirty="0"/>
            </a:p>
          </p:txBody>
        </p:sp>
        <p:sp>
          <p:nvSpPr>
            <p:cNvPr id="19" name="Google Shape;110;p2">
              <a:extLst>
                <a:ext uri="{FF2B5EF4-FFF2-40B4-BE49-F238E27FC236}">
                  <a16:creationId xmlns:a16="http://schemas.microsoft.com/office/drawing/2014/main" id="{2B404ACF-A893-11DC-7307-81D33DABD874}"/>
                </a:ext>
              </a:extLst>
            </p:cNvPr>
            <p:cNvSpPr txBox="1"/>
            <p:nvPr/>
          </p:nvSpPr>
          <p:spPr>
            <a:xfrm>
              <a:off x="-2423" y="429195"/>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Tree>
    <p:extLst>
      <p:ext uri="{BB962C8B-B14F-4D97-AF65-F5344CB8AC3E}">
        <p14:creationId xmlns:p14="http://schemas.microsoft.com/office/powerpoint/2010/main" val="4889076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991D4B91-D58B-79D0-32A0-7989FF68D6BA}"/>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51A5C36B-00A5-64E6-B490-EEB35955B41B}"/>
              </a:ext>
            </a:extLst>
          </p:cNvPr>
          <p:cNvGrpSpPr/>
          <p:nvPr/>
        </p:nvGrpSpPr>
        <p:grpSpPr>
          <a:xfrm>
            <a:off x="783770" y="218172"/>
            <a:ext cx="8241475" cy="444600"/>
            <a:chOff x="0" y="6299"/>
            <a:chExt cx="5580934" cy="444600"/>
          </a:xfrm>
          <a:noFill/>
        </p:grpSpPr>
        <p:sp>
          <p:nvSpPr>
            <p:cNvPr id="109" name="Google Shape;109;p2">
              <a:extLst>
                <a:ext uri="{FF2B5EF4-FFF2-40B4-BE49-F238E27FC236}">
                  <a16:creationId xmlns:a16="http://schemas.microsoft.com/office/drawing/2014/main" id="{D016D137-9343-25CB-8404-B6F274346363}"/>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43BA3802-77E9-A8ED-B3A5-C639B2ACDE61}"/>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111" name="Google Shape;111;p2">
            <a:extLst>
              <a:ext uri="{FF2B5EF4-FFF2-40B4-BE49-F238E27FC236}">
                <a16:creationId xmlns:a16="http://schemas.microsoft.com/office/drawing/2014/main" id="{BB4C5A6A-B94F-A5D0-90AB-5FFF079B831C}"/>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CE63C4EE-E045-B4F3-78AA-EC7DC96D120C}"/>
              </a:ext>
            </a:extLst>
          </p:cNvPr>
          <p:cNvSpPr txBox="1"/>
          <p:nvPr/>
        </p:nvSpPr>
        <p:spPr>
          <a:xfrm>
            <a:off x="79549" y="1213694"/>
            <a:ext cx="8810449" cy="4401164"/>
          </a:xfrm>
          <a:prstGeom prst="rect">
            <a:avLst/>
          </a:prstGeom>
          <a:noFill/>
          <a:ln>
            <a:noFill/>
          </a:ln>
        </p:spPr>
        <p:txBody>
          <a:bodyPr spcFirstLastPara="1" wrap="square" lIns="91425" tIns="45700" rIns="91425" bIns="45700" anchor="t" anchorCtr="0">
            <a:spAutoFit/>
          </a:bodyPr>
          <a:lstStyle/>
          <a:p>
            <a:pPr fontAlgn="base"/>
            <a:r>
              <a:rPr lang="en-GB" b="1" dirty="0"/>
              <a:t>Output : </a:t>
            </a:r>
            <a:r>
              <a:rPr lang="en-GB" dirty="0"/>
              <a:t>1</a:t>
            </a:r>
          </a:p>
          <a:p>
            <a:pPr fontAlgn="base"/>
            <a:r>
              <a:rPr lang="en-GB" dirty="0"/>
              <a:t>{ b: 2, c: 3 }</a:t>
            </a:r>
          </a:p>
          <a:p>
            <a:pPr fontAlgn="base"/>
            <a:endParaRPr lang="en-GB" dirty="0"/>
          </a:p>
          <a:p>
            <a:pPr fontAlgn="base"/>
            <a:r>
              <a:rPr lang="en-GB" b="1" dirty="0"/>
              <a:t>3. Destructuring with Rest</a:t>
            </a:r>
          </a:p>
          <a:p>
            <a:pPr fontAlgn="base"/>
            <a:r>
              <a:rPr lang="en-GB" dirty="0"/>
              <a:t>Destructuring extracts the first element. The rest parameter gathers remaining elements.</a:t>
            </a:r>
          </a:p>
          <a:p>
            <a:pPr fontAlgn="base"/>
            <a:endParaRPr lang="en-GB" dirty="0"/>
          </a:p>
          <a:p>
            <a:r>
              <a:rPr lang="en-GB" b="1" dirty="0"/>
              <a:t>Example : </a:t>
            </a:r>
          </a:p>
          <a:p>
            <a:r>
              <a:rPr lang="en-GB" dirty="0" err="1"/>
              <a:t>const</a:t>
            </a:r>
            <a:r>
              <a:rPr lang="en-GB" dirty="0"/>
              <a:t> [first, ...rest] = [1, 2, 3, 4];</a:t>
            </a:r>
          </a:p>
          <a:p>
            <a:r>
              <a:rPr lang="en-GB" dirty="0"/>
              <a:t>console.log(first)</a:t>
            </a:r>
          </a:p>
          <a:p>
            <a:r>
              <a:rPr lang="en-GB" dirty="0"/>
              <a:t>console.log(rest)</a:t>
            </a:r>
          </a:p>
          <a:p>
            <a:endParaRPr lang="en-GB" dirty="0"/>
          </a:p>
          <a:p>
            <a:r>
              <a:rPr lang="en-GB" b="1" dirty="0"/>
              <a:t>Output</a:t>
            </a:r>
            <a:endParaRPr lang="en-GB" dirty="0"/>
          </a:p>
          <a:p>
            <a:pPr fontAlgn="base"/>
            <a:r>
              <a:rPr lang="en-GB" dirty="0"/>
              <a:t>1</a:t>
            </a:r>
          </a:p>
          <a:p>
            <a:pPr fontAlgn="base"/>
            <a:r>
              <a:rPr lang="en-GB" dirty="0"/>
              <a:t>[ 2, 3, 4 ]</a:t>
            </a:r>
          </a:p>
          <a:p>
            <a:endParaRPr lang="en-GB" dirty="0"/>
          </a:p>
          <a:p>
            <a:pPr fontAlgn="base"/>
            <a:r>
              <a:rPr lang="en-GB" b="1" dirty="0"/>
              <a:t>4. Function Default Parameters</a:t>
            </a:r>
          </a:p>
          <a:p>
            <a:pPr fontAlgn="base"/>
            <a:r>
              <a:rPr lang="en-GB" dirty="0"/>
              <a:t>The rest parameter collects numbers. The function multiplies each by a given factor.</a:t>
            </a:r>
          </a:p>
          <a:p>
            <a:br>
              <a:rPr lang="en-GB" dirty="0"/>
            </a:br>
            <a:endParaRPr lang="en-GB" dirty="0"/>
          </a:p>
          <a:p>
            <a:pPr fontAlgn="base"/>
            <a:endParaRPr lang="en-GB" b="1" dirty="0"/>
          </a:p>
        </p:txBody>
      </p:sp>
      <p:sp>
        <p:nvSpPr>
          <p:cNvPr id="10" name="TextBox 9">
            <a:extLst>
              <a:ext uri="{FF2B5EF4-FFF2-40B4-BE49-F238E27FC236}">
                <a16:creationId xmlns:a16="http://schemas.microsoft.com/office/drawing/2014/main" id="{0337AB76-EBE9-2F08-F38D-F0A3F6AD3252}"/>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8</a:t>
            </a:r>
          </a:p>
        </p:txBody>
      </p:sp>
      <p:grpSp>
        <p:nvGrpSpPr>
          <p:cNvPr id="17" name="Google Shape;108;p2">
            <a:extLst>
              <a:ext uri="{FF2B5EF4-FFF2-40B4-BE49-F238E27FC236}">
                <a16:creationId xmlns:a16="http://schemas.microsoft.com/office/drawing/2014/main" id="{8AAEF830-FEFC-359C-B2DA-A156BD9AC64F}"/>
              </a:ext>
            </a:extLst>
          </p:cNvPr>
          <p:cNvGrpSpPr/>
          <p:nvPr/>
        </p:nvGrpSpPr>
        <p:grpSpPr>
          <a:xfrm>
            <a:off x="648523" y="605860"/>
            <a:ext cx="8241475" cy="665888"/>
            <a:chOff x="-2423" y="164499"/>
            <a:chExt cx="5580934" cy="665888"/>
          </a:xfrm>
          <a:noFill/>
        </p:grpSpPr>
        <p:sp>
          <p:nvSpPr>
            <p:cNvPr id="18" name="Google Shape;109;p2">
              <a:extLst>
                <a:ext uri="{FF2B5EF4-FFF2-40B4-BE49-F238E27FC236}">
                  <a16:creationId xmlns:a16="http://schemas.microsoft.com/office/drawing/2014/main" id="{815409A3-FD20-D0D7-7A47-A67265355223}"/>
                </a:ext>
              </a:extLst>
            </p:cNvPr>
            <p:cNvSpPr/>
            <p:nvPr/>
          </p:nvSpPr>
          <p:spPr>
            <a:xfrm>
              <a:off x="-2423" y="1644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algn="ctr" fontAlgn="base"/>
              <a:r>
                <a:rPr lang="en-GB" sz="3200" b="1" dirty="0"/>
                <a:t>Use Cases of Rest Parameter (Contd.)</a:t>
              </a:r>
            </a:p>
            <a:p>
              <a:pPr algn="ctr" fontAlgn="base"/>
              <a:endParaRPr lang="en-GB" sz="3200" b="1" dirty="0"/>
            </a:p>
          </p:txBody>
        </p:sp>
        <p:sp>
          <p:nvSpPr>
            <p:cNvPr id="19" name="Google Shape;110;p2">
              <a:extLst>
                <a:ext uri="{FF2B5EF4-FFF2-40B4-BE49-F238E27FC236}">
                  <a16:creationId xmlns:a16="http://schemas.microsoft.com/office/drawing/2014/main" id="{46ED7786-73C8-3717-37EC-8715FFA239A9}"/>
                </a:ext>
              </a:extLst>
            </p:cNvPr>
            <p:cNvSpPr txBox="1"/>
            <p:nvPr/>
          </p:nvSpPr>
          <p:spPr>
            <a:xfrm>
              <a:off x="-2423" y="429195"/>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Tree>
    <p:extLst>
      <p:ext uri="{BB962C8B-B14F-4D97-AF65-F5344CB8AC3E}">
        <p14:creationId xmlns:p14="http://schemas.microsoft.com/office/powerpoint/2010/main" val="15126734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9C2B75F1-DC65-1681-FA2D-4E974A69743D}"/>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4000606D-0BEA-F43C-7F9C-4FABD5C204CF}"/>
              </a:ext>
            </a:extLst>
          </p:cNvPr>
          <p:cNvGrpSpPr/>
          <p:nvPr/>
        </p:nvGrpSpPr>
        <p:grpSpPr>
          <a:xfrm>
            <a:off x="783770" y="218172"/>
            <a:ext cx="8241475" cy="444600"/>
            <a:chOff x="0" y="6299"/>
            <a:chExt cx="5580934" cy="444600"/>
          </a:xfrm>
          <a:noFill/>
        </p:grpSpPr>
        <p:sp>
          <p:nvSpPr>
            <p:cNvPr id="109" name="Google Shape;109;p2">
              <a:extLst>
                <a:ext uri="{FF2B5EF4-FFF2-40B4-BE49-F238E27FC236}">
                  <a16:creationId xmlns:a16="http://schemas.microsoft.com/office/drawing/2014/main" id="{192C18FB-523F-CE16-89B2-F676C684BD4C}"/>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859168C6-C980-82F6-A25B-895B173C8A5D}"/>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111" name="Google Shape;111;p2">
            <a:extLst>
              <a:ext uri="{FF2B5EF4-FFF2-40B4-BE49-F238E27FC236}">
                <a16:creationId xmlns:a16="http://schemas.microsoft.com/office/drawing/2014/main" id="{8495FB18-1627-41B7-80C7-33B0911B182C}"/>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3E282682-093E-12CE-076B-36B48FD1D78E}"/>
              </a:ext>
            </a:extLst>
          </p:cNvPr>
          <p:cNvSpPr txBox="1"/>
          <p:nvPr/>
        </p:nvSpPr>
        <p:spPr>
          <a:xfrm>
            <a:off x="79549" y="1213694"/>
            <a:ext cx="8810449" cy="3323946"/>
          </a:xfrm>
          <a:prstGeom prst="rect">
            <a:avLst/>
          </a:prstGeom>
          <a:noFill/>
          <a:ln>
            <a:noFill/>
          </a:ln>
        </p:spPr>
        <p:txBody>
          <a:bodyPr spcFirstLastPara="1" wrap="square" lIns="91425" tIns="45700" rIns="91425" bIns="45700" anchor="t" anchorCtr="0">
            <a:spAutoFit/>
          </a:bodyPr>
          <a:lstStyle/>
          <a:p>
            <a:pPr fontAlgn="base"/>
            <a:r>
              <a:rPr lang="en-GB" b="1" dirty="0"/>
              <a:t>Example:</a:t>
            </a:r>
          </a:p>
          <a:p>
            <a:pPr fontAlgn="base"/>
            <a:r>
              <a:rPr lang="en-GB" dirty="0"/>
              <a:t>function </a:t>
            </a:r>
            <a:r>
              <a:rPr lang="en-GB" dirty="0" err="1"/>
              <a:t>mul</a:t>
            </a:r>
            <a:r>
              <a:rPr lang="en-GB" dirty="0"/>
              <a:t>(factor, ...</a:t>
            </a:r>
            <a:r>
              <a:rPr lang="en-GB" dirty="0" err="1"/>
              <a:t>nums</a:t>
            </a:r>
            <a:r>
              <a:rPr lang="en-GB" dirty="0"/>
              <a:t>) {</a:t>
            </a:r>
          </a:p>
          <a:p>
            <a:pPr fontAlgn="base"/>
            <a:r>
              <a:rPr lang="en-GB" dirty="0"/>
              <a:t>    return </a:t>
            </a:r>
            <a:r>
              <a:rPr lang="en-GB" dirty="0" err="1"/>
              <a:t>nums.map</a:t>
            </a:r>
            <a:r>
              <a:rPr lang="en-GB" dirty="0"/>
              <a:t>(</a:t>
            </a:r>
            <a:r>
              <a:rPr lang="en-GB" dirty="0" err="1"/>
              <a:t>num</a:t>
            </a:r>
            <a:r>
              <a:rPr lang="en-GB" dirty="0"/>
              <a:t> =&gt; </a:t>
            </a:r>
            <a:r>
              <a:rPr lang="en-GB" dirty="0" err="1"/>
              <a:t>num</a:t>
            </a:r>
            <a:r>
              <a:rPr lang="en-GB" dirty="0"/>
              <a:t> * factor);</a:t>
            </a:r>
          </a:p>
          <a:p>
            <a:pPr fontAlgn="base"/>
            <a:r>
              <a:rPr lang="en-GB" dirty="0"/>
              <a:t>}</a:t>
            </a:r>
          </a:p>
          <a:p>
            <a:pPr fontAlgn="base"/>
            <a:r>
              <a:rPr lang="en-GB" dirty="0"/>
              <a:t>console.log(</a:t>
            </a:r>
            <a:r>
              <a:rPr lang="en-GB" dirty="0" err="1"/>
              <a:t>mul</a:t>
            </a:r>
            <a:r>
              <a:rPr lang="en-GB" dirty="0"/>
              <a:t>(2,1,2,3,4,5))</a:t>
            </a:r>
          </a:p>
          <a:p>
            <a:pPr fontAlgn="base"/>
            <a:endParaRPr lang="en-GB" dirty="0"/>
          </a:p>
          <a:p>
            <a:r>
              <a:rPr lang="en-GB" b="1" dirty="0"/>
              <a:t>Output</a:t>
            </a:r>
            <a:endParaRPr lang="en-GB" dirty="0"/>
          </a:p>
          <a:p>
            <a:pPr fontAlgn="base"/>
            <a:r>
              <a:rPr lang="en-GB" dirty="0"/>
              <a:t>[ 2, 4, 6, 8, 10 ]</a:t>
            </a:r>
          </a:p>
          <a:p>
            <a:pPr fontAlgn="base"/>
            <a:endParaRPr lang="en-GB" dirty="0"/>
          </a:p>
          <a:p>
            <a:r>
              <a:rPr lang="en-GB" b="1" dirty="0"/>
              <a:t>Advantages of Rest Parameters in JavaScript:</a:t>
            </a:r>
          </a:p>
          <a:p>
            <a:pPr marL="285750" indent="-285750" fontAlgn="base">
              <a:buFont typeface="Arial" panose="020B0604020202020204" pitchFamily="34" charset="0"/>
              <a:buChar char="•"/>
            </a:pPr>
            <a:r>
              <a:rPr lang="en-GB" dirty="0"/>
              <a:t>Handles variable number of arguments easily</a:t>
            </a:r>
          </a:p>
          <a:p>
            <a:pPr marL="285750" indent="-285750" fontAlgn="base">
              <a:buFont typeface="Arial" panose="020B0604020202020204" pitchFamily="34" charset="0"/>
              <a:buChar char="•"/>
            </a:pPr>
            <a:r>
              <a:rPr lang="en-GB" dirty="0"/>
              <a:t>Replaces the arguments object with cleaner syntax</a:t>
            </a:r>
          </a:p>
          <a:p>
            <a:pPr marL="285750" indent="-285750" fontAlgn="base">
              <a:buFont typeface="Arial" panose="020B0604020202020204" pitchFamily="34" charset="0"/>
              <a:buChar char="•"/>
            </a:pPr>
            <a:r>
              <a:rPr lang="en-GB" dirty="0"/>
              <a:t>Provides true array (supports array methods)</a:t>
            </a:r>
          </a:p>
          <a:p>
            <a:pPr marL="285750" indent="-285750" fontAlgn="base">
              <a:buFont typeface="Arial" panose="020B0604020202020204" pitchFamily="34" charset="0"/>
              <a:buChar char="•"/>
            </a:pPr>
            <a:r>
              <a:rPr lang="en-GB" dirty="0"/>
              <a:t>Improves code readability and maintainability</a:t>
            </a:r>
          </a:p>
          <a:p>
            <a:pPr marL="285750" indent="-285750" fontAlgn="base">
              <a:buFont typeface="Arial" panose="020B0604020202020204" pitchFamily="34" charset="0"/>
              <a:buChar char="•"/>
            </a:pPr>
            <a:r>
              <a:rPr lang="en-GB" dirty="0"/>
              <a:t>Makes functions flexible and reusable</a:t>
            </a:r>
          </a:p>
        </p:txBody>
      </p:sp>
      <p:sp>
        <p:nvSpPr>
          <p:cNvPr id="10" name="TextBox 9">
            <a:extLst>
              <a:ext uri="{FF2B5EF4-FFF2-40B4-BE49-F238E27FC236}">
                <a16:creationId xmlns:a16="http://schemas.microsoft.com/office/drawing/2014/main" id="{7C8D17F9-C30C-0BC6-38F4-19F451FC5AD8}"/>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9</a:t>
            </a:r>
          </a:p>
        </p:txBody>
      </p:sp>
      <p:grpSp>
        <p:nvGrpSpPr>
          <p:cNvPr id="17" name="Google Shape;108;p2">
            <a:extLst>
              <a:ext uri="{FF2B5EF4-FFF2-40B4-BE49-F238E27FC236}">
                <a16:creationId xmlns:a16="http://schemas.microsoft.com/office/drawing/2014/main" id="{5BC6A00E-4BD3-64AE-56F2-8BAC8905D086}"/>
              </a:ext>
            </a:extLst>
          </p:cNvPr>
          <p:cNvGrpSpPr/>
          <p:nvPr/>
        </p:nvGrpSpPr>
        <p:grpSpPr>
          <a:xfrm>
            <a:off x="648523" y="605860"/>
            <a:ext cx="8241475" cy="665888"/>
            <a:chOff x="-2423" y="164499"/>
            <a:chExt cx="5580934" cy="665888"/>
          </a:xfrm>
          <a:noFill/>
        </p:grpSpPr>
        <p:sp>
          <p:nvSpPr>
            <p:cNvPr id="18" name="Google Shape;109;p2">
              <a:extLst>
                <a:ext uri="{FF2B5EF4-FFF2-40B4-BE49-F238E27FC236}">
                  <a16:creationId xmlns:a16="http://schemas.microsoft.com/office/drawing/2014/main" id="{A937AB79-0639-409B-5EA3-5B71444677D0}"/>
                </a:ext>
              </a:extLst>
            </p:cNvPr>
            <p:cNvSpPr/>
            <p:nvPr/>
          </p:nvSpPr>
          <p:spPr>
            <a:xfrm>
              <a:off x="-2423" y="1644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algn="ctr" fontAlgn="base"/>
              <a:r>
                <a:rPr lang="en-GB" sz="3200" b="1" dirty="0"/>
                <a:t>Use Cases of Rest Parameter (Contd.)</a:t>
              </a:r>
            </a:p>
            <a:p>
              <a:pPr algn="ctr" fontAlgn="base"/>
              <a:endParaRPr lang="en-GB" sz="3200" b="1" dirty="0"/>
            </a:p>
          </p:txBody>
        </p:sp>
        <p:sp>
          <p:nvSpPr>
            <p:cNvPr id="19" name="Google Shape;110;p2">
              <a:extLst>
                <a:ext uri="{FF2B5EF4-FFF2-40B4-BE49-F238E27FC236}">
                  <a16:creationId xmlns:a16="http://schemas.microsoft.com/office/drawing/2014/main" id="{C2AB2BC1-1A1C-80A8-79FC-32C920B47DE4}"/>
                </a:ext>
              </a:extLst>
            </p:cNvPr>
            <p:cNvSpPr txBox="1"/>
            <p:nvPr/>
          </p:nvSpPr>
          <p:spPr>
            <a:xfrm>
              <a:off x="-2423" y="429195"/>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Tree>
    <p:extLst>
      <p:ext uri="{BB962C8B-B14F-4D97-AF65-F5344CB8AC3E}">
        <p14:creationId xmlns:p14="http://schemas.microsoft.com/office/powerpoint/2010/main" val="40126335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97D74F4-6A8F-682B-C1B5-032684FCEAD2}"/>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3978959C-1CA1-82CF-4884-8E3CBF596D4C}"/>
              </a:ext>
            </a:extLst>
          </p:cNvPr>
          <p:cNvGrpSpPr/>
          <p:nvPr/>
        </p:nvGrpSpPr>
        <p:grpSpPr>
          <a:xfrm>
            <a:off x="783770" y="218172"/>
            <a:ext cx="8241475" cy="444600"/>
            <a:chOff x="0" y="6299"/>
            <a:chExt cx="5580934" cy="444600"/>
          </a:xfrm>
          <a:noFill/>
        </p:grpSpPr>
        <p:sp>
          <p:nvSpPr>
            <p:cNvPr id="109" name="Google Shape;109;p2">
              <a:extLst>
                <a:ext uri="{FF2B5EF4-FFF2-40B4-BE49-F238E27FC236}">
                  <a16:creationId xmlns:a16="http://schemas.microsoft.com/office/drawing/2014/main" id="{455F6A32-4664-5FE0-6A6F-25EAED648784}"/>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D2376A51-BF88-F16C-0689-1155BF7C59D6}"/>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111" name="Google Shape;111;p2">
            <a:extLst>
              <a:ext uri="{FF2B5EF4-FFF2-40B4-BE49-F238E27FC236}">
                <a16:creationId xmlns:a16="http://schemas.microsoft.com/office/drawing/2014/main" id="{18A7948E-BB8D-DA70-93DD-009ECC66FC97}"/>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4A7C545B-9837-C5BA-355B-3D293CCF1F53}"/>
              </a:ext>
            </a:extLst>
          </p:cNvPr>
          <p:cNvSpPr txBox="1"/>
          <p:nvPr/>
        </p:nvSpPr>
        <p:spPr>
          <a:xfrm>
            <a:off x="364035" y="1071152"/>
            <a:ext cx="8810449" cy="4401164"/>
          </a:xfrm>
          <a:prstGeom prst="rect">
            <a:avLst/>
          </a:prstGeom>
          <a:noFill/>
          <a:ln>
            <a:noFill/>
          </a:ln>
        </p:spPr>
        <p:txBody>
          <a:bodyPr spcFirstLastPara="1" wrap="square" lIns="91425" tIns="45700" rIns="91425" bIns="45700" anchor="t" anchorCtr="0">
            <a:spAutoFit/>
          </a:bodyPr>
          <a:lstStyle/>
          <a:p>
            <a:pPr fontAlgn="base"/>
            <a:r>
              <a:rPr lang="en-GB" dirty="0"/>
              <a:t>The Spread operator (represented as three dots or …) is used on </a:t>
            </a:r>
            <a:r>
              <a:rPr lang="en-GB" dirty="0" err="1"/>
              <a:t>iterables</a:t>
            </a:r>
            <a:r>
              <a:rPr lang="en-GB" dirty="0"/>
              <a:t> like array and string, or properties of Objects, to expand wherever zero or more elements are required to be copied or assigned.</a:t>
            </a:r>
          </a:p>
          <a:p>
            <a:pPr fontAlgn="base"/>
            <a:endParaRPr lang="en-GB" dirty="0"/>
          </a:p>
          <a:p>
            <a:pPr fontAlgn="base"/>
            <a:r>
              <a:rPr lang="en-GB" b="1" dirty="0"/>
              <a:t>Use Cases :</a:t>
            </a:r>
          </a:p>
          <a:p>
            <a:pPr marL="285750" indent="-285750" fontAlgn="base">
              <a:buFont typeface="Arial" panose="020B0604020202020204" pitchFamily="34" charset="0"/>
              <a:buChar char="•"/>
            </a:pPr>
            <a:r>
              <a:rPr lang="en-GB" dirty="0"/>
              <a:t>Adding Multiple Elements Using Spread Operator</a:t>
            </a:r>
          </a:p>
          <a:p>
            <a:pPr marL="285750" indent="-285750" fontAlgn="base">
              <a:buFont typeface="Arial" panose="020B0604020202020204" pitchFamily="34" charset="0"/>
              <a:buChar char="•"/>
            </a:pPr>
            <a:r>
              <a:rPr lang="en-GB" dirty="0"/>
              <a:t>Find Min / Max using Spread Operator</a:t>
            </a:r>
          </a:p>
          <a:p>
            <a:pPr marL="285750" indent="-285750" fontAlgn="base">
              <a:buFont typeface="Arial" panose="020B0604020202020204" pitchFamily="34" charset="0"/>
              <a:buChar char="•"/>
            </a:pPr>
            <a:r>
              <a:rPr lang="en-GB" dirty="0"/>
              <a:t>Passing Array Elements as Function Parameters</a:t>
            </a:r>
          </a:p>
          <a:p>
            <a:pPr marL="285750" indent="-285750" fontAlgn="base">
              <a:buFont typeface="Arial" panose="020B0604020202020204" pitchFamily="34" charset="0"/>
              <a:buChar char="•"/>
            </a:pPr>
            <a:r>
              <a:rPr lang="en-IN" dirty="0"/>
              <a:t>Copying Array using Spread</a:t>
            </a:r>
          </a:p>
          <a:p>
            <a:pPr marL="285750" indent="-285750" fontAlgn="base">
              <a:buFont typeface="Arial" panose="020B0604020202020204" pitchFamily="34" charset="0"/>
              <a:buChar char="•"/>
            </a:pPr>
            <a:r>
              <a:rPr lang="en-GB" dirty="0"/>
              <a:t>Concatenate Arrays using Spread Operator</a:t>
            </a:r>
          </a:p>
          <a:p>
            <a:pPr marL="285750" indent="-285750" fontAlgn="base">
              <a:buFont typeface="Arial" panose="020B0604020202020204" pitchFamily="34" charset="0"/>
              <a:buChar char="•"/>
            </a:pPr>
            <a:r>
              <a:rPr lang="en-GB" dirty="0"/>
              <a:t>Working of Objects with Spread Operator</a:t>
            </a:r>
          </a:p>
          <a:p>
            <a:pPr fontAlgn="base"/>
            <a:br>
              <a:rPr lang="en-GB" dirty="0"/>
            </a:br>
            <a:r>
              <a:rPr lang="en-GB" b="1" dirty="0"/>
              <a:t>Example :</a:t>
            </a:r>
          </a:p>
          <a:p>
            <a:pPr fontAlgn="base"/>
            <a:r>
              <a:rPr lang="en-GB" dirty="0" err="1"/>
              <a:t>const</a:t>
            </a:r>
            <a:r>
              <a:rPr lang="en-GB" dirty="0"/>
              <a:t> </a:t>
            </a:r>
            <a:r>
              <a:rPr lang="en-GB" dirty="0" err="1"/>
              <a:t>numbersOne</a:t>
            </a:r>
            <a:r>
              <a:rPr lang="en-GB" dirty="0"/>
              <a:t> = [1, 2, 3];</a:t>
            </a:r>
            <a:br>
              <a:rPr lang="en-GB" dirty="0"/>
            </a:br>
            <a:r>
              <a:rPr lang="en-GB" dirty="0" err="1"/>
              <a:t>const</a:t>
            </a:r>
            <a:r>
              <a:rPr lang="en-GB" dirty="0"/>
              <a:t> </a:t>
            </a:r>
            <a:r>
              <a:rPr lang="en-GB" dirty="0" err="1"/>
              <a:t>numbersTwo</a:t>
            </a:r>
            <a:r>
              <a:rPr lang="en-GB" dirty="0"/>
              <a:t> = [4, 5, 6];</a:t>
            </a:r>
            <a:br>
              <a:rPr lang="en-GB" dirty="0"/>
            </a:br>
            <a:r>
              <a:rPr lang="en-GB" dirty="0" err="1"/>
              <a:t>const</a:t>
            </a:r>
            <a:r>
              <a:rPr lang="en-GB" dirty="0"/>
              <a:t> </a:t>
            </a:r>
            <a:r>
              <a:rPr lang="en-GB" dirty="0" err="1"/>
              <a:t>numbersCombined</a:t>
            </a:r>
            <a:r>
              <a:rPr lang="en-GB" dirty="0"/>
              <a:t> = [...</a:t>
            </a:r>
            <a:r>
              <a:rPr lang="en-GB" dirty="0" err="1"/>
              <a:t>numbersOne</a:t>
            </a:r>
            <a:r>
              <a:rPr lang="en-GB" dirty="0"/>
              <a:t>, ...</a:t>
            </a:r>
            <a:r>
              <a:rPr lang="en-GB" dirty="0" err="1"/>
              <a:t>numbersTwo</a:t>
            </a:r>
            <a:r>
              <a:rPr lang="en-GB" dirty="0"/>
              <a:t>];</a:t>
            </a:r>
          </a:p>
          <a:p>
            <a:pPr fontAlgn="base"/>
            <a:endParaRPr lang="en-GB" dirty="0"/>
          </a:p>
          <a:p>
            <a:r>
              <a:rPr lang="en-GB" b="1" dirty="0"/>
              <a:t>OUTPUT :</a:t>
            </a:r>
            <a:r>
              <a:rPr lang="en-GB" dirty="0"/>
              <a:t>The "spread" operator spreads elements of </a:t>
            </a:r>
            <a:r>
              <a:rPr lang="en-GB" dirty="0" err="1"/>
              <a:t>iterable</a:t>
            </a:r>
            <a:r>
              <a:rPr lang="en-GB" dirty="0"/>
              <a:t> objects:</a:t>
            </a:r>
          </a:p>
          <a:p>
            <a:r>
              <a:rPr lang="en-GB" dirty="0"/>
              <a:t>1,2,3,4,5,6</a:t>
            </a:r>
          </a:p>
          <a:p>
            <a:pPr fontAlgn="base"/>
            <a:endParaRPr lang="en-GB" dirty="0"/>
          </a:p>
          <a:p>
            <a:pPr fontAlgn="base"/>
            <a:endParaRPr lang="en-GB" b="1" dirty="0"/>
          </a:p>
        </p:txBody>
      </p:sp>
      <p:sp>
        <p:nvSpPr>
          <p:cNvPr id="10" name="TextBox 9">
            <a:extLst>
              <a:ext uri="{FF2B5EF4-FFF2-40B4-BE49-F238E27FC236}">
                <a16:creationId xmlns:a16="http://schemas.microsoft.com/office/drawing/2014/main" id="{2521A513-FE0C-2ED6-4B97-D0629E36B450}"/>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10</a:t>
            </a:r>
          </a:p>
        </p:txBody>
      </p:sp>
      <p:grpSp>
        <p:nvGrpSpPr>
          <p:cNvPr id="17" name="Google Shape;108;p2">
            <a:extLst>
              <a:ext uri="{FF2B5EF4-FFF2-40B4-BE49-F238E27FC236}">
                <a16:creationId xmlns:a16="http://schemas.microsoft.com/office/drawing/2014/main" id="{E4417B15-3C4F-266A-64A6-4965DA714C5C}"/>
              </a:ext>
            </a:extLst>
          </p:cNvPr>
          <p:cNvGrpSpPr/>
          <p:nvPr/>
        </p:nvGrpSpPr>
        <p:grpSpPr>
          <a:xfrm>
            <a:off x="648523" y="605860"/>
            <a:ext cx="8241475" cy="665888"/>
            <a:chOff x="-2423" y="164499"/>
            <a:chExt cx="5580934" cy="665888"/>
          </a:xfrm>
          <a:noFill/>
        </p:grpSpPr>
        <p:sp>
          <p:nvSpPr>
            <p:cNvPr id="18" name="Google Shape;109;p2">
              <a:extLst>
                <a:ext uri="{FF2B5EF4-FFF2-40B4-BE49-F238E27FC236}">
                  <a16:creationId xmlns:a16="http://schemas.microsoft.com/office/drawing/2014/main" id="{75EFEE7A-57BD-D3E0-1EA7-0BFA0AC2C00E}"/>
                </a:ext>
              </a:extLst>
            </p:cNvPr>
            <p:cNvSpPr/>
            <p:nvPr/>
          </p:nvSpPr>
          <p:spPr>
            <a:xfrm>
              <a:off x="-2423" y="1644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algn="ctr" fontAlgn="base"/>
              <a:r>
                <a:rPr lang="en-GB" sz="3200" b="1" dirty="0"/>
                <a:t>Spread Operator</a:t>
              </a:r>
            </a:p>
            <a:p>
              <a:pPr algn="ctr" fontAlgn="base"/>
              <a:endParaRPr lang="en-GB" sz="3200" b="1" dirty="0"/>
            </a:p>
          </p:txBody>
        </p:sp>
        <p:sp>
          <p:nvSpPr>
            <p:cNvPr id="19" name="Google Shape;110;p2">
              <a:extLst>
                <a:ext uri="{FF2B5EF4-FFF2-40B4-BE49-F238E27FC236}">
                  <a16:creationId xmlns:a16="http://schemas.microsoft.com/office/drawing/2014/main" id="{A96531C5-32AE-D149-E612-766A6A1912FE}"/>
                </a:ext>
              </a:extLst>
            </p:cNvPr>
            <p:cNvSpPr txBox="1"/>
            <p:nvPr/>
          </p:nvSpPr>
          <p:spPr>
            <a:xfrm>
              <a:off x="-2423" y="429195"/>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Tree>
    <p:extLst>
      <p:ext uri="{BB962C8B-B14F-4D97-AF65-F5344CB8AC3E}">
        <p14:creationId xmlns:p14="http://schemas.microsoft.com/office/powerpoint/2010/main" val="36851475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EA335FC-9943-6D15-D875-31186CA0378B}"/>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74F83402-D53C-67D7-56BD-FAB7085FD497}"/>
              </a:ext>
            </a:extLst>
          </p:cNvPr>
          <p:cNvGrpSpPr/>
          <p:nvPr/>
        </p:nvGrpSpPr>
        <p:grpSpPr>
          <a:xfrm>
            <a:off x="783770" y="218172"/>
            <a:ext cx="8241475" cy="444600"/>
            <a:chOff x="0" y="6299"/>
            <a:chExt cx="5580934" cy="444600"/>
          </a:xfrm>
          <a:noFill/>
        </p:grpSpPr>
        <p:sp>
          <p:nvSpPr>
            <p:cNvPr id="109" name="Google Shape;109;p2">
              <a:extLst>
                <a:ext uri="{FF2B5EF4-FFF2-40B4-BE49-F238E27FC236}">
                  <a16:creationId xmlns:a16="http://schemas.microsoft.com/office/drawing/2014/main" id="{6F98B448-CA0D-B814-2DD8-E1DFF376A340}"/>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84C2B4E7-1DE1-4465-8F77-D8433B028593}"/>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111" name="Google Shape;111;p2">
            <a:extLst>
              <a:ext uri="{FF2B5EF4-FFF2-40B4-BE49-F238E27FC236}">
                <a16:creationId xmlns:a16="http://schemas.microsoft.com/office/drawing/2014/main" id="{71EF9A34-1A7E-8DD9-0A82-5720DD05D2D4}"/>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942BCFF3-0F79-87CB-DE53-63E3E5B4DA5B}"/>
              </a:ext>
            </a:extLst>
          </p:cNvPr>
          <p:cNvSpPr txBox="1"/>
          <p:nvPr/>
        </p:nvSpPr>
        <p:spPr>
          <a:xfrm>
            <a:off x="364035" y="1071152"/>
            <a:ext cx="8810449" cy="3108503"/>
          </a:xfrm>
          <a:prstGeom prst="rect">
            <a:avLst/>
          </a:prstGeom>
          <a:noFill/>
          <a:ln>
            <a:noFill/>
          </a:ln>
        </p:spPr>
        <p:txBody>
          <a:bodyPr spcFirstLastPara="1" wrap="square" lIns="91425" tIns="45700" rIns="91425" bIns="45700" anchor="t" anchorCtr="0">
            <a:spAutoFit/>
          </a:bodyPr>
          <a:lstStyle/>
          <a:p>
            <a:pPr fontAlgn="base"/>
            <a:endParaRPr lang="en-GB" b="1" dirty="0"/>
          </a:p>
          <a:p>
            <a:pPr fontAlgn="base"/>
            <a:r>
              <a:rPr lang="en-GB" b="1" dirty="0"/>
              <a:t>Advantages of Spread Operator in JavaScript :</a:t>
            </a:r>
          </a:p>
          <a:p>
            <a:pPr fontAlgn="base"/>
            <a:endParaRPr lang="en-GB" b="1" dirty="0"/>
          </a:p>
          <a:p>
            <a:pPr marL="285750" indent="-285750" fontAlgn="base">
              <a:buFont typeface="Arial" panose="020B0604020202020204" pitchFamily="34" charset="0"/>
              <a:buChar char="•"/>
            </a:pPr>
            <a:r>
              <a:rPr lang="en-GB" dirty="0"/>
              <a:t>Makes code shorter and cleaner</a:t>
            </a:r>
          </a:p>
          <a:p>
            <a:pPr marL="285750" indent="-285750" fontAlgn="base">
              <a:buFont typeface="Arial" panose="020B0604020202020204" pitchFamily="34" charset="0"/>
              <a:buChar char="•"/>
            </a:pPr>
            <a:endParaRPr lang="en-GB" dirty="0"/>
          </a:p>
          <a:p>
            <a:pPr marL="285750" indent="-285750" fontAlgn="base">
              <a:buFont typeface="Arial" panose="020B0604020202020204" pitchFamily="34" charset="0"/>
              <a:buChar char="•"/>
            </a:pPr>
            <a:r>
              <a:rPr lang="en-GB" dirty="0"/>
              <a:t>Easily copies arrays and objects (avoids mutation)</a:t>
            </a:r>
          </a:p>
          <a:p>
            <a:pPr marL="285750" indent="-285750" fontAlgn="base">
              <a:buFont typeface="Arial" panose="020B0604020202020204" pitchFamily="34" charset="0"/>
              <a:buChar char="•"/>
            </a:pPr>
            <a:endParaRPr lang="en-GB" dirty="0"/>
          </a:p>
          <a:p>
            <a:pPr marL="285750" indent="-285750" fontAlgn="base">
              <a:buFont typeface="Arial" panose="020B0604020202020204" pitchFamily="34" charset="0"/>
              <a:buChar char="•"/>
            </a:pPr>
            <a:r>
              <a:rPr lang="en-GB" dirty="0"/>
              <a:t>Simplifies merging arrays or objects</a:t>
            </a:r>
          </a:p>
          <a:p>
            <a:pPr marL="285750" indent="-285750" fontAlgn="base">
              <a:buFont typeface="Arial" panose="020B0604020202020204" pitchFamily="34" charset="0"/>
              <a:buChar char="•"/>
            </a:pPr>
            <a:endParaRPr lang="en-GB" dirty="0"/>
          </a:p>
          <a:p>
            <a:pPr marL="285750" indent="-285750" fontAlgn="base">
              <a:buFont typeface="Arial" panose="020B0604020202020204" pitchFamily="34" charset="0"/>
              <a:buChar char="•"/>
            </a:pPr>
            <a:r>
              <a:rPr lang="en-GB" dirty="0"/>
              <a:t>Allows passing array elements as function arguments</a:t>
            </a:r>
          </a:p>
          <a:p>
            <a:pPr marL="285750" indent="-285750" fontAlgn="base">
              <a:buFont typeface="Arial" panose="020B0604020202020204" pitchFamily="34" charset="0"/>
              <a:buChar char="•"/>
            </a:pPr>
            <a:endParaRPr lang="en-GB" dirty="0"/>
          </a:p>
          <a:p>
            <a:pPr marL="285750" indent="-285750" fontAlgn="base">
              <a:buFont typeface="Arial" panose="020B0604020202020204" pitchFamily="34" charset="0"/>
              <a:buChar char="•"/>
            </a:pPr>
            <a:r>
              <a:rPr lang="en-GB" dirty="0"/>
              <a:t>Supports immutable data handling (important in React)</a:t>
            </a:r>
          </a:p>
          <a:p>
            <a:pPr marL="285750" indent="-285750" fontAlgn="base">
              <a:buFont typeface="Arial" panose="020B0604020202020204" pitchFamily="34" charset="0"/>
              <a:buChar char="•"/>
            </a:pPr>
            <a:endParaRPr lang="en-GB" dirty="0"/>
          </a:p>
          <a:p>
            <a:pPr marL="285750" indent="-285750" fontAlgn="base">
              <a:buFont typeface="Arial" panose="020B0604020202020204" pitchFamily="34" charset="0"/>
              <a:buChar char="•"/>
            </a:pPr>
            <a:r>
              <a:rPr lang="en-GB" dirty="0"/>
              <a:t>Improves readability and maintainability</a:t>
            </a:r>
          </a:p>
        </p:txBody>
      </p:sp>
      <p:sp>
        <p:nvSpPr>
          <p:cNvPr id="10" name="TextBox 9">
            <a:extLst>
              <a:ext uri="{FF2B5EF4-FFF2-40B4-BE49-F238E27FC236}">
                <a16:creationId xmlns:a16="http://schemas.microsoft.com/office/drawing/2014/main" id="{9665E802-8B95-5280-4AAC-ACB089B7E8C8}"/>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11</a:t>
            </a:r>
          </a:p>
        </p:txBody>
      </p:sp>
      <p:grpSp>
        <p:nvGrpSpPr>
          <p:cNvPr id="17" name="Google Shape;108;p2">
            <a:extLst>
              <a:ext uri="{FF2B5EF4-FFF2-40B4-BE49-F238E27FC236}">
                <a16:creationId xmlns:a16="http://schemas.microsoft.com/office/drawing/2014/main" id="{0D87D015-08B4-DA40-EFCC-EFF03FCDDC1F}"/>
              </a:ext>
            </a:extLst>
          </p:cNvPr>
          <p:cNvGrpSpPr/>
          <p:nvPr/>
        </p:nvGrpSpPr>
        <p:grpSpPr>
          <a:xfrm>
            <a:off x="648523" y="605860"/>
            <a:ext cx="8241475" cy="665888"/>
            <a:chOff x="-2423" y="164499"/>
            <a:chExt cx="5580934" cy="665888"/>
          </a:xfrm>
          <a:noFill/>
        </p:grpSpPr>
        <p:sp>
          <p:nvSpPr>
            <p:cNvPr id="18" name="Google Shape;109;p2">
              <a:extLst>
                <a:ext uri="{FF2B5EF4-FFF2-40B4-BE49-F238E27FC236}">
                  <a16:creationId xmlns:a16="http://schemas.microsoft.com/office/drawing/2014/main" id="{FAC4819C-B2C0-E9C0-AE40-7A1EA23E1ABD}"/>
                </a:ext>
              </a:extLst>
            </p:cNvPr>
            <p:cNvSpPr/>
            <p:nvPr/>
          </p:nvSpPr>
          <p:spPr>
            <a:xfrm>
              <a:off x="-2423" y="1644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algn="ctr" fontAlgn="base"/>
              <a:r>
                <a:rPr lang="en-GB" sz="3200" b="1" dirty="0"/>
                <a:t>Spread Operator (Contd.)</a:t>
              </a:r>
            </a:p>
            <a:p>
              <a:pPr algn="ctr" fontAlgn="base"/>
              <a:endParaRPr lang="en-GB" sz="3200" b="1" dirty="0"/>
            </a:p>
          </p:txBody>
        </p:sp>
        <p:sp>
          <p:nvSpPr>
            <p:cNvPr id="19" name="Google Shape;110;p2">
              <a:extLst>
                <a:ext uri="{FF2B5EF4-FFF2-40B4-BE49-F238E27FC236}">
                  <a16:creationId xmlns:a16="http://schemas.microsoft.com/office/drawing/2014/main" id="{4A44A17B-35B4-60A2-6122-290C65228EDF}"/>
                </a:ext>
              </a:extLst>
            </p:cNvPr>
            <p:cNvSpPr txBox="1"/>
            <p:nvPr/>
          </p:nvSpPr>
          <p:spPr>
            <a:xfrm>
              <a:off x="-2423" y="429195"/>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Tree>
    <p:extLst>
      <p:ext uri="{BB962C8B-B14F-4D97-AF65-F5344CB8AC3E}">
        <p14:creationId xmlns:p14="http://schemas.microsoft.com/office/powerpoint/2010/main" val="9815977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B9A49017-4D2F-1699-84F0-EC13613297B5}"/>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34ECD99C-D140-B69A-1986-3E44D6154C30}"/>
              </a:ext>
            </a:extLst>
          </p:cNvPr>
          <p:cNvGrpSpPr/>
          <p:nvPr/>
        </p:nvGrpSpPr>
        <p:grpSpPr>
          <a:xfrm>
            <a:off x="783770" y="218172"/>
            <a:ext cx="8241475" cy="444600"/>
            <a:chOff x="0" y="6299"/>
            <a:chExt cx="5580934" cy="444600"/>
          </a:xfrm>
          <a:noFill/>
        </p:grpSpPr>
        <p:sp>
          <p:nvSpPr>
            <p:cNvPr id="109" name="Google Shape;109;p2">
              <a:extLst>
                <a:ext uri="{FF2B5EF4-FFF2-40B4-BE49-F238E27FC236}">
                  <a16:creationId xmlns:a16="http://schemas.microsoft.com/office/drawing/2014/main" id="{71D45E5A-081A-2C97-7FF3-E3ADBBDEEBB3}"/>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607CD549-C945-C3DC-310A-0E266582AA28}"/>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111" name="Google Shape;111;p2">
            <a:extLst>
              <a:ext uri="{FF2B5EF4-FFF2-40B4-BE49-F238E27FC236}">
                <a16:creationId xmlns:a16="http://schemas.microsoft.com/office/drawing/2014/main" id="{0B5A9952-1F6F-58D9-CA8B-F065476C3E1A}"/>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0" name="TextBox 9">
            <a:extLst>
              <a:ext uri="{FF2B5EF4-FFF2-40B4-BE49-F238E27FC236}">
                <a16:creationId xmlns:a16="http://schemas.microsoft.com/office/drawing/2014/main" id="{58393633-82D8-B0F0-EDFC-76893DC8DB73}"/>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12</a:t>
            </a:r>
          </a:p>
        </p:txBody>
      </p:sp>
      <p:grpSp>
        <p:nvGrpSpPr>
          <p:cNvPr id="17" name="Google Shape;108;p2">
            <a:extLst>
              <a:ext uri="{FF2B5EF4-FFF2-40B4-BE49-F238E27FC236}">
                <a16:creationId xmlns:a16="http://schemas.microsoft.com/office/drawing/2014/main" id="{3CC65806-6BE5-016A-97BC-FECB67DDA72C}"/>
              </a:ext>
            </a:extLst>
          </p:cNvPr>
          <p:cNvGrpSpPr/>
          <p:nvPr/>
        </p:nvGrpSpPr>
        <p:grpSpPr>
          <a:xfrm>
            <a:off x="648523" y="605860"/>
            <a:ext cx="8241475" cy="665888"/>
            <a:chOff x="-2423" y="164499"/>
            <a:chExt cx="5580934" cy="665888"/>
          </a:xfrm>
          <a:noFill/>
        </p:grpSpPr>
        <p:sp>
          <p:nvSpPr>
            <p:cNvPr id="18" name="Google Shape;109;p2">
              <a:extLst>
                <a:ext uri="{FF2B5EF4-FFF2-40B4-BE49-F238E27FC236}">
                  <a16:creationId xmlns:a16="http://schemas.microsoft.com/office/drawing/2014/main" id="{4CDAECDE-B33A-A48F-2FB2-8DF08D8BA17D}"/>
                </a:ext>
              </a:extLst>
            </p:cNvPr>
            <p:cNvSpPr/>
            <p:nvPr/>
          </p:nvSpPr>
          <p:spPr>
            <a:xfrm>
              <a:off x="-2423" y="1644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algn="ctr" fontAlgn="base"/>
              <a:r>
                <a:rPr lang="en-GB" sz="3200" b="1" dirty="0"/>
                <a:t>Spread Operator V/S Rest Operator</a:t>
              </a:r>
            </a:p>
            <a:p>
              <a:pPr algn="ctr" fontAlgn="base"/>
              <a:endParaRPr lang="en-GB" sz="3200" b="1" dirty="0"/>
            </a:p>
          </p:txBody>
        </p:sp>
        <p:sp>
          <p:nvSpPr>
            <p:cNvPr id="19" name="Google Shape;110;p2">
              <a:extLst>
                <a:ext uri="{FF2B5EF4-FFF2-40B4-BE49-F238E27FC236}">
                  <a16:creationId xmlns:a16="http://schemas.microsoft.com/office/drawing/2014/main" id="{E20AD1E3-4CE0-0E9A-DE6D-35F47C6CF4E1}"/>
                </a:ext>
              </a:extLst>
            </p:cNvPr>
            <p:cNvSpPr txBox="1"/>
            <p:nvPr/>
          </p:nvSpPr>
          <p:spPr>
            <a:xfrm>
              <a:off x="-2423" y="429195"/>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graphicFrame>
        <p:nvGraphicFramePr>
          <p:cNvPr id="2" name="Table 1">
            <a:extLst>
              <a:ext uri="{FF2B5EF4-FFF2-40B4-BE49-F238E27FC236}">
                <a16:creationId xmlns:a16="http://schemas.microsoft.com/office/drawing/2014/main" id="{0EA4F0AB-C084-3AAF-51AB-DEE8C7A42C9D}"/>
              </a:ext>
            </a:extLst>
          </p:cNvPr>
          <p:cNvGraphicFramePr>
            <a:graphicFrameLocks noGrp="1"/>
          </p:cNvGraphicFramePr>
          <p:nvPr>
            <p:extLst>
              <p:ext uri="{D42A27DB-BD31-4B8C-83A1-F6EECF244321}">
                <p14:modId xmlns:p14="http://schemas.microsoft.com/office/powerpoint/2010/main" val="1039224400"/>
              </p:ext>
            </p:extLst>
          </p:nvPr>
        </p:nvGraphicFramePr>
        <p:xfrm>
          <a:off x="311150" y="1946275"/>
          <a:ext cx="8521700" cy="1828800"/>
        </p:xfrm>
        <a:graphic>
          <a:graphicData uri="http://schemas.openxmlformats.org/drawingml/2006/table">
            <a:tbl>
              <a:tblPr>
                <a:tableStyleId>{3C2FFA5D-87B4-456A-9821-1D502468CF0F}</a:tableStyleId>
              </a:tblPr>
              <a:tblGrid>
                <a:gridCol w="4260850">
                  <a:extLst>
                    <a:ext uri="{9D8B030D-6E8A-4147-A177-3AD203B41FA5}">
                      <a16:colId xmlns:a16="http://schemas.microsoft.com/office/drawing/2014/main" val="2998325386"/>
                    </a:ext>
                  </a:extLst>
                </a:gridCol>
                <a:gridCol w="4260850">
                  <a:extLst>
                    <a:ext uri="{9D8B030D-6E8A-4147-A177-3AD203B41FA5}">
                      <a16:colId xmlns:a16="http://schemas.microsoft.com/office/drawing/2014/main" val="246032543"/>
                    </a:ext>
                  </a:extLst>
                </a:gridCol>
              </a:tblGrid>
              <a:tr h="0">
                <a:tc>
                  <a:txBody>
                    <a:bodyPr/>
                    <a:lstStyle/>
                    <a:p>
                      <a:pPr algn="ctr">
                        <a:buNone/>
                      </a:pPr>
                      <a:r>
                        <a:rPr lang="en-IN" b="1">
                          <a:solidFill>
                            <a:schemeClr val="bg2"/>
                          </a:solidFill>
                        </a:rPr>
                        <a:t>Spread Operator (...)</a:t>
                      </a:r>
                    </a:p>
                  </a:txBody>
                  <a:tcPr anchor="ctr"/>
                </a:tc>
                <a:tc>
                  <a:txBody>
                    <a:bodyPr/>
                    <a:lstStyle/>
                    <a:p>
                      <a:pPr algn="ctr">
                        <a:buNone/>
                      </a:pPr>
                      <a:r>
                        <a:rPr lang="en-IN" b="1" dirty="0">
                          <a:solidFill>
                            <a:schemeClr val="bg2"/>
                          </a:solidFill>
                        </a:rPr>
                        <a:t>Rest Operator (...)</a:t>
                      </a:r>
                    </a:p>
                  </a:txBody>
                  <a:tcPr anchor="ctr"/>
                </a:tc>
                <a:extLst>
                  <a:ext uri="{0D108BD9-81ED-4DB2-BD59-A6C34878D82A}">
                    <a16:rowId xmlns:a16="http://schemas.microsoft.com/office/drawing/2014/main" val="3131496302"/>
                  </a:ext>
                </a:extLst>
              </a:tr>
              <a:tr h="0">
                <a:tc>
                  <a:txBody>
                    <a:bodyPr/>
                    <a:lstStyle/>
                    <a:p>
                      <a:pPr>
                        <a:buNone/>
                      </a:pPr>
                      <a:r>
                        <a:rPr lang="en-IN" dirty="0">
                          <a:solidFill>
                            <a:schemeClr val="bg2"/>
                          </a:solidFill>
                        </a:rPr>
                        <a:t>Expands elements</a:t>
                      </a:r>
                    </a:p>
                  </a:txBody>
                  <a:tcPr anchor="ctr"/>
                </a:tc>
                <a:tc>
                  <a:txBody>
                    <a:bodyPr/>
                    <a:lstStyle/>
                    <a:p>
                      <a:pPr>
                        <a:buNone/>
                      </a:pPr>
                      <a:r>
                        <a:rPr lang="en-IN">
                          <a:solidFill>
                            <a:schemeClr val="bg2"/>
                          </a:solidFill>
                        </a:rPr>
                        <a:t>Collects elements</a:t>
                      </a:r>
                    </a:p>
                  </a:txBody>
                  <a:tcPr anchor="ctr"/>
                </a:tc>
                <a:extLst>
                  <a:ext uri="{0D108BD9-81ED-4DB2-BD59-A6C34878D82A}">
                    <a16:rowId xmlns:a16="http://schemas.microsoft.com/office/drawing/2014/main" val="948425409"/>
                  </a:ext>
                </a:extLst>
              </a:tr>
              <a:tr h="0">
                <a:tc>
                  <a:txBody>
                    <a:bodyPr/>
                    <a:lstStyle/>
                    <a:p>
                      <a:pPr>
                        <a:buNone/>
                      </a:pPr>
                      <a:r>
                        <a:rPr lang="en-IN">
                          <a:solidFill>
                            <a:schemeClr val="bg2"/>
                          </a:solidFill>
                        </a:rPr>
                        <a:t>Used to unpack values</a:t>
                      </a:r>
                    </a:p>
                  </a:txBody>
                  <a:tcPr anchor="ctr"/>
                </a:tc>
                <a:tc>
                  <a:txBody>
                    <a:bodyPr/>
                    <a:lstStyle/>
                    <a:p>
                      <a:pPr>
                        <a:buNone/>
                      </a:pPr>
                      <a:r>
                        <a:rPr lang="en-IN">
                          <a:solidFill>
                            <a:schemeClr val="bg2"/>
                          </a:solidFill>
                        </a:rPr>
                        <a:t>Used to pack values</a:t>
                      </a:r>
                    </a:p>
                  </a:txBody>
                  <a:tcPr anchor="ctr"/>
                </a:tc>
                <a:extLst>
                  <a:ext uri="{0D108BD9-81ED-4DB2-BD59-A6C34878D82A}">
                    <a16:rowId xmlns:a16="http://schemas.microsoft.com/office/drawing/2014/main" val="2468692818"/>
                  </a:ext>
                </a:extLst>
              </a:tr>
              <a:tr h="0">
                <a:tc>
                  <a:txBody>
                    <a:bodyPr/>
                    <a:lstStyle/>
                    <a:p>
                      <a:pPr>
                        <a:buNone/>
                      </a:pPr>
                      <a:r>
                        <a:rPr lang="en-GB">
                          <a:solidFill>
                            <a:schemeClr val="bg2"/>
                          </a:solidFill>
                        </a:rPr>
                        <a:t>Used in arrays, objects, function calls</a:t>
                      </a:r>
                    </a:p>
                  </a:txBody>
                  <a:tcPr anchor="ctr"/>
                </a:tc>
                <a:tc>
                  <a:txBody>
                    <a:bodyPr/>
                    <a:lstStyle/>
                    <a:p>
                      <a:pPr>
                        <a:buNone/>
                      </a:pPr>
                      <a:r>
                        <a:rPr lang="en-IN">
                          <a:solidFill>
                            <a:schemeClr val="bg2"/>
                          </a:solidFill>
                        </a:rPr>
                        <a:t>Used in function parameters</a:t>
                      </a:r>
                    </a:p>
                  </a:txBody>
                  <a:tcPr anchor="ctr"/>
                </a:tc>
                <a:extLst>
                  <a:ext uri="{0D108BD9-81ED-4DB2-BD59-A6C34878D82A}">
                    <a16:rowId xmlns:a16="http://schemas.microsoft.com/office/drawing/2014/main" val="1730963411"/>
                  </a:ext>
                </a:extLst>
              </a:tr>
              <a:tr h="0">
                <a:tc>
                  <a:txBody>
                    <a:bodyPr/>
                    <a:lstStyle/>
                    <a:p>
                      <a:pPr>
                        <a:buNone/>
                      </a:pPr>
                      <a:r>
                        <a:rPr lang="en-GB">
                          <a:solidFill>
                            <a:schemeClr val="bg2"/>
                          </a:solidFill>
                        </a:rPr>
                        <a:t>Breaks a collection into individual elements</a:t>
                      </a:r>
                    </a:p>
                  </a:txBody>
                  <a:tcPr anchor="ctr"/>
                </a:tc>
                <a:tc>
                  <a:txBody>
                    <a:bodyPr/>
                    <a:lstStyle/>
                    <a:p>
                      <a:pPr>
                        <a:buNone/>
                      </a:pPr>
                      <a:r>
                        <a:rPr lang="en-GB">
                          <a:solidFill>
                            <a:schemeClr val="bg2"/>
                          </a:solidFill>
                        </a:rPr>
                        <a:t>Combines multiple values into a single array</a:t>
                      </a:r>
                    </a:p>
                  </a:txBody>
                  <a:tcPr anchor="ctr"/>
                </a:tc>
                <a:extLst>
                  <a:ext uri="{0D108BD9-81ED-4DB2-BD59-A6C34878D82A}">
                    <a16:rowId xmlns:a16="http://schemas.microsoft.com/office/drawing/2014/main" val="589623587"/>
                  </a:ext>
                </a:extLst>
              </a:tr>
              <a:tr h="0">
                <a:tc>
                  <a:txBody>
                    <a:bodyPr/>
                    <a:lstStyle/>
                    <a:p>
                      <a:pPr>
                        <a:buNone/>
                      </a:pPr>
                      <a:r>
                        <a:rPr lang="en-IN">
                          <a:solidFill>
                            <a:schemeClr val="bg2"/>
                          </a:solidFill>
                        </a:rPr>
                        <a:t>Example: func(...arr)</a:t>
                      </a:r>
                    </a:p>
                  </a:txBody>
                  <a:tcPr anchor="ctr"/>
                </a:tc>
                <a:tc>
                  <a:txBody>
                    <a:bodyPr/>
                    <a:lstStyle/>
                    <a:p>
                      <a:pPr>
                        <a:buNone/>
                      </a:pPr>
                      <a:r>
                        <a:rPr lang="en-IN" dirty="0">
                          <a:solidFill>
                            <a:schemeClr val="bg2"/>
                          </a:solidFill>
                        </a:rPr>
                        <a:t>Example: function </a:t>
                      </a:r>
                      <a:r>
                        <a:rPr lang="en-IN" dirty="0" err="1">
                          <a:solidFill>
                            <a:schemeClr val="bg2"/>
                          </a:solidFill>
                        </a:rPr>
                        <a:t>func</a:t>
                      </a:r>
                      <a:r>
                        <a:rPr lang="en-IN" dirty="0">
                          <a:solidFill>
                            <a:schemeClr val="bg2"/>
                          </a:solidFill>
                        </a:rPr>
                        <a:t>(...</a:t>
                      </a:r>
                      <a:r>
                        <a:rPr lang="en-IN" dirty="0" err="1">
                          <a:solidFill>
                            <a:schemeClr val="bg2"/>
                          </a:solidFill>
                        </a:rPr>
                        <a:t>args</a:t>
                      </a:r>
                      <a:r>
                        <a:rPr lang="en-IN" dirty="0">
                          <a:solidFill>
                            <a:schemeClr val="bg2"/>
                          </a:solidFill>
                        </a:rPr>
                        <a:t>)</a:t>
                      </a:r>
                    </a:p>
                  </a:txBody>
                  <a:tcPr anchor="ctr"/>
                </a:tc>
                <a:extLst>
                  <a:ext uri="{0D108BD9-81ED-4DB2-BD59-A6C34878D82A}">
                    <a16:rowId xmlns:a16="http://schemas.microsoft.com/office/drawing/2014/main" val="3946014006"/>
                  </a:ext>
                </a:extLst>
              </a:tr>
            </a:tbl>
          </a:graphicData>
        </a:graphic>
      </p:graphicFrame>
    </p:spTree>
    <p:extLst>
      <p:ext uri="{BB962C8B-B14F-4D97-AF65-F5344CB8AC3E}">
        <p14:creationId xmlns:p14="http://schemas.microsoft.com/office/powerpoint/2010/main" val="37810671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6F26A9A-51A8-DA0C-152B-AD37E9CEC489}"/>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A2A21673-0A1D-F07A-5F4A-24C8EDC3204D}"/>
              </a:ext>
            </a:extLst>
          </p:cNvPr>
          <p:cNvGrpSpPr/>
          <p:nvPr/>
        </p:nvGrpSpPr>
        <p:grpSpPr>
          <a:xfrm>
            <a:off x="712518" y="218172"/>
            <a:ext cx="8312727" cy="444600"/>
            <a:chOff x="0" y="6299"/>
            <a:chExt cx="5580934" cy="444600"/>
          </a:xfrm>
          <a:noFill/>
        </p:grpSpPr>
        <p:sp>
          <p:nvSpPr>
            <p:cNvPr id="109" name="Google Shape;109;p2">
              <a:extLst>
                <a:ext uri="{FF2B5EF4-FFF2-40B4-BE49-F238E27FC236}">
                  <a16:creationId xmlns:a16="http://schemas.microsoft.com/office/drawing/2014/main" id="{D38799F9-4E43-3EC1-B502-26CB35DA3A64}"/>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1167C827-DCC4-87E3-24C7-4E2CCEE8F404}"/>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Quiz/ FAQ’s</a:t>
              </a:r>
            </a:p>
          </p:txBody>
        </p:sp>
      </p:grpSp>
      <p:sp>
        <p:nvSpPr>
          <p:cNvPr id="111" name="Google Shape;111;p2">
            <a:extLst>
              <a:ext uri="{FF2B5EF4-FFF2-40B4-BE49-F238E27FC236}">
                <a16:creationId xmlns:a16="http://schemas.microsoft.com/office/drawing/2014/main" id="{BD6EBDB1-8664-1692-8A39-12350449E110}"/>
              </a:ext>
            </a:extLst>
          </p:cNvPr>
          <p:cNvSpPr txBox="1">
            <a:spLocks noGrp="1"/>
          </p:cNvSpPr>
          <p:nvPr>
            <p:ph type="body" idx="1"/>
          </p:nvPr>
        </p:nvSpPr>
        <p:spPr>
          <a:xfrm>
            <a:off x="712518" y="862360"/>
            <a:ext cx="8280399" cy="4281140"/>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just">
              <a:lnSpc>
                <a:spcPct val="100000"/>
              </a:lnSpc>
              <a:spcBef>
                <a:spcPts val="0"/>
              </a:spcBef>
              <a:buNone/>
            </a:pPr>
            <a:r>
              <a:rPr lang="en-GB" sz="900" b="1" dirty="0">
                <a:solidFill>
                  <a:schemeClr val="bg2"/>
                </a:solidFill>
                <a:latin typeface="+mj-lt"/>
                <a:ea typeface="Times New Roman"/>
                <a:cs typeface="Times New Roman"/>
                <a:sym typeface="Times New Roman"/>
              </a:rPr>
              <a:t>1. What is the main purpose of the spread operator (...) in JavaScript?</a:t>
            </a:r>
          </a:p>
          <a:p>
            <a:pPr marL="342900" lvl="0" indent="-342900" algn="just">
              <a:lnSpc>
                <a:spcPct val="100000"/>
              </a:lnSpc>
              <a:spcBef>
                <a:spcPts val="0"/>
              </a:spcBef>
              <a:buNone/>
            </a:pPr>
            <a:r>
              <a:rPr lang="en-GB" sz="900" dirty="0">
                <a:solidFill>
                  <a:schemeClr val="bg2"/>
                </a:solidFill>
                <a:latin typeface="+mj-lt"/>
                <a:ea typeface="Times New Roman"/>
                <a:cs typeface="Times New Roman"/>
                <a:sym typeface="Times New Roman"/>
              </a:rPr>
              <a:t>A. To collect multiple function arguments</a:t>
            </a:r>
          </a:p>
          <a:p>
            <a:pPr marL="342900" lvl="0" indent="-342900" algn="just">
              <a:lnSpc>
                <a:spcPct val="100000"/>
              </a:lnSpc>
              <a:spcBef>
                <a:spcPts val="0"/>
              </a:spcBef>
              <a:buNone/>
            </a:pPr>
            <a:r>
              <a:rPr lang="en-GB" sz="900" dirty="0">
                <a:solidFill>
                  <a:schemeClr val="bg2"/>
                </a:solidFill>
                <a:latin typeface="+mj-lt"/>
                <a:ea typeface="Times New Roman"/>
                <a:cs typeface="Times New Roman"/>
                <a:sym typeface="Times New Roman"/>
              </a:rPr>
              <a:t>B. To expand elements of an array or object</a:t>
            </a:r>
          </a:p>
          <a:p>
            <a:pPr marL="342900" lvl="0" indent="-342900" algn="just">
              <a:lnSpc>
                <a:spcPct val="100000"/>
              </a:lnSpc>
              <a:spcBef>
                <a:spcPts val="0"/>
              </a:spcBef>
              <a:buNone/>
            </a:pPr>
            <a:r>
              <a:rPr lang="en-GB" sz="900" dirty="0">
                <a:solidFill>
                  <a:schemeClr val="bg2"/>
                </a:solidFill>
                <a:latin typeface="+mj-lt"/>
                <a:ea typeface="Times New Roman"/>
                <a:cs typeface="Times New Roman"/>
                <a:sym typeface="Times New Roman"/>
              </a:rPr>
              <a:t>C. To define a function</a:t>
            </a:r>
          </a:p>
          <a:p>
            <a:pPr marL="342900" lvl="0" indent="-342900" algn="just">
              <a:lnSpc>
                <a:spcPct val="100000"/>
              </a:lnSpc>
              <a:spcBef>
                <a:spcPts val="0"/>
              </a:spcBef>
              <a:buNone/>
            </a:pPr>
            <a:r>
              <a:rPr lang="en-GB" sz="900" dirty="0">
                <a:solidFill>
                  <a:schemeClr val="bg2"/>
                </a:solidFill>
                <a:latin typeface="+mj-lt"/>
                <a:ea typeface="Times New Roman"/>
                <a:cs typeface="Times New Roman"/>
                <a:sym typeface="Times New Roman"/>
              </a:rPr>
              <a:t>D. To create loops</a:t>
            </a:r>
          </a:p>
          <a:p>
            <a:pPr marL="342900" lvl="0" indent="-342900" algn="just">
              <a:lnSpc>
                <a:spcPct val="100000"/>
              </a:lnSpc>
              <a:spcBef>
                <a:spcPts val="0"/>
              </a:spcBef>
              <a:buNone/>
            </a:pPr>
            <a:endParaRPr lang="en-GB" sz="900" dirty="0">
              <a:solidFill>
                <a:schemeClr val="bg2"/>
              </a:solidFill>
              <a:latin typeface="+mj-lt"/>
              <a:ea typeface="Times New Roman"/>
              <a:cs typeface="Times New Roman"/>
              <a:sym typeface="Times New Roman"/>
            </a:endParaRPr>
          </a:p>
          <a:p>
            <a:pPr marL="342900" lvl="0" indent="-342900" algn="just">
              <a:lnSpc>
                <a:spcPct val="100000"/>
              </a:lnSpc>
              <a:spcBef>
                <a:spcPts val="0"/>
              </a:spcBef>
              <a:buNone/>
            </a:pPr>
            <a:r>
              <a:rPr lang="en-GB" sz="900" b="1" dirty="0">
                <a:solidFill>
                  <a:schemeClr val="bg2"/>
                </a:solidFill>
                <a:latin typeface="+mj-lt"/>
                <a:ea typeface="Times New Roman"/>
                <a:cs typeface="Times New Roman"/>
                <a:sym typeface="Times New Roman"/>
              </a:rPr>
              <a:t>Answer: B</a:t>
            </a:r>
          </a:p>
          <a:p>
            <a:pPr marL="342900" lvl="0" indent="-342900" algn="just">
              <a:lnSpc>
                <a:spcPct val="100000"/>
              </a:lnSpc>
              <a:spcBef>
                <a:spcPts val="0"/>
              </a:spcBef>
              <a:buNone/>
            </a:pPr>
            <a:endParaRPr lang="en-GB" sz="900" dirty="0">
              <a:solidFill>
                <a:schemeClr val="bg2"/>
              </a:solidFill>
              <a:latin typeface="+mj-lt"/>
              <a:ea typeface="Times New Roman"/>
              <a:cs typeface="Times New Roman"/>
              <a:sym typeface="Times New Roman"/>
            </a:endParaRPr>
          </a:p>
          <a:p>
            <a:pPr marL="342900" lvl="0" indent="-342900" algn="just">
              <a:lnSpc>
                <a:spcPct val="100000"/>
              </a:lnSpc>
              <a:spcBef>
                <a:spcPts val="0"/>
              </a:spcBef>
              <a:buNone/>
            </a:pPr>
            <a:r>
              <a:rPr lang="en-GB" sz="900" b="1" dirty="0">
                <a:solidFill>
                  <a:schemeClr val="bg2"/>
                </a:solidFill>
                <a:latin typeface="+mj-lt"/>
                <a:ea typeface="Times New Roman"/>
                <a:cs typeface="Times New Roman"/>
                <a:sym typeface="Times New Roman"/>
              </a:rPr>
              <a:t>2. Which of the following correctly uses the rest parameter?</a:t>
            </a:r>
          </a:p>
          <a:p>
            <a:pPr marL="342900" lvl="0" indent="-342900" algn="just">
              <a:lnSpc>
                <a:spcPct val="100000"/>
              </a:lnSpc>
              <a:spcBef>
                <a:spcPts val="0"/>
              </a:spcBef>
              <a:buNone/>
            </a:pPr>
            <a:r>
              <a:rPr lang="en-GB" sz="900" dirty="0">
                <a:solidFill>
                  <a:schemeClr val="bg2"/>
                </a:solidFill>
                <a:latin typeface="+mj-lt"/>
                <a:ea typeface="Times New Roman"/>
                <a:cs typeface="Times New Roman"/>
                <a:sym typeface="Times New Roman"/>
              </a:rPr>
              <a:t>A. function sum(a, b, ...c, d) {}</a:t>
            </a:r>
          </a:p>
          <a:p>
            <a:pPr marL="342900" lvl="0" indent="-342900" algn="just">
              <a:lnSpc>
                <a:spcPct val="100000"/>
              </a:lnSpc>
              <a:spcBef>
                <a:spcPts val="0"/>
              </a:spcBef>
              <a:buNone/>
            </a:pPr>
            <a:r>
              <a:rPr lang="en-GB" sz="900" dirty="0">
                <a:solidFill>
                  <a:schemeClr val="bg2"/>
                </a:solidFill>
                <a:latin typeface="+mj-lt"/>
                <a:ea typeface="Times New Roman"/>
                <a:cs typeface="Times New Roman"/>
                <a:sym typeface="Times New Roman"/>
              </a:rPr>
              <a:t>B. function sum(...</a:t>
            </a:r>
            <a:r>
              <a:rPr lang="en-GB" sz="900" dirty="0" err="1">
                <a:solidFill>
                  <a:schemeClr val="bg2"/>
                </a:solidFill>
                <a:latin typeface="+mj-lt"/>
                <a:ea typeface="Times New Roman"/>
                <a:cs typeface="Times New Roman"/>
                <a:sym typeface="Times New Roman"/>
              </a:rPr>
              <a:t>nums</a:t>
            </a:r>
            <a:r>
              <a:rPr lang="en-GB" sz="900" dirty="0">
                <a:solidFill>
                  <a:schemeClr val="bg2"/>
                </a:solidFill>
                <a:latin typeface="+mj-lt"/>
                <a:ea typeface="Times New Roman"/>
                <a:cs typeface="Times New Roman"/>
                <a:sym typeface="Times New Roman"/>
              </a:rPr>
              <a:t>) {}</a:t>
            </a:r>
          </a:p>
          <a:p>
            <a:pPr marL="342900" lvl="0" indent="-342900" algn="just">
              <a:lnSpc>
                <a:spcPct val="100000"/>
              </a:lnSpc>
              <a:spcBef>
                <a:spcPts val="0"/>
              </a:spcBef>
              <a:buNone/>
            </a:pPr>
            <a:r>
              <a:rPr lang="en-GB" sz="900" dirty="0">
                <a:solidFill>
                  <a:schemeClr val="bg2"/>
                </a:solidFill>
                <a:latin typeface="+mj-lt"/>
                <a:ea typeface="Times New Roman"/>
                <a:cs typeface="Times New Roman"/>
                <a:sym typeface="Times New Roman"/>
              </a:rPr>
              <a:t>C. function sum(</a:t>
            </a:r>
            <a:r>
              <a:rPr lang="en-GB" sz="900" dirty="0" err="1">
                <a:solidFill>
                  <a:schemeClr val="bg2"/>
                </a:solidFill>
                <a:latin typeface="+mj-lt"/>
                <a:ea typeface="Times New Roman"/>
                <a:cs typeface="Times New Roman"/>
                <a:sym typeface="Times New Roman"/>
              </a:rPr>
              <a:t>nums</a:t>
            </a:r>
            <a:r>
              <a:rPr lang="en-GB" sz="900" dirty="0">
                <a:solidFill>
                  <a:schemeClr val="bg2"/>
                </a:solidFill>
                <a:latin typeface="+mj-lt"/>
                <a:ea typeface="Times New Roman"/>
                <a:cs typeface="Times New Roman"/>
                <a:sym typeface="Times New Roman"/>
              </a:rPr>
              <a:t>...) {}</a:t>
            </a:r>
          </a:p>
          <a:p>
            <a:pPr marL="342900" lvl="0" indent="-342900" algn="just">
              <a:lnSpc>
                <a:spcPct val="100000"/>
              </a:lnSpc>
              <a:spcBef>
                <a:spcPts val="0"/>
              </a:spcBef>
              <a:buNone/>
            </a:pPr>
            <a:r>
              <a:rPr lang="en-GB" sz="900" dirty="0">
                <a:solidFill>
                  <a:schemeClr val="bg2"/>
                </a:solidFill>
                <a:latin typeface="+mj-lt"/>
                <a:ea typeface="Times New Roman"/>
                <a:cs typeface="Times New Roman"/>
                <a:sym typeface="Times New Roman"/>
              </a:rPr>
              <a:t>D. function sum(a, ...b, ...c) {}</a:t>
            </a:r>
          </a:p>
          <a:p>
            <a:pPr marL="342900" lvl="0" indent="-342900" algn="just">
              <a:lnSpc>
                <a:spcPct val="100000"/>
              </a:lnSpc>
              <a:spcBef>
                <a:spcPts val="0"/>
              </a:spcBef>
              <a:buNone/>
            </a:pPr>
            <a:endParaRPr lang="en-GB" sz="900" dirty="0">
              <a:solidFill>
                <a:schemeClr val="bg2"/>
              </a:solidFill>
              <a:latin typeface="+mj-lt"/>
              <a:ea typeface="Times New Roman"/>
              <a:cs typeface="Times New Roman"/>
              <a:sym typeface="Times New Roman"/>
            </a:endParaRPr>
          </a:p>
          <a:p>
            <a:pPr marL="342900" lvl="0" indent="-342900" algn="just">
              <a:lnSpc>
                <a:spcPct val="100000"/>
              </a:lnSpc>
              <a:spcBef>
                <a:spcPts val="0"/>
              </a:spcBef>
              <a:buNone/>
            </a:pPr>
            <a:r>
              <a:rPr lang="en-GB" sz="900" b="1" dirty="0">
                <a:solidFill>
                  <a:schemeClr val="bg2"/>
                </a:solidFill>
                <a:latin typeface="+mj-lt"/>
                <a:ea typeface="Times New Roman"/>
                <a:cs typeface="Times New Roman"/>
                <a:sym typeface="Times New Roman"/>
              </a:rPr>
              <a:t>Answer: B</a:t>
            </a:r>
          </a:p>
          <a:p>
            <a:pPr marL="342900" lvl="0" indent="-342900" algn="just">
              <a:lnSpc>
                <a:spcPct val="100000"/>
              </a:lnSpc>
              <a:spcBef>
                <a:spcPts val="0"/>
              </a:spcBef>
              <a:buNone/>
            </a:pPr>
            <a:endParaRPr lang="en-GB" sz="900" b="1" dirty="0">
              <a:solidFill>
                <a:schemeClr val="bg2"/>
              </a:solidFill>
              <a:latin typeface="+mj-lt"/>
              <a:ea typeface="Times New Roman"/>
              <a:cs typeface="Times New Roman"/>
              <a:sym typeface="Times New Roman"/>
            </a:endParaRPr>
          </a:p>
          <a:p>
            <a:pPr marL="342900" lvl="0" indent="-342900" algn="just">
              <a:lnSpc>
                <a:spcPct val="100000"/>
              </a:lnSpc>
              <a:spcBef>
                <a:spcPts val="0"/>
              </a:spcBef>
              <a:buNone/>
            </a:pPr>
            <a:r>
              <a:rPr lang="en-GB" sz="900" b="1" dirty="0">
                <a:solidFill>
                  <a:schemeClr val="bg2"/>
                </a:solidFill>
                <a:latin typeface="+mj-lt"/>
                <a:ea typeface="Times New Roman"/>
                <a:cs typeface="Times New Roman"/>
                <a:sym typeface="Times New Roman"/>
              </a:rPr>
              <a:t>3. Which statement about spread and rest operators is TRUE?</a:t>
            </a:r>
          </a:p>
          <a:p>
            <a:pPr marL="342900" lvl="0" indent="-342900" algn="just">
              <a:lnSpc>
                <a:spcPct val="100000"/>
              </a:lnSpc>
              <a:spcBef>
                <a:spcPts val="0"/>
              </a:spcBef>
              <a:buNone/>
            </a:pPr>
            <a:r>
              <a:rPr lang="en-GB" sz="900" dirty="0">
                <a:solidFill>
                  <a:schemeClr val="bg2"/>
                </a:solidFill>
                <a:latin typeface="+mj-lt"/>
                <a:ea typeface="Times New Roman"/>
                <a:cs typeface="Times New Roman"/>
                <a:sym typeface="Times New Roman"/>
              </a:rPr>
              <a:t>A. Both are used only with arrays</a:t>
            </a:r>
          </a:p>
          <a:p>
            <a:pPr marL="342900" lvl="0" indent="-342900" algn="just">
              <a:lnSpc>
                <a:spcPct val="100000"/>
              </a:lnSpc>
              <a:spcBef>
                <a:spcPts val="0"/>
              </a:spcBef>
              <a:buNone/>
            </a:pPr>
            <a:r>
              <a:rPr lang="en-GB" sz="900" dirty="0">
                <a:solidFill>
                  <a:schemeClr val="bg2"/>
                </a:solidFill>
                <a:latin typeface="+mj-lt"/>
                <a:ea typeface="Times New Roman"/>
                <a:cs typeface="Times New Roman"/>
                <a:sym typeface="Times New Roman"/>
              </a:rPr>
              <a:t>B. Spread collects values, rest expands values</a:t>
            </a:r>
          </a:p>
          <a:p>
            <a:pPr marL="342900" lvl="0" indent="-342900" algn="just">
              <a:lnSpc>
                <a:spcPct val="100000"/>
              </a:lnSpc>
              <a:spcBef>
                <a:spcPts val="0"/>
              </a:spcBef>
              <a:buNone/>
            </a:pPr>
            <a:r>
              <a:rPr lang="en-GB" sz="900" dirty="0">
                <a:solidFill>
                  <a:schemeClr val="bg2"/>
                </a:solidFill>
                <a:latin typeface="+mj-lt"/>
                <a:ea typeface="Times New Roman"/>
                <a:cs typeface="Times New Roman"/>
                <a:sym typeface="Times New Roman"/>
              </a:rPr>
              <a:t>C. Spread expands values, rest collects values</a:t>
            </a:r>
          </a:p>
          <a:p>
            <a:pPr marL="342900" lvl="0" indent="-342900" algn="just">
              <a:lnSpc>
                <a:spcPct val="100000"/>
              </a:lnSpc>
              <a:spcBef>
                <a:spcPts val="0"/>
              </a:spcBef>
              <a:buNone/>
            </a:pPr>
            <a:r>
              <a:rPr lang="en-GB" sz="900" dirty="0">
                <a:solidFill>
                  <a:schemeClr val="bg2"/>
                </a:solidFill>
                <a:latin typeface="+mj-lt"/>
                <a:ea typeface="Times New Roman"/>
                <a:cs typeface="Times New Roman"/>
                <a:sym typeface="Times New Roman"/>
              </a:rPr>
              <a:t>D. Both work only in functions</a:t>
            </a:r>
          </a:p>
          <a:p>
            <a:pPr marL="342900" lvl="0" indent="-342900" algn="just">
              <a:lnSpc>
                <a:spcPct val="100000"/>
              </a:lnSpc>
              <a:spcBef>
                <a:spcPts val="0"/>
              </a:spcBef>
              <a:buNone/>
            </a:pPr>
            <a:endParaRPr lang="en-GB" sz="900" dirty="0">
              <a:solidFill>
                <a:schemeClr val="bg2"/>
              </a:solidFill>
              <a:latin typeface="+mj-lt"/>
              <a:ea typeface="Times New Roman"/>
              <a:cs typeface="Times New Roman"/>
              <a:sym typeface="Times New Roman"/>
            </a:endParaRPr>
          </a:p>
          <a:p>
            <a:pPr marL="342900" lvl="0" indent="-342900" algn="just">
              <a:lnSpc>
                <a:spcPct val="100000"/>
              </a:lnSpc>
              <a:spcBef>
                <a:spcPts val="0"/>
              </a:spcBef>
              <a:buNone/>
            </a:pPr>
            <a:r>
              <a:rPr lang="en-GB" sz="900" b="1" dirty="0">
                <a:solidFill>
                  <a:schemeClr val="bg2"/>
                </a:solidFill>
                <a:latin typeface="+mj-lt"/>
                <a:ea typeface="Times New Roman"/>
                <a:cs typeface="Times New Roman"/>
                <a:sym typeface="Times New Roman"/>
              </a:rPr>
              <a:t>Answer: C</a:t>
            </a:r>
          </a:p>
          <a:p>
            <a:pPr marL="342900" lvl="0" indent="-342900" algn="just">
              <a:lnSpc>
                <a:spcPct val="100000"/>
              </a:lnSpc>
              <a:spcBef>
                <a:spcPts val="0"/>
              </a:spcBef>
              <a:buNone/>
            </a:pPr>
            <a:endParaRPr lang="en-GB" sz="900" b="1" dirty="0">
              <a:solidFill>
                <a:schemeClr val="bg2"/>
              </a:solidFill>
              <a:latin typeface="+mj-lt"/>
              <a:ea typeface="Times New Roman"/>
              <a:cs typeface="Times New Roman"/>
              <a:sym typeface="Times New Roman"/>
            </a:endParaRPr>
          </a:p>
          <a:p>
            <a:pPr marL="342900" lvl="0" indent="-342900" algn="just">
              <a:lnSpc>
                <a:spcPct val="100000"/>
              </a:lnSpc>
              <a:spcBef>
                <a:spcPts val="0"/>
              </a:spcBef>
              <a:buNone/>
            </a:pPr>
            <a:r>
              <a:rPr lang="en-GB" sz="900" b="1" dirty="0">
                <a:solidFill>
                  <a:schemeClr val="bg2"/>
                </a:solidFill>
                <a:latin typeface="+mj-lt"/>
                <a:ea typeface="Times New Roman"/>
                <a:cs typeface="Times New Roman"/>
                <a:sym typeface="Times New Roman"/>
              </a:rPr>
              <a:t>4. What will be the output of the following code?</a:t>
            </a:r>
          </a:p>
          <a:p>
            <a:pPr marL="342900" lvl="0" indent="-342900" algn="just">
              <a:lnSpc>
                <a:spcPct val="100000"/>
              </a:lnSpc>
              <a:spcBef>
                <a:spcPts val="0"/>
              </a:spcBef>
              <a:buNone/>
            </a:pPr>
            <a:endParaRPr lang="en-GB" sz="900" dirty="0">
              <a:solidFill>
                <a:schemeClr val="bg2"/>
              </a:solidFill>
              <a:latin typeface="+mj-lt"/>
              <a:ea typeface="Times New Roman"/>
              <a:cs typeface="Times New Roman"/>
              <a:sym typeface="Times New Roman"/>
            </a:endParaRPr>
          </a:p>
          <a:p>
            <a:pPr marL="342900" lvl="0" indent="-342900" algn="just">
              <a:lnSpc>
                <a:spcPct val="100000"/>
              </a:lnSpc>
              <a:spcBef>
                <a:spcPts val="0"/>
              </a:spcBef>
              <a:buNone/>
            </a:pPr>
            <a:r>
              <a:rPr lang="en-GB" sz="900" dirty="0" err="1">
                <a:solidFill>
                  <a:schemeClr val="bg2"/>
                </a:solidFill>
                <a:latin typeface="+mj-lt"/>
                <a:ea typeface="Times New Roman"/>
                <a:cs typeface="Times New Roman"/>
                <a:sym typeface="Times New Roman"/>
              </a:rPr>
              <a:t>const</a:t>
            </a:r>
            <a:r>
              <a:rPr lang="en-GB" sz="900" dirty="0">
                <a:solidFill>
                  <a:schemeClr val="bg2"/>
                </a:solidFill>
                <a:latin typeface="+mj-lt"/>
                <a:ea typeface="Times New Roman"/>
                <a:cs typeface="Times New Roman"/>
                <a:sym typeface="Times New Roman"/>
              </a:rPr>
              <a:t> </a:t>
            </a:r>
            <a:r>
              <a:rPr lang="en-GB" sz="900" dirty="0" err="1">
                <a:solidFill>
                  <a:schemeClr val="bg2"/>
                </a:solidFill>
                <a:latin typeface="+mj-lt"/>
                <a:ea typeface="Times New Roman"/>
                <a:cs typeface="Times New Roman"/>
                <a:sym typeface="Times New Roman"/>
              </a:rPr>
              <a:t>arr</a:t>
            </a:r>
            <a:r>
              <a:rPr lang="en-GB" sz="900" dirty="0">
                <a:solidFill>
                  <a:schemeClr val="bg2"/>
                </a:solidFill>
                <a:latin typeface="+mj-lt"/>
                <a:ea typeface="Times New Roman"/>
                <a:cs typeface="Times New Roman"/>
                <a:sym typeface="Times New Roman"/>
              </a:rPr>
              <a:t> = [1, 2, 3];</a:t>
            </a:r>
          </a:p>
          <a:p>
            <a:pPr marL="342900" lvl="0" indent="-342900" algn="just">
              <a:lnSpc>
                <a:spcPct val="100000"/>
              </a:lnSpc>
              <a:spcBef>
                <a:spcPts val="0"/>
              </a:spcBef>
              <a:buNone/>
            </a:pPr>
            <a:r>
              <a:rPr lang="en-GB" sz="900" dirty="0" err="1">
                <a:solidFill>
                  <a:schemeClr val="bg2"/>
                </a:solidFill>
                <a:latin typeface="+mj-lt"/>
                <a:ea typeface="Times New Roman"/>
                <a:cs typeface="Times New Roman"/>
                <a:sym typeface="Times New Roman"/>
              </a:rPr>
              <a:t>const</a:t>
            </a:r>
            <a:r>
              <a:rPr lang="en-GB" sz="900" dirty="0">
                <a:solidFill>
                  <a:schemeClr val="bg2"/>
                </a:solidFill>
                <a:latin typeface="+mj-lt"/>
                <a:ea typeface="Times New Roman"/>
                <a:cs typeface="Times New Roman"/>
                <a:sym typeface="Times New Roman"/>
              </a:rPr>
              <a:t> </a:t>
            </a:r>
            <a:r>
              <a:rPr lang="en-GB" sz="900" dirty="0" err="1">
                <a:solidFill>
                  <a:schemeClr val="bg2"/>
                </a:solidFill>
                <a:latin typeface="+mj-lt"/>
                <a:ea typeface="Times New Roman"/>
                <a:cs typeface="Times New Roman"/>
                <a:sym typeface="Times New Roman"/>
              </a:rPr>
              <a:t>newArr</a:t>
            </a:r>
            <a:r>
              <a:rPr lang="en-GB" sz="900" dirty="0">
                <a:solidFill>
                  <a:schemeClr val="bg2"/>
                </a:solidFill>
                <a:latin typeface="+mj-lt"/>
                <a:ea typeface="Times New Roman"/>
                <a:cs typeface="Times New Roman"/>
                <a:sym typeface="Times New Roman"/>
              </a:rPr>
              <a:t> = [...</a:t>
            </a:r>
            <a:r>
              <a:rPr lang="en-GB" sz="900" dirty="0" err="1">
                <a:solidFill>
                  <a:schemeClr val="bg2"/>
                </a:solidFill>
                <a:latin typeface="+mj-lt"/>
                <a:ea typeface="Times New Roman"/>
                <a:cs typeface="Times New Roman"/>
                <a:sym typeface="Times New Roman"/>
              </a:rPr>
              <a:t>arr</a:t>
            </a:r>
            <a:r>
              <a:rPr lang="en-GB" sz="900" dirty="0">
                <a:solidFill>
                  <a:schemeClr val="bg2"/>
                </a:solidFill>
                <a:latin typeface="+mj-lt"/>
                <a:ea typeface="Times New Roman"/>
                <a:cs typeface="Times New Roman"/>
                <a:sym typeface="Times New Roman"/>
              </a:rPr>
              <a:t>, 4];</a:t>
            </a:r>
          </a:p>
          <a:p>
            <a:pPr marL="342900" lvl="0" indent="-342900" algn="just">
              <a:lnSpc>
                <a:spcPct val="100000"/>
              </a:lnSpc>
              <a:spcBef>
                <a:spcPts val="0"/>
              </a:spcBef>
              <a:buNone/>
            </a:pPr>
            <a:r>
              <a:rPr lang="en-GB" sz="900" dirty="0">
                <a:solidFill>
                  <a:schemeClr val="bg2"/>
                </a:solidFill>
                <a:latin typeface="+mj-lt"/>
                <a:ea typeface="Times New Roman"/>
                <a:cs typeface="Times New Roman"/>
                <a:sym typeface="Times New Roman"/>
              </a:rPr>
              <a:t>console.log(</a:t>
            </a:r>
            <a:r>
              <a:rPr lang="en-GB" sz="900" dirty="0" err="1">
                <a:solidFill>
                  <a:schemeClr val="bg2"/>
                </a:solidFill>
                <a:latin typeface="+mj-lt"/>
                <a:ea typeface="Times New Roman"/>
                <a:cs typeface="Times New Roman"/>
                <a:sym typeface="Times New Roman"/>
              </a:rPr>
              <a:t>newArr</a:t>
            </a:r>
            <a:r>
              <a:rPr lang="en-GB" sz="900" dirty="0">
                <a:solidFill>
                  <a:schemeClr val="bg2"/>
                </a:solidFill>
                <a:latin typeface="+mj-lt"/>
                <a:ea typeface="Times New Roman"/>
                <a:cs typeface="Times New Roman"/>
                <a:sym typeface="Times New Roman"/>
              </a:rPr>
              <a:t>);</a:t>
            </a:r>
          </a:p>
          <a:p>
            <a:pPr marL="342900" lvl="0" indent="-342900" algn="just">
              <a:lnSpc>
                <a:spcPct val="100000"/>
              </a:lnSpc>
              <a:spcBef>
                <a:spcPts val="0"/>
              </a:spcBef>
              <a:buNone/>
            </a:pPr>
            <a:endParaRPr lang="en-GB" sz="900" dirty="0">
              <a:solidFill>
                <a:schemeClr val="bg2"/>
              </a:solidFill>
              <a:latin typeface="+mj-lt"/>
              <a:ea typeface="Times New Roman"/>
              <a:cs typeface="Times New Roman"/>
              <a:sym typeface="Times New Roman"/>
            </a:endParaRPr>
          </a:p>
          <a:p>
            <a:pPr marL="342900" lvl="0" indent="-342900" algn="just">
              <a:lnSpc>
                <a:spcPct val="100000"/>
              </a:lnSpc>
              <a:spcBef>
                <a:spcPts val="0"/>
              </a:spcBef>
              <a:buNone/>
            </a:pPr>
            <a:endParaRPr lang="en-GB" sz="900" dirty="0">
              <a:solidFill>
                <a:schemeClr val="bg2"/>
              </a:solidFill>
              <a:latin typeface="+mj-lt"/>
              <a:ea typeface="Times New Roman"/>
              <a:cs typeface="Times New Roman"/>
              <a:sym typeface="Times New Roman"/>
            </a:endParaRPr>
          </a:p>
          <a:p>
            <a:pPr marL="342900" lvl="0" indent="-342900" algn="just">
              <a:lnSpc>
                <a:spcPct val="100000"/>
              </a:lnSpc>
              <a:spcBef>
                <a:spcPts val="0"/>
              </a:spcBef>
              <a:buNone/>
            </a:pPr>
            <a:r>
              <a:rPr lang="en-GB" sz="900" dirty="0">
                <a:solidFill>
                  <a:schemeClr val="bg2"/>
                </a:solidFill>
                <a:latin typeface="+mj-lt"/>
                <a:ea typeface="Times New Roman"/>
                <a:cs typeface="Times New Roman"/>
                <a:sym typeface="Times New Roman"/>
              </a:rPr>
              <a:t>A. [1, 2, 3]</a:t>
            </a:r>
          </a:p>
          <a:p>
            <a:pPr marL="342900" lvl="0" indent="-342900" algn="just">
              <a:lnSpc>
                <a:spcPct val="100000"/>
              </a:lnSpc>
              <a:spcBef>
                <a:spcPts val="0"/>
              </a:spcBef>
              <a:buNone/>
            </a:pPr>
            <a:r>
              <a:rPr lang="en-GB" sz="900" dirty="0">
                <a:solidFill>
                  <a:schemeClr val="bg2"/>
                </a:solidFill>
                <a:latin typeface="+mj-lt"/>
                <a:ea typeface="Times New Roman"/>
                <a:cs typeface="Times New Roman"/>
                <a:sym typeface="Times New Roman"/>
              </a:rPr>
              <a:t>B. [4, 1, 2, 3]</a:t>
            </a:r>
          </a:p>
          <a:p>
            <a:pPr marL="342900" lvl="0" indent="-342900" algn="just">
              <a:lnSpc>
                <a:spcPct val="100000"/>
              </a:lnSpc>
              <a:spcBef>
                <a:spcPts val="0"/>
              </a:spcBef>
              <a:buNone/>
            </a:pPr>
            <a:r>
              <a:rPr lang="en-GB" sz="900" dirty="0">
                <a:solidFill>
                  <a:schemeClr val="bg2"/>
                </a:solidFill>
                <a:latin typeface="+mj-lt"/>
                <a:ea typeface="Times New Roman"/>
                <a:cs typeface="Times New Roman"/>
                <a:sym typeface="Times New Roman"/>
              </a:rPr>
              <a:t>C. [1, 2, 3, 4]</a:t>
            </a:r>
          </a:p>
          <a:p>
            <a:pPr marL="342900" lvl="0" indent="-342900" algn="just">
              <a:lnSpc>
                <a:spcPct val="100000"/>
              </a:lnSpc>
              <a:spcBef>
                <a:spcPts val="0"/>
              </a:spcBef>
              <a:buNone/>
            </a:pPr>
            <a:r>
              <a:rPr lang="en-GB" sz="900" dirty="0">
                <a:solidFill>
                  <a:schemeClr val="bg2"/>
                </a:solidFill>
                <a:latin typeface="+mj-lt"/>
                <a:ea typeface="Times New Roman"/>
                <a:cs typeface="Times New Roman"/>
                <a:sym typeface="Times New Roman"/>
              </a:rPr>
              <a:t>D. Error</a:t>
            </a:r>
          </a:p>
          <a:p>
            <a:pPr marL="342900" lvl="0" indent="-342900" algn="just">
              <a:lnSpc>
                <a:spcPct val="100000"/>
              </a:lnSpc>
              <a:spcBef>
                <a:spcPts val="0"/>
              </a:spcBef>
              <a:buNone/>
            </a:pPr>
            <a:endParaRPr lang="en-GB" sz="900" dirty="0">
              <a:solidFill>
                <a:schemeClr val="bg2"/>
              </a:solidFill>
              <a:latin typeface="+mj-lt"/>
              <a:ea typeface="Times New Roman"/>
              <a:cs typeface="Times New Roman"/>
              <a:sym typeface="Times New Roman"/>
            </a:endParaRPr>
          </a:p>
          <a:p>
            <a:pPr marL="342900" lvl="0" indent="-342900" algn="just">
              <a:lnSpc>
                <a:spcPct val="100000"/>
              </a:lnSpc>
              <a:spcBef>
                <a:spcPts val="0"/>
              </a:spcBef>
              <a:buNone/>
            </a:pPr>
            <a:r>
              <a:rPr lang="en-GB" sz="900" b="1" dirty="0">
                <a:solidFill>
                  <a:schemeClr val="bg2"/>
                </a:solidFill>
                <a:latin typeface="+mj-lt"/>
                <a:ea typeface="Times New Roman"/>
                <a:cs typeface="Times New Roman"/>
                <a:sym typeface="Times New Roman"/>
              </a:rPr>
              <a:t>Answer: C</a:t>
            </a:r>
            <a:endParaRPr sz="900" b="1" i="0" u="none" dirty="0">
              <a:solidFill>
                <a:schemeClr val="bg2"/>
              </a:solidFill>
              <a:latin typeface="+mj-lt"/>
              <a:ea typeface="Times New Roman"/>
              <a:cs typeface="Times New Roman"/>
              <a:sym typeface="Times New Roman"/>
            </a:endParaRPr>
          </a:p>
        </p:txBody>
      </p:sp>
      <p:sp>
        <p:nvSpPr>
          <p:cNvPr id="6" name="TextBox 5"/>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13</a:t>
            </a:r>
          </a:p>
        </p:txBody>
      </p:sp>
    </p:spTree>
    <p:extLst>
      <p:ext uri="{BB962C8B-B14F-4D97-AF65-F5344CB8AC3E}">
        <p14:creationId xmlns:p14="http://schemas.microsoft.com/office/powerpoint/2010/main" val="30270363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E23510B7-C3A2-E27A-3736-0F10336312B0}"/>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78445F02-A161-533C-83C3-5BC21C2F7F4B}"/>
              </a:ext>
            </a:extLst>
          </p:cNvPr>
          <p:cNvGrpSpPr/>
          <p:nvPr/>
        </p:nvGrpSpPr>
        <p:grpSpPr>
          <a:xfrm>
            <a:off x="748144" y="218172"/>
            <a:ext cx="8277101" cy="444600"/>
            <a:chOff x="0" y="6299"/>
            <a:chExt cx="5580934" cy="444600"/>
          </a:xfrm>
          <a:noFill/>
        </p:grpSpPr>
        <p:sp>
          <p:nvSpPr>
            <p:cNvPr id="109" name="Google Shape;109;p2">
              <a:extLst>
                <a:ext uri="{FF2B5EF4-FFF2-40B4-BE49-F238E27FC236}">
                  <a16:creationId xmlns:a16="http://schemas.microsoft.com/office/drawing/2014/main" id="{20A44487-169C-8822-4CE0-BBB62C89DEBF}"/>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67D92D25-44E7-E9BB-697B-B5F6A519F27B}"/>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rPr>
                <a:t>R</a:t>
              </a: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eferences/ Articles/ Videos</a:t>
              </a:r>
            </a:p>
          </p:txBody>
        </p:sp>
      </p:grpSp>
      <p:sp>
        <p:nvSpPr>
          <p:cNvPr id="111" name="Google Shape;111;p2">
            <a:extLst>
              <a:ext uri="{FF2B5EF4-FFF2-40B4-BE49-F238E27FC236}">
                <a16:creationId xmlns:a16="http://schemas.microsoft.com/office/drawing/2014/main" id="{95329CA0-B433-F78D-DDAC-218F49813DA1}"/>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1" i="0" u="none" strike="noStrike" cap="none">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0" i="0" u="none">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E730872A-040D-2549-AF98-86A7A4840E43}"/>
              </a:ext>
            </a:extLst>
          </p:cNvPr>
          <p:cNvSpPr txBox="1"/>
          <p:nvPr/>
        </p:nvSpPr>
        <p:spPr>
          <a:xfrm>
            <a:off x="385500" y="1422025"/>
            <a:ext cx="8942119" cy="2656071"/>
          </a:xfrm>
          <a:prstGeom prst="rect">
            <a:avLst/>
          </a:prstGeom>
          <a:noFill/>
          <a:ln>
            <a:noFill/>
          </a:ln>
        </p:spPr>
        <p:txBody>
          <a:bodyPr spcFirstLastPara="1" wrap="square" lIns="91425" tIns="45700" rIns="91425" bIns="45700" anchor="t" anchorCtr="0">
            <a:spAutoFit/>
          </a:bodyPr>
          <a:lstStyle/>
          <a:p>
            <a:r>
              <a:rPr lang="en-IN" dirty="0"/>
              <a:t>• MDN Web Docs – </a:t>
            </a:r>
            <a:r>
              <a:rPr lang="en-IN" i="1" dirty="0"/>
              <a:t>Spread Syntax</a:t>
            </a:r>
            <a:br>
              <a:rPr lang="en-IN" dirty="0"/>
            </a:br>
            <a:r>
              <a:rPr lang="en-IN" dirty="0">
                <a:hlinkClick r:id="rId3"/>
              </a:rPr>
              <a:t>https://developer.mozilla.org/en-US/docs/Web/JavaScript/Reference/Operators/Spread_syntax</a:t>
            </a:r>
            <a:endParaRPr lang="en-IN" dirty="0"/>
          </a:p>
          <a:p>
            <a:endParaRPr lang="en-IN" dirty="0"/>
          </a:p>
          <a:p>
            <a:r>
              <a:rPr lang="en-IN" dirty="0"/>
              <a:t>• JavaScript.info – </a:t>
            </a:r>
            <a:r>
              <a:rPr lang="en-IN" i="1" dirty="0"/>
              <a:t>Spread Operator</a:t>
            </a:r>
            <a:br>
              <a:rPr lang="en-IN" dirty="0"/>
            </a:br>
            <a:r>
              <a:rPr lang="en-IN" dirty="0">
                <a:hlinkClick r:id="rId4"/>
              </a:rPr>
              <a:t>https://javascript.info/rest-parameters-spread</a:t>
            </a:r>
            <a:endParaRPr lang="en-IN" dirty="0"/>
          </a:p>
          <a:p>
            <a:endParaRPr lang="en-IN" dirty="0"/>
          </a:p>
          <a:p>
            <a:r>
              <a:rPr lang="en-IN" dirty="0"/>
              <a:t>• W3Schools – </a:t>
            </a:r>
            <a:r>
              <a:rPr lang="en-IN" i="1" dirty="0"/>
              <a:t>JavaScript ES6 (Spread Operator)</a:t>
            </a:r>
            <a:br>
              <a:rPr lang="en-IN" dirty="0"/>
            </a:br>
            <a:r>
              <a:rPr lang="en-IN" dirty="0">
                <a:hlinkClick r:id="rId5"/>
              </a:rPr>
              <a:t>https://www.w3schools.com/js/js_es6.asp</a:t>
            </a:r>
            <a:endParaRPr lang="en-IN" dirty="0"/>
          </a:p>
          <a:p>
            <a:endParaRPr lang="en-IN" dirty="0"/>
          </a:p>
          <a:p>
            <a:r>
              <a:rPr lang="en-IN" dirty="0"/>
              <a:t>• ECMA International – </a:t>
            </a:r>
            <a:r>
              <a:rPr lang="en-IN" i="1" dirty="0"/>
              <a:t>ECMAScript 2015 (ES6) Specification</a:t>
            </a:r>
            <a:br>
              <a:rPr lang="en-IN" dirty="0"/>
            </a:br>
            <a:r>
              <a:rPr lang="en-IN" dirty="0">
                <a:hlinkClick r:id="rId6"/>
              </a:rPr>
              <a:t>https://262.ecma-international.org/6.0/</a:t>
            </a:r>
            <a:endParaRPr lang="en-IN" dirty="0"/>
          </a:p>
          <a:p>
            <a:pPr lvl="0" algn="just">
              <a:lnSpc>
                <a:spcPct val="90000"/>
              </a:lnSpc>
            </a:pPr>
            <a:endParaRPr lang="en-US" dirty="0">
              <a:solidFill>
                <a:schemeClr val="bg2"/>
              </a:solidFill>
              <a:latin typeface="Calibri" panose="020F0502020204030204" pitchFamily="34" charset="0"/>
              <a:ea typeface="Calibri" panose="020F0502020204030204" pitchFamily="34" charset="0"/>
              <a:cs typeface="Calibri" panose="020F0502020204030204" pitchFamily="34" charset="0"/>
            </a:endParaRPr>
          </a:p>
        </p:txBody>
      </p:sp>
      <p:sp>
        <p:nvSpPr>
          <p:cNvPr id="7" name="TextBox 6"/>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14</a:t>
            </a:r>
          </a:p>
        </p:txBody>
      </p:sp>
    </p:spTree>
    <p:extLst>
      <p:ext uri="{BB962C8B-B14F-4D97-AF65-F5344CB8AC3E}">
        <p14:creationId xmlns:p14="http://schemas.microsoft.com/office/powerpoint/2010/main" val="22947860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A55AB18-D4CA-00FD-9048-6518AF6BFBD1}"/>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F1900A86-A15B-28B5-54CA-49F17AC3B9FE}"/>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11F095B4-BE95-F6C7-73C0-ED3F8AB0372C}"/>
              </a:ext>
            </a:extLst>
          </p:cNvPr>
          <p:cNvSpPr txBox="1"/>
          <p:nvPr/>
        </p:nvSpPr>
        <p:spPr>
          <a:xfrm>
            <a:off x="385500" y="2170166"/>
            <a:ext cx="8471559" cy="1200288"/>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None/>
            </a:pPr>
            <a:r>
              <a:rPr lang="en-US" sz="8000" b="1" u="none" strike="noStrike" cap="none" dirty="0">
                <a:solidFill>
                  <a:srgbClr val="FF0000"/>
                </a:solidFill>
                <a:latin typeface="Vladimir Script" panose="03050402040407070305" pitchFamily="66" charset="0"/>
                <a:ea typeface="Calibri" panose="020F0502020204030204" pitchFamily="34" charset="0"/>
                <a:cs typeface="Calibri" panose="020F0502020204030204" pitchFamily="34" charset="0"/>
                <a:sym typeface="Arial"/>
              </a:rPr>
              <a:t>Thank You</a:t>
            </a:r>
          </a:p>
        </p:txBody>
      </p:sp>
      <p:sp>
        <p:nvSpPr>
          <p:cNvPr id="3" name="TextBox 2">
            <a:extLst>
              <a:ext uri="{FF2B5EF4-FFF2-40B4-BE49-F238E27FC236}">
                <a16:creationId xmlns:a16="http://schemas.microsoft.com/office/drawing/2014/main" id="{B12A2976-DC1D-EB73-7C31-7FA517DF4948}"/>
              </a:ext>
            </a:extLst>
          </p:cNvPr>
          <p:cNvSpPr txBox="1"/>
          <p:nvPr/>
        </p:nvSpPr>
        <p:spPr>
          <a:xfrm>
            <a:off x="385500" y="3948192"/>
            <a:ext cx="4572000" cy="707886"/>
          </a:xfrm>
          <a:prstGeom prst="rect">
            <a:avLst/>
          </a:prstGeom>
          <a:noFill/>
        </p:spPr>
        <p:txBody>
          <a:bodyPr wrap="square">
            <a:sp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For queries</a:t>
            </a:r>
          </a:p>
          <a:p>
            <a:r>
              <a:rPr lang="en-US" sz="2000" dirty="0">
                <a:latin typeface="Calibri" panose="020F0502020204030204" pitchFamily="34" charset="0"/>
                <a:ea typeface="Calibri" panose="020F0502020204030204" pitchFamily="34" charset="0"/>
                <a:cs typeface="Calibri" panose="020F0502020204030204" pitchFamily="34" charset="0"/>
              </a:rPr>
              <a:t>Email: tushar.e18319@cumail.in</a:t>
            </a:r>
          </a:p>
        </p:txBody>
      </p:sp>
      <p:sp>
        <p:nvSpPr>
          <p:cNvPr id="5" name="TextBox 4"/>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15</a:t>
            </a:r>
          </a:p>
        </p:txBody>
      </p:sp>
    </p:spTree>
    <p:extLst>
      <p:ext uri="{BB962C8B-B14F-4D97-AF65-F5344CB8AC3E}">
        <p14:creationId xmlns:p14="http://schemas.microsoft.com/office/powerpoint/2010/main" val="1786127203"/>
      </p:ext>
    </p:extLst>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2906</TotalTime>
  <Words>1686</Words>
  <Application>Microsoft Office PowerPoint</Application>
  <PresentationFormat>On-screen Show (16:9)</PresentationFormat>
  <Paragraphs>269</Paragraphs>
  <Slides>16</Slides>
  <Notes>16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16</vt:i4>
      </vt:variant>
    </vt:vector>
  </HeadingPairs>
  <TitlesOfParts>
    <vt:vector size="26" baseType="lpstr">
      <vt:lpstr>Arial Black</vt:lpstr>
      <vt:lpstr>Calibri</vt:lpstr>
      <vt:lpstr>Arial</vt:lpstr>
      <vt:lpstr>Wingdings</vt:lpstr>
      <vt:lpstr>inherit</vt:lpstr>
      <vt:lpstr>Vladimir Script</vt:lpstr>
      <vt:lpstr>Lato</vt:lpstr>
      <vt:lpstr>Times New Roman</vt:lpstr>
      <vt:lpstr>Cambria</vt:lpstr>
      <vt:lpstr>Streamline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Tushar Sood</dc:creator>
  <cp:lastModifiedBy>Pankaj</cp:lastModifiedBy>
  <cp:revision>79</cp:revision>
  <dcterms:modified xsi:type="dcterms:W3CDTF">2025-12-14T08:38:37Z</dcterms:modified>
</cp:coreProperties>
</file>