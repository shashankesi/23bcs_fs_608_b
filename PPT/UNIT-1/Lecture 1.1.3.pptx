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83" r:id="rId3"/>
    <p:sldId id="306" r:id="rId4"/>
    <p:sldId id="285" r:id="rId5"/>
    <p:sldId id="309" r:id="rId6"/>
    <p:sldId id="312" r:id="rId7"/>
    <p:sldId id="313" r:id="rId8"/>
    <p:sldId id="331" r:id="rId9"/>
    <p:sldId id="332" r:id="rId10"/>
    <p:sldId id="333" r:id="rId11"/>
    <p:sldId id="334" r:id="rId12"/>
    <p:sldId id="335" r:id="rId13"/>
    <p:sldId id="336" r:id="rId14"/>
    <p:sldId id="337" r:id="rId15"/>
    <p:sldId id="288" r:id="rId16"/>
    <p:sldId id="300" r:id="rId17"/>
    <p:sldId id="305" r:id="rId18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Lato" panose="020F0502020204030203" pitchFamily="34" charset="0"/>
      <p:regular r:id="rId25"/>
      <p:bold r:id="rId26"/>
      <p:italic r:id="rId27"/>
      <p:boldItalic r:id="rId28"/>
    </p:embeddedFont>
    <p:embeddedFont>
      <p:font typeface="Vladimir Script" panose="03050402040407070305" pitchFamily="66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6"/>
  </p:normalViewPr>
  <p:slideViewPr>
    <p:cSldViewPr snapToGrid="0">
      <p:cViewPr varScale="1">
        <p:scale>
          <a:sx n="103" d="100"/>
          <a:sy n="103" d="100"/>
        </p:scale>
        <p:origin x="811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4E6E191-7A3F-DDE5-9BE0-7C2318399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214E21D-CF7D-5069-DDED-FD92C19088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916B821-9BB8-4C7C-D798-8C8AC1714A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759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E93D42F-A578-35C8-4DE2-AFBF6F7B5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5B0AE6F-9BF3-05DC-A9E3-C4AEA6BC74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3C5276FB-61A1-1D7F-1C2B-F453FE277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14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A40620E-3089-5F8D-090A-DB7E941B5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3026ADA-F4BD-437C-FBCE-91ADC10560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74D4E52-C230-743D-BB4C-629D38BE18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426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F2EAF43-0C35-C400-0344-3B8A96A4B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6AF32E5-F98E-803F-46B8-3280593DB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E15BFB9-CC2F-AB67-25B2-F78994C09E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965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2FB2EF6-F1D7-957A-6C71-777D7B36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591C234-8E88-3C19-C560-1B987DDF1A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9EC9A32-A619-030A-C7F5-6D4C04189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464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972A8C1-4C75-F39C-F400-A20161F2F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EED3C96-130B-244C-5E9B-499ACAE494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C90747C-F4D4-6666-14F3-D743AC7DED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41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6DAA5FC-9AC5-A424-7F7A-3F2ECBB4B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67629C53-2DD9-79F0-A806-110197D39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47C0093-047F-CC0C-D63A-899E53E9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825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54963ED3-C8E0-20E9-8258-D4135EBE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A95CA72-7B27-3900-CA5D-36A6F8A101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6A45E7E-0D78-6E70-A79A-F39E8140C0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770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FABBDB4-5F2D-23C8-F3AF-340E1E0CC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2BE700-45E2-21A3-DCD5-7800A32343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8E5ADFF3-C8F4-7A6D-26DF-A57A6DE054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4914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D5BC3CF-33E1-F01F-3243-040A7759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F9F8438-3AF8-985D-502F-55D029F386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30ECB1F3-8D78-B34B-454E-A82BA8285A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6767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reference/react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react/react_hooks.asp" TargetMode="External"/><Relationship Id="rId5" Type="http://schemas.openxmlformats.org/officeDocument/2006/relationships/hyperlink" Target="https://react.dev/reference/react/useEffect" TargetMode="External"/><Relationship Id="rId4" Type="http://schemas.openxmlformats.org/officeDocument/2006/relationships/hyperlink" Target="https://react.dev/reference/react/useState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14350" y="751231"/>
            <a:ext cx="8213400" cy="4322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ENGINEERING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</a:t>
            </a:r>
            <a:r>
              <a:rPr lang="en-US" sz="3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Of Computer Science &amp; Engineering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Computer Science </a:t>
            </a:r>
            <a:r>
              <a:rPr lang="en-US" sz="2000" b="0" i="0" u="none" strike="noStrike" cap="none" baseline="30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6th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</a:t>
            </a:r>
            <a:endParaRPr lang="en-US" baseline="30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1" dirty="0"/>
              <a:t>Full Stack Development – II</a:t>
            </a: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en-GB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23CSH-309/23ITH-309</a:t>
            </a:r>
            <a:r>
              <a:rPr lang="en-GB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Chapter No. 1                    Lecture No.3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State, useState, useEffect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Er. Tushar Sood (E18319)                                                       Technical Trainer(CSE)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FDFB5912-E799-63B5-2CF1-182A365BA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4078" y="1433075"/>
            <a:ext cx="903992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Understanding the concept of state in React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Explaining the purpose of </a:t>
            </a:r>
            <a:r>
              <a:rPr lang="en-GB" altLang="en-US" sz="1800" dirty="0" err="1">
                <a:solidFill>
                  <a:schemeClr val="bg2"/>
                </a:solidFill>
                <a:latin typeface="+mj-lt"/>
              </a:rPr>
              <a:t>useState</a:t>
            </a: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 Hook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Updating and managing component state correctly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Understanding side effects in React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Using </a:t>
            </a:r>
            <a:r>
              <a:rPr lang="en-GB" altLang="en-US" sz="1800" dirty="0" err="1">
                <a:solidFill>
                  <a:schemeClr val="bg2"/>
                </a:solidFill>
                <a:latin typeface="+mj-lt"/>
              </a:rPr>
              <a:t>useEffect</a:t>
            </a: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 Hook for lifecycle operations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748144" y="218172"/>
            <a:ext cx="8277101" cy="571932"/>
            <a:chOff x="0" y="6299"/>
            <a:chExt cx="5580934" cy="57193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0" y="17703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4000" b="1" dirty="0"/>
                <a:t>What is State in React?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333551" y="1262827"/>
            <a:ext cx="8810449" cy="3662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State is a built-in object in React that stores data which can change over time.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dirty="0"/>
              <a:t>It represents the current condition of a component and directly affects how the component is rendered on the UI.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600" dirty="0"/>
          </a:p>
          <a:p>
            <a:r>
              <a:rPr lang="en-GB" sz="1600" dirty="0"/>
              <a:t>Unlike props, state is: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Mutable (can be changed)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Local to the component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Controlled and updated using special functions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600" dirty="0"/>
          </a:p>
          <a:p>
            <a:r>
              <a:rPr lang="en-GB" sz="1600" dirty="0"/>
              <a:t>Whenever the state changes, React re-renders the component automatically to reflect the updated data.</a:t>
            </a:r>
            <a:endParaRPr lang="en-US" sz="2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Importance of State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A9B100B-BAD8-99A1-3211-6CBBD09F1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0368" y="1114349"/>
            <a:ext cx="8001000" cy="3531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State is essential in React applications because it allows components to: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Respond to user interactions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Store and update dynamic data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Maintain application </a:t>
            </a:r>
            <a:r>
              <a:rPr lang="en-GB" sz="1600" dirty="0" err="1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behavior</a:t>
            </a: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 over time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Create interactive and responsive user interfaces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6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Examples</a:t>
            </a: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 of state usage include counters, form inputs, toggles, API responses, and authentication status.</a:t>
            </a:r>
            <a:endParaRPr sz="1600" i="0" u="none" strike="noStrike" cap="none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178EC9D-3AF2-FF46-AE40-8AADB0C0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4FFF226-09D2-BD23-5ADA-FDF121AE7076}"/>
              </a:ext>
            </a:extLst>
          </p:cNvPr>
          <p:cNvGrpSpPr/>
          <p:nvPr/>
        </p:nvGrpSpPr>
        <p:grpSpPr>
          <a:xfrm>
            <a:off x="751718" y="393764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DBFAAD7-33FB-3AC6-1B1A-504C8E53D5E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945FE62-323F-F949-9208-8982D26D5CB9}"/>
                </a:ext>
              </a:extLst>
            </p:cNvPr>
            <p:cNvSpPr txBox="1"/>
            <p:nvPr/>
          </p:nvSpPr>
          <p:spPr>
            <a:xfrm>
              <a:off x="0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useState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AA2D43A7-B4AC-7396-B002-904551AF78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220A35BA-0CE1-446C-0138-E2E569F15495}"/>
              </a:ext>
            </a:extLst>
          </p:cNvPr>
          <p:cNvSpPr txBox="1"/>
          <p:nvPr/>
        </p:nvSpPr>
        <p:spPr>
          <a:xfrm>
            <a:off x="333551" y="1289877"/>
            <a:ext cx="8810449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dirty="0"/>
              <a:t>The </a:t>
            </a:r>
            <a:r>
              <a:rPr lang="en-GB" sz="1600" dirty="0" err="1"/>
              <a:t>useState</a:t>
            </a:r>
            <a:r>
              <a:rPr lang="en-GB" sz="1600" dirty="0"/>
              <a:t> Hook is used to add state to functional components.</a:t>
            </a:r>
          </a:p>
          <a:p>
            <a:endParaRPr lang="en-GB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dirty="0"/>
              <a:t>It was introduced to allow developers to manage component state without using class components.</a:t>
            </a:r>
          </a:p>
          <a:p>
            <a:endParaRPr lang="en-GB" sz="1600" dirty="0"/>
          </a:p>
          <a:p>
            <a:r>
              <a:rPr lang="en-GB" sz="1600" dirty="0" err="1"/>
              <a:t>useState</a:t>
            </a:r>
            <a:r>
              <a:rPr lang="en-GB" sz="1600" dirty="0"/>
              <a:t> returns: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A state 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A state update function</a:t>
            </a:r>
          </a:p>
          <a:p>
            <a:endParaRPr lang="en-GB" sz="1600" dirty="0"/>
          </a:p>
          <a:p>
            <a:r>
              <a:rPr lang="en-GB" sz="1600" dirty="0"/>
              <a:t>This hook follows the principle of immutability, meaning state should never be modified directly.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59C79-7AC0-4E46-EB54-6E995667A62D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D964EB89-B350-5658-4193-6D077B5D19AD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96E4E321-561E-07CE-DCD2-94E9FE5C81A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706259B5-2280-84B6-86A6-C84A7685C9DE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4819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DC29400-89C7-6A6F-FDCC-3A14F135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A1E0372-C71E-C8FF-EA68-B3A001392437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5826B79-33D3-443A-614A-6F6AA9F0633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91F2A5D-F5A3-D823-AC38-7E68C89292D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Syntax of </a:t>
              </a:r>
              <a:r>
                <a:rPr lang="en-IN" sz="4000" b="1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useState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E83A1FA8-10FE-2D4E-39EB-872A7BDF5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F4C3EC31-8B8F-E5E5-4108-1157654D8404}"/>
              </a:ext>
            </a:extLst>
          </p:cNvPr>
          <p:cNvSpPr txBox="1"/>
          <p:nvPr/>
        </p:nvSpPr>
        <p:spPr>
          <a:xfrm>
            <a:off x="321020" y="1269559"/>
            <a:ext cx="8977746" cy="292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 </a:t>
            </a:r>
            <a:r>
              <a:rPr lang="en-GB" sz="1600" dirty="0" err="1"/>
              <a:t>useState</a:t>
            </a:r>
            <a:r>
              <a:rPr lang="en-GB" sz="1600" dirty="0"/>
              <a:t> Hook is called inside a functional component.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Syntax:</a:t>
            </a:r>
          </a:p>
          <a:p>
            <a:pPr fontAlgn="base">
              <a:lnSpc>
                <a:spcPct val="150000"/>
              </a:lnSpc>
            </a:pPr>
            <a:r>
              <a:rPr lang="en-GB" sz="1600" dirty="0"/>
              <a:t>	</a:t>
            </a:r>
            <a:r>
              <a:rPr lang="en-GB" sz="1600" dirty="0" err="1"/>
              <a:t>const</a:t>
            </a:r>
            <a:r>
              <a:rPr lang="en-GB" sz="1600" dirty="0"/>
              <a:t> [state, </a:t>
            </a:r>
            <a:r>
              <a:rPr lang="en-GB" sz="1600" dirty="0" err="1"/>
              <a:t>setState</a:t>
            </a:r>
            <a:r>
              <a:rPr lang="en-GB" sz="1600" dirty="0"/>
              <a:t>] = </a:t>
            </a:r>
            <a:r>
              <a:rPr lang="en-GB" sz="1600" dirty="0" err="1"/>
              <a:t>useState</a:t>
            </a:r>
            <a:r>
              <a:rPr lang="en-GB" sz="1600" dirty="0"/>
              <a:t>(</a:t>
            </a:r>
            <a:r>
              <a:rPr lang="en-GB" sz="1600" dirty="0" err="1"/>
              <a:t>initialValue</a:t>
            </a:r>
            <a:r>
              <a:rPr lang="en-GB" sz="1600" dirty="0"/>
              <a:t>);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GB" sz="1600" dirty="0"/>
          </a:p>
          <a:p>
            <a:pPr lvl="3" fontAlgn="base"/>
            <a:r>
              <a:rPr lang="en-GB" sz="1600" dirty="0"/>
              <a:t>	state → current state value</a:t>
            </a:r>
          </a:p>
          <a:p>
            <a:pPr lvl="3" fontAlgn="base"/>
            <a:r>
              <a:rPr lang="en-GB" sz="1600" dirty="0"/>
              <a:t>	</a:t>
            </a:r>
            <a:r>
              <a:rPr lang="en-GB" sz="1600" dirty="0" err="1"/>
              <a:t>setState</a:t>
            </a:r>
            <a:r>
              <a:rPr lang="en-GB" sz="1600" dirty="0"/>
              <a:t> → function used to update state</a:t>
            </a:r>
          </a:p>
          <a:p>
            <a:pPr lvl="3" fontAlgn="base"/>
            <a:r>
              <a:rPr lang="en-GB" sz="1600" dirty="0"/>
              <a:t>	</a:t>
            </a:r>
            <a:r>
              <a:rPr lang="en-GB" sz="1600" dirty="0" err="1"/>
              <a:t>initialValue</a:t>
            </a:r>
            <a:r>
              <a:rPr lang="en-GB" sz="1600" dirty="0"/>
              <a:t> → starting value of state</a:t>
            </a:r>
          </a:p>
          <a:p>
            <a:pPr marL="285750" lvl="3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Whenever </a:t>
            </a:r>
            <a:r>
              <a:rPr lang="en-GB" sz="1600" dirty="0" err="1"/>
              <a:t>setState</a:t>
            </a:r>
            <a:r>
              <a:rPr lang="en-GB" sz="1600" dirty="0"/>
              <a:t> is called, React schedules a re-render of the component.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41F94B-4381-9960-700F-E0E3150A567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C4CD5BA6-C07A-1DF8-879C-A5E9C3432C02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88EBE040-CA66-B9AA-D219-417CCA8CD72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002F189B-2F78-0FBE-9BE2-5FCCD02BA85A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5131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856B544-7EFD-A3F9-0AEF-9FE15700C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40D73656-3772-F07D-A15C-6FE2A1BEC944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798F6BBE-B159-465A-934B-92B51DD6224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5B2F6733-41B6-49C3-6C58-81445EE09CB3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749E346-8CF2-76ED-2B63-A83F534FF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24AFBD17-599D-A9C5-B47B-6BB71EB243A7}"/>
              </a:ext>
            </a:extLst>
          </p:cNvPr>
          <p:cNvSpPr txBox="1"/>
          <p:nvPr/>
        </p:nvSpPr>
        <p:spPr>
          <a:xfrm>
            <a:off x="499282" y="1315156"/>
            <a:ext cx="8810449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State updates in React are: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Asynchronous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Trigger a re-render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Do not change the state immediately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endParaRPr lang="en-GB" sz="1600" dirty="0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React batches multiple state updates for better performance.</a:t>
            </a:r>
          </a:p>
          <a:p>
            <a:pPr fontAlgn="base"/>
            <a:endParaRPr lang="en-GB" sz="1600" dirty="0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Therefore, developers should rely on the latest state value, not assumptions.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AF76D3-1C67-D56C-1204-3AAFD499F3EE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EE54ACBA-E913-5D9B-23F8-C2BDA02F49F6}"/>
              </a:ext>
            </a:extLst>
          </p:cNvPr>
          <p:cNvGrpSpPr/>
          <p:nvPr/>
        </p:nvGrpSpPr>
        <p:grpSpPr>
          <a:xfrm>
            <a:off x="648523" y="448456"/>
            <a:ext cx="8245053" cy="823292"/>
            <a:chOff x="-2423" y="7095"/>
            <a:chExt cx="5583357" cy="823292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6140E404-9819-8236-CC47-1FF8D42D4E94}"/>
                </a:ext>
              </a:extLst>
            </p:cNvPr>
            <p:cNvSpPr/>
            <p:nvPr/>
          </p:nvSpPr>
          <p:spPr>
            <a:xfrm>
              <a:off x="0" y="7095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Behaviour of State update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19993986-5375-3520-905D-539005CE73B2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4998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F550E18-C2B5-1B6E-B5FF-43D016397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19C11AA-3341-E692-30C6-302CE09FBB9E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E0F81368-7B47-ED3C-38BB-237953032D5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4C79A58-1ED5-87B5-9480-C9389007963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7849CF2D-43CC-7590-AB72-4919DD9D17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B1AD8FA-D98D-D78E-5AA4-DAC15D305757}"/>
              </a:ext>
            </a:extLst>
          </p:cNvPr>
          <p:cNvSpPr txBox="1"/>
          <p:nvPr/>
        </p:nvSpPr>
        <p:spPr>
          <a:xfrm>
            <a:off x="385500" y="1292806"/>
            <a:ext cx="881044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The following rules must be followed while using </a:t>
            </a:r>
            <a:r>
              <a:rPr lang="en-GB" sz="1600" dirty="0" err="1"/>
              <a:t>useState</a:t>
            </a:r>
            <a:r>
              <a:rPr lang="en-GB" sz="1600" dirty="0"/>
              <a:t>:</a:t>
            </a:r>
          </a:p>
          <a:p>
            <a:pPr fontAlgn="base"/>
            <a:endParaRPr lang="en-GB" sz="1600" dirty="0"/>
          </a:p>
          <a:p>
            <a:pPr marL="285750" lvl="6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Hooks must be called at the top level of the component</a:t>
            </a:r>
          </a:p>
          <a:p>
            <a:pPr marL="285750" lvl="4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lvl="4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Hooks cannot be called inside loops, conditions, or nested functions</a:t>
            </a:r>
          </a:p>
          <a:p>
            <a:pPr marL="285750" lvl="4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lvl="4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Hooks must be used only inside functional components</a:t>
            </a:r>
          </a:p>
          <a:p>
            <a:pPr fontAlgn="base"/>
            <a:endParaRPr lang="en-GB" sz="1600" dirty="0"/>
          </a:p>
          <a:p>
            <a:pPr fontAlgn="base"/>
            <a:endParaRPr lang="en-GB" sz="1600" dirty="0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These rules ensure predictable state </a:t>
            </a:r>
            <a:r>
              <a:rPr lang="en-GB" sz="1600" dirty="0" err="1"/>
              <a:t>behavior</a:t>
            </a:r>
            <a:r>
              <a:rPr lang="en-GB" sz="16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032BB5-7146-575C-1F84-82756010D3F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61E8144F-6089-1B4D-49BD-1B06084EDB6B}"/>
              </a:ext>
            </a:extLst>
          </p:cNvPr>
          <p:cNvGrpSpPr/>
          <p:nvPr/>
        </p:nvGrpSpPr>
        <p:grpSpPr>
          <a:xfrm>
            <a:off x="648523" y="526102"/>
            <a:ext cx="8241475" cy="665888"/>
            <a:chOff x="-2423" y="164499"/>
            <a:chExt cx="5580934" cy="6658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6C26B34B-A09A-09DB-138D-ACF131B2D12A}"/>
                </a:ext>
              </a:extLst>
            </p:cNvPr>
            <p:cNvSpPr/>
            <p:nvPr/>
          </p:nvSpPr>
          <p:spPr>
            <a:xfrm>
              <a:off x="-2423" y="1644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Rules of </a:t>
              </a:r>
              <a:r>
                <a:rPr lang="en-GB" sz="3200" b="1" dirty="0" err="1"/>
                <a:t>useState</a:t>
              </a:r>
              <a:endParaRPr lang="en-GB" sz="3200" b="1" dirty="0"/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2B404ACF-A893-11DC-7307-81D33DABD874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8907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91D4B91-D58B-79D0-32A0-7989FF68D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1A5C36B-00A5-64E6-B490-EEB35955B41B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016D137-9343-25CB-8404-B6F274346363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3BA3802-77E9-A8ED-B3A5-C639B2ACDE61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B4C5A6A-B94F-A5D0-90AB-5FFF079B83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CE63C4EE-E045-B4F3-78AA-EC7DC96D120C}"/>
              </a:ext>
            </a:extLst>
          </p:cNvPr>
          <p:cNvSpPr txBox="1"/>
          <p:nvPr/>
        </p:nvSpPr>
        <p:spPr>
          <a:xfrm>
            <a:off x="499282" y="1139717"/>
            <a:ext cx="8810449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The </a:t>
            </a:r>
            <a:r>
              <a:rPr lang="en-GB" sz="1600" dirty="0" err="1"/>
              <a:t>useEffect</a:t>
            </a:r>
            <a:r>
              <a:rPr lang="en-GB" sz="1600" dirty="0"/>
              <a:t> Hook is used to handle side effects in functional components.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Side effects are operations that occur outside the normal rendering process.</a:t>
            </a:r>
          </a:p>
          <a:p>
            <a:pPr fontAlgn="base"/>
            <a:endParaRPr lang="en-GB" sz="1600" dirty="0"/>
          </a:p>
          <a:p>
            <a:pPr fontAlgn="base"/>
            <a:r>
              <a:rPr lang="en-GB" sz="1600" b="1" dirty="0"/>
              <a:t>Examples</a:t>
            </a:r>
            <a:r>
              <a:rPr lang="en-GB" sz="1600" dirty="0"/>
              <a:t> of side effects include:</a:t>
            </a:r>
          </a:p>
          <a:p>
            <a:pPr fontAlgn="base"/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Fetching data from APIs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Updating the DOM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Setting timers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Subscribing or unsubscribing to events</a:t>
            </a:r>
          </a:p>
          <a:p>
            <a:pPr fontAlgn="base"/>
            <a:endParaRPr lang="en-GB" sz="1600" dirty="0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 err="1"/>
              <a:t>useEffect</a:t>
            </a:r>
            <a:r>
              <a:rPr lang="en-GB" sz="1600" dirty="0"/>
              <a:t> replaces lifecycle methods like </a:t>
            </a:r>
            <a:r>
              <a:rPr lang="en-GB" sz="1600" dirty="0" err="1"/>
              <a:t>componentDidMount</a:t>
            </a:r>
            <a:r>
              <a:rPr lang="en-GB" sz="1600" dirty="0"/>
              <a:t>, </a:t>
            </a:r>
            <a:r>
              <a:rPr lang="en-GB" sz="1600" dirty="0" err="1"/>
              <a:t>componentDidUpdate</a:t>
            </a:r>
            <a:r>
              <a:rPr lang="en-GB" sz="1600" dirty="0"/>
              <a:t>, and </a:t>
            </a:r>
            <a:r>
              <a:rPr lang="en-GB" sz="1600" dirty="0" err="1"/>
              <a:t>componentWillUnmount</a:t>
            </a:r>
            <a:r>
              <a:rPr lang="en-GB" sz="16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37AB76-EBE9-2F08-F38D-F0A3F6AD3252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8AAEF830-FEFC-359C-B2DA-A156BD9AC64F}"/>
              </a:ext>
            </a:extLst>
          </p:cNvPr>
          <p:cNvGrpSpPr/>
          <p:nvPr/>
        </p:nvGrpSpPr>
        <p:grpSpPr>
          <a:xfrm>
            <a:off x="616472" y="321741"/>
            <a:ext cx="8241475" cy="950007"/>
            <a:chOff x="-24127" y="-119620"/>
            <a:chExt cx="5580934" cy="950007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815409A3-FD20-D0D7-7A47-A67265355223}"/>
                </a:ext>
              </a:extLst>
            </p:cNvPr>
            <p:cNvSpPr/>
            <p:nvPr/>
          </p:nvSpPr>
          <p:spPr>
            <a:xfrm>
              <a:off x="-24127" y="-119620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What is </a:t>
              </a:r>
              <a:r>
                <a:rPr lang="en-GB" sz="3200" b="1" dirty="0" err="1"/>
                <a:t>useEffect</a:t>
              </a:r>
              <a:r>
                <a:rPr lang="en-GB" sz="3200" b="1" dirty="0"/>
                <a:t> ?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46ED7786-73C8-3717-37EC-8715FFA239A9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2673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C2B75F1-DC65-1681-FA2D-4E974A697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4000606D-0BEA-F43C-7F9C-4FABD5C204CF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92C18FB-523F-CE16-89B2-F676C684BD4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859168C6-C980-82F6-A25B-895B173C8A5D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495FB18-1627-41B7-80C7-33B0911B18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3E282682-093E-12CE-076B-36B48FD1D78E}"/>
              </a:ext>
            </a:extLst>
          </p:cNvPr>
          <p:cNvSpPr txBox="1"/>
          <p:nvPr/>
        </p:nvSpPr>
        <p:spPr>
          <a:xfrm>
            <a:off x="648523" y="1307505"/>
            <a:ext cx="8810449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GB" sz="1600" dirty="0"/>
              <a:t>Syntax: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lvl="2" fontAlgn="base"/>
            <a:r>
              <a:rPr lang="en-GB" sz="1600" dirty="0" err="1"/>
              <a:t>useEffect</a:t>
            </a:r>
            <a:r>
              <a:rPr lang="en-GB" sz="1600" dirty="0"/>
              <a:t>(() =&gt; {</a:t>
            </a:r>
          </a:p>
          <a:p>
            <a:pPr lvl="2" fontAlgn="base"/>
            <a:r>
              <a:rPr lang="en-GB" sz="1600" dirty="0"/>
              <a:t>  // side effect code</a:t>
            </a:r>
          </a:p>
          <a:p>
            <a:pPr lvl="2" fontAlgn="base"/>
            <a:r>
              <a:rPr lang="en-GB" sz="1600" dirty="0"/>
              <a:t>}, [dependencies]);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First argument: function containing side-effect logic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Second argument: dependency array that controls execution</a:t>
            </a:r>
          </a:p>
          <a:p>
            <a:pPr fontAlgn="base"/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React executes the effect after rendering the component.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8D17F9-C30C-0BC6-38F4-19F451FC5AD8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5BC6A00E-4BD3-64AE-56F2-8BAC8905D086}"/>
              </a:ext>
            </a:extLst>
          </p:cNvPr>
          <p:cNvGrpSpPr/>
          <p:nvPr/>
        </p:nvGrpSpPr>
        <p:grpSpPr>
          <a:xfrm>
            <a:off x="648523" y="390199"/>
            <a:ext cx="8241475" cy="881549"/>
            <a:chOff x="-2423" y="-51162"/>
            <a:chExt cx="5580934" cy="881549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A937AB79-0639-409B-5EA3-5B71444677D0}"/>
                </a:ext>
              </a:extLst>
            </p:cNvPr>
            <p:cNvSpPr/>
            <p:nvPr/>
          </p:nvSpPr>
          <p:spPr>
            <a:xfrm>
              <a:off x="-2423" y="-51162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Syntax of </a:t>
              </a:r>
              <a:r>
                <a:rPr lang="en-GB" sz="3200" b="1" dirty="0" err="1"/>
                <a:t>useEffect</a:t>
              </a:r>
              <a:endParaRPr lang="en-GB" sz="3200" b="1" dirty="0"/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C2AB2BC1-1A1C-80A8-79FC-32C920B47DE4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2633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97D74F4-6A8F-682B-C1B5-032684FCE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3978959C-1CA1-82CF-4884-8E3CBF596D4C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455F6A32-4664-5FE0-6A6F-25EAED64878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2376A51-BF88-F16C-0689-1155BF7C59D6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8A7948E-BB8D-DA70-93DD-009ECC66FC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21A513-FE0C-2ED6-4B97-D0629E36B450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E4417B15-3C4F-266A-64A6-4965DA714C5C}"/>
              </a:ext>
            </a:extLst>
          </p:cNvPr>
          <p:cNvGrpSpPr/>
          <p:nvPr/>
        </p:nvGrpSpPr>
        <p:grpSpPr>
          <a:xfrm>
            <a:off x="648523" y="418768"/>
            <a:ext cx="8241475" cy="852980"/>
            <a:chOff x="-2423" y="-22593"/>
            <a:chExt cx="5580934" cy="852980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75EFEE7A-57BD-D3E0-1EA7-0BFA0AC2C00E}"/>
                </a:ext>
              </a:extLst>
            </p:cNvPr>
            <p:cNvSpPr/>
            <p:nvPr/>
          </p:nvSpPr>
          <p:spPr>
            <a:xfrm>
              <a:off x="-2423" y="-22593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Dependency Array Explanation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A96531C5-32AE-D149-E612-766A6A1912FE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3" name="Google Shape;113;p2">
            <a:extLst>
              <a:ext uri="{FF2B5EF4-FFF2-40B4-BE49-F238E27FC236}">
                <a16:creationId xmlns:a16="http://schemas.microsoft.com/office/drawing/2014/main" id="{E29DF040-8D66-31AC-CE03-76EACC49D0F7}"/>
              </a:ext>
            </a:extLst>
          </p:cNvPr>
          <p:cNvSpPr txBox="1"/>
          <p:nvPr/>
        </p:nvSpPr>
        <p:spPr>
          <a:xfrm>
            <a:off x="499282" y="1118013"/>
            <a:ext cx="8810449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 dependency array is the second parameter you pass to the </a:t>
            </a:r>
            <a:r>
              <a:rPr lang="en-GB" sz="1600" dirty="0" err="1"/>
              <a:t>useEffect</a:t>
            </a:r>
            <a:r>
              <a:rPr lang="en-GB" sz="1600" dirty="0"/>
              <a:t> hook. 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It tells React when to re-run your </a:t>
            </a:r>
            <a:r>
              <a:rPr lang="en-GB" sz="1600" dirty="0" err="1"/>
              <a:t>useEffect</a:t>
            </a:r>
            <a:r>
              <a:rPr lang="en-GB" sz="1600" dirty="0"/>
              <a:t> callback function. If you skip it entirely, your effect will run after every render cycle.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 dependency array determines when </a:t>
            </a:r>
            <a:r>
              <a:rPr lang="en-GB" sz="1600" dirty="0" err="1"/>
              <a:t>useEffect</a:t>
            </a:r>
            <a:r>
              <a:rPr lang="en-GB" sz="1600" dirty="0"/>
              <a:t> runs:</a:t>
            </a:r>
          </a:p>
          <a:p>
            <a:pPr fontAlgn="base"/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No dependency array → runs after every render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Empty array [] → runs only once (on mount)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With dependencies → runs when dependency value changes</a:t>
            </a:r>
          </a:p>
          <a:p>
            <a:pPr fontAlgn="base"/>
            <a:endParaRPr lang="en-GB" sz="1600" dirty="0"/>
          </a:p>
          <a:p>
            <a:pPr fontAlgn="base"/>
            <a:endParaRPr lang="en-GB" sz="1600" dirty="0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This mechanism provides precise control over component </a:t>
            </a:r>
            <a:r>
              <a:rPr lang="en-GB" sz="1600" dirty="0" err="1"/>
              <a:t>behavior</a:t>
            </a:r>
            <a:r>
              <a:rPr lang="en-GB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5147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EA335FC-9943-6D15-D875-31186CA03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4F83402-D53C-67D7-56BD-FAB7085FD497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6F98B448-CA0D-B814-2DD8-E1DFF376A340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84C2B4E7-1DE1-4465-8F77-D8433B028593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71EF9A34-1A7E-8DD9-0A82-5720DD05D2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942BCFF3-0F79-87CB-DE53-63E3E5B4DA5B}"/>
              </a:ext>
            </a:extLst>
          </p:cNvPr>
          <p:cNvSpPr txBox="1"/>
          <p:nvPr/>
        </p:nvSpPr>
        <p:spPr>
          <a:xfrm>
            <a:off x="331985" y="1221954"/>
            <a:ext cx="8810449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dirty="0" err="1"/>
              <a:t>useEffect</a:t>
            </a:r>
            <a:r>
              <a:rPr lang="en-GB" sz="1600" dirty="0"/>
              <a:t> can return a cleanup function.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dirty="0"/>
              <a:t>This function runs when the component is unmounted or before the effect re-runs.</a:t>
            </a:r>
          </a:p>
          <a:p>
            <a:endParaRPr lang="en-GB" sz="1600" dirty="0"/>
          </a:p>
          <a:p>
            <a:r>
              <a:rPr lang="en-GB" sz="1600" dirty="0"/>
              <a:t>Cleanup is used to: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Clear timers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Remove event listeners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Prevent memory leaks</a:t>
            </a:r>
          </a:p>
          <a:p>
            <a:endParaRPr lang="en-GB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dirty="0"/>
              <a:t>This ensures efficient resource management in React applications.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65E802-8B95-5280-4AAC-ACB089B7E8C8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0D87D015-08B4-DA40-EFCC-EFF03FCDDC1F}"/>
              </a:ext>
            </a:extLst>
          </p:cNvPr>
          <p:cNvGrpSpPr/>
          <p:nvPr/>
        </p:nvGrpSpPr>
        <p:grpSpPr>
          <a:xfrm>
            <a:off x="648523" y="415468"/>
            <a:ext cx="8241475" cy="856280"/>
            <a:chOff x="-2423" y="-25893"/>
            <a:chExt cx="5580934" cy="856280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FAC4819C-B2C0-E9C0-AE40-7A1EA23E1ABD}"/>
                </a:ext>
              </a:extLst>
            </p:cNvPr>
            <p:cNvSpPr/>
            <p:nvPr/>
          </p:nvSpPr>
          <p:spPr>
            <a:xfrm>
              <a:off x="-2423" y="-25893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Cleanup Function in </a:t>
              </a:r>
              <a:r>
                <a:rPr lang="en-GB" sz="3200" b="1" dirty="0" err="1"/>
                <a:t>useEffect</a:t>
              </a:r>
              <a:endParaRPr lang="en-GB" sz="3200" b="1" dirty="0"/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4A44A17B-35B4-60A2-6122-290C65228EDF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1597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C706850-081D-F772-FC4E-031457F3A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E287034-7C24-2F03-FA43-A7AD154877C6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02766CD4-2ECB-7E6E-3E05-7CDA94033AA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740C675-F45A-4F11-53C9-49DACB49822A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6911C12-B02B-3BEB-215B-8CDF92E5AE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8D94BDB-D282-D83B-176A-3008D71C2D66}"/>
              </a:ext>
            </a:extLst>
          </p:cNvPr>
          <p:cNvSpPr txBox="1"/>
          <p:nvPr/>
        </p:nvSpPr>
        <p:spPr>
          <a:xfrm>
            <a:off x="499282" y="1271748"/>
            <a:ext cx="8525963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dirty="0"/>
              <a:t>State and </a:t>
            </a:r>
            <a:r>
              <a:rPr lang="en-GB" sz="1600" dirty="0" err="1"/>
              <a:t>useEffect</a:t>
            </a:r>
            <a:r>
              <a:rPr lang="en-GB" sz="1600" dirty="0"/>
              <a:t> often work together: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State holds dynamic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err="1"/>
              <a:t>useEffect</a:t>
            </a:r>
            <a:r>
              <a:rPr lang="en-GB" sz="1600" dirty="0"/>
              <a:t> reacts to changes in state</a:t>
            </a:r>
          </a:p>
          <a:p>
            <a:endParaRPr lang="en-GB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dirty="0"/>
              <a:t>Whenever state changes, </a:t>
            </a:r>
            <a:r>
              <a:rPr lang="en-GB" sz="1600" dirty="0" err="1"/>
              <a:t>useEffect</a:t>
            </a:r>
            <a:r>
              <a:rPr lang="en-GB" sz="1600" dirty="0"/>
              <a:t> can be triggered to perform operations such as API calls or UI updates, making React applications reactive and data-driven.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A32919-2677-8B62-92AC-4374D2DC086F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3E7EA7D8-A61C-6AA6-3ABD-A35CD5A803FE}"/>
              </a:ext>
            </a:extLst>
          </p:cNvPr>
          <p:cNvGrpSpPr/>
          <p:nvPr/>
        </p:nvGrpSpPr>
        <p:grpSpPr>
          <a:xfrm>
            <a:off x="648523" y="415468"/>
            <a:ext cx="8241475" cy="856280"/>
            <a:chOff x="-2423" y="-25893"/>
            <a:chExt cx="5580934" cy="856280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B8CFCF21-C989-2660-F7CD-6811731A5C83}"/>
                </a:ext>
              </a:extLst>
            </p:cNvPr>
            <p:cNvSpPr/>
            <p:nvPr/>
          </p:nvSpPr>
          <p:spPr>
            <a:xfrm>
              <a:off x="-2423" y="-25893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Relationship between </a:t>
              </a:r>
              <a:r>
                <a:rPr lang="en-GB" sz="3200" b="1" dirty="0" err="1"/>
                <a:t>useEffect</a:t>
              </a:r>
              <a:r>
                <a:rPr lang="en-GB" sz="3200" b="1" dirty="0"/>
                <a:t> &amp; state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EA4EE72A-D22C-DA1A-5049-9308031AF2D8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8574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2B3A85F-4248-B3DE-50F0-95A9F4FF0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4DAAC9E-1A32-D9B8-D946-FFAD2D4D9494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DA16079-2DD9-C503-8ABE-9E481F8FE4D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F874885-CE68-D837-7A10-36F52D1DD8D2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4EE472A4-EFFB-EE98-53A9-B52D509228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F988BD1-DB74-62AE-A160-4F3F7DADCC5E}"/>
              </a:ext>
            </a:extLst>
          </p:cNvPr>
          <p:cNvSpPr txBox="1"/>
          <p:nvPr/>
        </p:nvSpPr>
        <p:spPr>
          <a:xfrm>
            <a:off x="499282" y="1271748"/>
            <a:ext cx="8525963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Enables state management in functional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Reduces dependency on class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Improves code readability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Simplifies lifecycle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Encourages modular and reusable logic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0AB9E7-FA1B-2180-1114-7EA7E13C2877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13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EB0BB29F-3014-1C4D-9F68-1AF47574D5E1}"/>
              </a:ext>
            </a:extLst>
          </p:cNvPr>
          <p:cNvGrpSpPr/>
          <p:nvPr/>
        </p:nvGrpSpPr>
        <p:grpSpPr>
          <a:xfrm>
            <a:off x="648523" y="415468"/>
            <a:ext cx="8241475" cy="856280"/>
            <a:chOff x="-2423" y="-25893"/>
            <a:chExt cx="5580934" cy="856280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E89A0A6C-F65F-9F8B-BC2F-F7294AAC8BB4}"/>
                </a:ext>
              </a:extLst>
            </p:cNvPr>
            <p:cNvSpPr/>
            <p:nvPr/>
          </p:nvSpPr>
          <p:spPr>
            <a:xfrm>
              <a:off x="-2423" y="-25893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Advantages of </a:t>
              </a:r>
              <a:r>
                <a:rPr lang="en-GB" sz="3200" b="1" dirty="0" err="1"/>
                <a:t>useEffect</a:t>
              </a:r>
              <a:r>
                <a:rPr lang="en-GB" sz="3200" b="1" dirty="0"/>
                <a:t> &amp; </a:t>
              </a:r>
              <a:r>
                <a:rPr lang="en-GB" sz="3200" b="1" dirty="0" err="1"/>
                <a:t>useState</a:t>
              </a:r>
              <a:endParaRPr lang="en-GB" sz="3200" b="1" dirty="0"/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7EE74BBA-349D-DCAB-218C-A5F4D3E87B45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1417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FAQ’s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2518" y="862360"/>
            <a:ext cx="8280399" cy="3850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1. State in React is: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A. Immutable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B. Read-only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C. Mutable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D. Global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Answer: C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2. </a:t>
            </a:r>
            <a:r>
              <a:rPr lang="en-GB" sz="1100" b="1" dirty="0" err="1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useState</a:t>
            </a:r>
            <a:r>
              <a:rPr lang="en-GB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 Hook is used to: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A. Handle routing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B. Manage component state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C. Fetch data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D. Style components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Answer: B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3. </a:t>
            </a:r>
            <a:r>
              <a:rPr lang="en-GB" sz="1100" b="1" dirty="0" err="1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useEffect</a:t>
            </a:r>
            <a:r>
              <a:rPr lang="en-GB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 Hook is mainly used for: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A. Styling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B. Event handling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C. Side effects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D. Rendering JSX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Answer: C</a:t>
            </a:r>
            <a:endParaRPr sz="1100" b="1" i="0" u="none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385500" y="1422025"/>
            <a:ext cx="8942119" cy="246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dirty="0"/>
              <a:t>• React Official Documentation – Hooks</a:t>
            </a:r>
            <a:br>
              <a:rPr lang="en-GB" dirty="0"/>
            </a:br>
            <a:r>
              <a:rPr lang="en-GB" dirty="0">
                <a:hlinkClick r:id="rId3"/>
              </a:rPr>
              <a:t>https://react.dev/reference/react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React </a:t>
            </a:r>
            <a:r>
              <a:rPr lang="en-GB" dirty="0" err="1"/>
              <a:t>useState</a:t>
            </a:r>
            <a:r>
              <a:rPr lang="en-GB" dirty="0"/>
              <a:t> Documentation</a:t>
            </a:r>
            <a:br>
              <a:rPr lang="en-GB" dirty="0"/>
            </a:br>
            <a:r>
              <a:rPr lang="en-GB" dirty="0">
                <a:hlinkClick r:id="rId4"/>
              </a:rPr>
              <a:t>https://react.dev/reference/react/useState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React </a:t>
            </a:r>
            <a:r>
              <a:rPr lang="en-GB" dirty="0" err="1"/>
              <a:t>useEffect</a:t>
            </a:r>
            <a:r>
              <a:rPr lang="en-GB" dirty="0"/>
              <a:t> Documentation</a:t>
            </a:r>
            <a:br>
              <a:rPr lang="en-GB" dirty="0"/>
            </a:br>
            <a:r>
              <a:rPr lang="en-GB" dirty="0">
                <a:hlinkClick r:id="rId5"/>
              </a:rPr>
              <a:t>https://react.dev/reference/react/useEffect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W3Schools – React Hooks</a:t>
            </a:r>
            <a:br>
              <a:rPr lang="en-GB" dirty="0"/>
            </a:br>
            <a:r>
              <a:rPr lang="en-GB" dirty="0">
                <a:hlinkClick r:id="rId6"/>
              </a:rPr>
              <a:t>https://www.w3schools.com/react/react_hooks.asp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tushar.e18319@cumail.in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2994</TotalTime>
  <Words>956</Words>
  <Application>Microsoft Office PowerPoint</Application>
  <PresentationFormat>On-screen Show (16:9)</PresentationFormat>
  <Paragraphs>239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 Black</vt:lpstr>
      <vt:lpstr>Calibri</vt:lpstr>
      <vt:lpstr>Arial</vt:lpstr>
      <vt:lpstr>Wingdings</vt:lpstr>
      <vt:lpstr>Vladimir Script</vt:lpstr>
      <vt:lpstr>Lato</vt:lpstr>
      <vt:lpstr>Times New Roman</vt:lpstr>
      <vt:lpstr>Cambria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Tushar Sood</dc:creator>
  <cp:lastModifiedBy>Pankaj</cp:lastModifiedBy>
  <cp:revision>82</cp:revision>
  <dcterms:modified xsi:type="dcterms:W3CDTF">2025-12-14T10:09:40Z</dcterms:modified>
</cp:coreProperties>
</file>